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73" r:id="rId4"/>
    <p:sldId id="262" r:id="rId5"/>
    <p:sldId id="272" r:id="rId6"/>
    <p:sldId id="274" r:id="rId7"/>
    <p:sldId id="275" r:id="rId8"/>
    <p:sldId id="276" r:id="rId9"/>
    <p:sldId id="27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6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AD773-4571-4BA7-9764-EB310268350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F6841-78BC-4592-888C-95736FE30E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501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9F6841-78BC-4592-888C-95736FE30E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432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E314A-159A-5306-E914-204E45A73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DEF67D-9DF2-500F-A93B-59E05EE64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85FF00-48CE-5AA2-325E-1F2C5C63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4B257-33C6-50C8-E693-E0F3CCAF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F710E-09E2-E843-AB67-97ED85FB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73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32A5F-80DF-13ED-77B5-B447CE6D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CC81-25DF-740C-E3EF-21360711F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946FC-8CD2-3683-553C-9817E078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C3B94-407B-B3B0-2735-69E57093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9FCB8-F17A-F552-41B3-86679A42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6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42C32-9331-95D9-2325-2F40F29F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9C866-8F34-4879-DBB1-22F0C054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B2B45-0D3F-9A73-A18E-D195D3EF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6E52F-B9E6-ECEF-F3BD-E93C6576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5EF57-DAD2-9BB8-7A01-7CA16694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32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C4B74-E066-6824-8DDD-C93261CE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982F0-E099-69B1-8C7E-1D4CC162D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E67CD9-810A-39AA-F1F7-9D12C81F8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CA120C-38C7-1BA9-9495-55D850C0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F05EE4-78B6-6981-F99F-B3C88E8E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A9A2B6-1D9E-33F4-6865-E8540CD1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28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D2EAD-42AB-654C-7A64-2C37F20B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BA585D-B83F-6DD4-72F7-5C8578113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681B13-25CA-7B2B-D57D-D5A0E2D89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1CC30F-9266-AFC3-2DE7-410B20179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34DF90-B7E2-B00D-E7E0-2EFBF6552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841F6B-6786-1673-BD8B-3EE7BF93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873D53-B889-1CE2-3C59-EA426941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F89520-35A9-4C1D-144F-C6F7BFD3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8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99D77-FA13-D4F7-7FCF-8F3FDF97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259129-70AF-DA6A-0D49-8DF54B05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566D17-2C02-61CE-1FBD-CAA74D31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22C608-566C-F518-0D18-E2B6B31E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16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13C27C-E8DA-CA3F-1F20-13B11847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34BECB-E9B0-13BD-7F22-65428BE3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888A-AC47-57E2-2014-A01E0335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22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744D2-A265-3C02-364A-B8E8C2C0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18D1D-A257-477A-7565-D0658849D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449A78-781F-E180-267F-17AD62621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F19700-FEDD-2049-C3B5-C295EEA9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76578E-1B00-8040-0594-580D0EB0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830800-A835-9CA7-D7B6-D38520F7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33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8298B-D618-1ABA-FC38-417E80CF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D05A9B-785E-AE73-CF04-0E8B8DC17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20B5D5-B638-152E-90AB-2C7EDCB7D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03B65-9552-8557-97DF-2F3498A3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A6549-2752-612C-5542-1D09A79B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D1272-B0D8-A2D2-B63B-16A0E9A5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7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B087-8A1E-8545-387C-46CFC828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B1B64C-F77D-00B9-7857-3DC0EC732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296B6-091E-13F6-5673-61458602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0F964C-3FA5-D71B-EE6C-116AD845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3FD343-11FD-15E9-EDE5-ED2C1338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5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EEF779-B55C-2DA8-701D-C9187E1B3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98DE32-FC5B-EE67-A05C-EDE89CB9B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BA089-C06B-937D-64EF-A7882309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9F748B-941D-ED90-BA5E-50BA1BCC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BCEAE-90AD-99D3-5995-AF75F06E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50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106B79-E96A-8F8D-819F-056D304D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295A23-C37B-F250-05AF-3C04E0D98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CFA5C-C0BE-F93E-F4FE-B7F4FE6B4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EDAE8-372D-4E5B-BC55-512BC2C23F36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53306-E5C8-73FD-FE10-A5E7D3F86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EC1E0-68BE-F6EB-DCDC-076AB7165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57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piro.github.io/DynamicBVH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piro.github.io/DynamicBVH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piro.github.io/DynamicBV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42201-CAE5-359D-F9EF-C7068A61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9" y="1122363"/>
            <a:ext cx="9753599" cy="23876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BoundingVolumeHierarchy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3587FF-5D7F-833D-4635-71A2BA3685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정적</a:t>
            </a:r>
            <a:r>
              <a:rPr lang="en-US" altLang="ko-KR" dirty="0"/>
              <a:t>/</a:t>
            </a:r>
            <a:r>
              <a:rPr lang="ko-KR" altLang="en-US" dirty="0"/>
              <a:t>동적 트리 갱신하기</a:t>
            </a:r>
          </a:p>
        </p:txBody>
      </p:sp>
    </p:spTree>
    <p:extLst>
      <p:ext uri="{BB962C8B-B14F-4D97-AF65-F5344CB8AC3E}">
        <p14:creationId xmlns:p14="http://schemas.microsoft.com/office/powerpoint/2010/main" val="90914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9A6A6-E7A3-1D99-23BE-FAF223D6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BVH (</a:t>
            </a:r>
            <a:r>
              <a:rPr lang="en-US" altLang="ko-KR" dirty="0" err="1"/>
              <a:t>BoundingVolumeHierarchy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C1021-6512-E229-CE69-F78AE64ABD4E}"/>
              </a:ext>
            </a:extLst>
          </p:cNvPr>
          <p:cNvSpPr txBox="1"/>
          <p:nvPr/>
        </p:nvSpPr>
        <p:spPr>
          <a:xfrm>
            <a:off x="-98010" y="419895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공간이 아니라 오브젝트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ko-KR" altLang="en-US" dirty="0" err="1"/>
              <a:t>프리미티브</a:t>
            </a:r>
            <a:r>
              <a:rPr lang="en-US" altLang="ko-KR" dirty="0"/>
              <a:t>)</a:t>
            </a:r>
            <a:r>
              <a:rPr lang="ko-KR" altLang="en-US" dirty="0"/>
              <a:t>를 기준으로 노드를 생성하고</a:t>
            </a:r>
            <a:r>
              <a:rPr lang="en-US" altLang="ko-KR" dirty="0"/>
              <a:t>,</a:t>
            </a:r>
            <a:r>
              <a:rPr lang="ko-KR" altLang="en-US" dirty="0"/>
              <a:t> 계층적으로 묶어 트리를 구성하는 구조다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* </a:t>
            </a:r>
            <a:r>
              <a:rPr lang="ko-KR" altLang="en-US" dirty="0"/>
              <a:t>각 </a:t>
            </a:r>
            <a:r>
              <a:rPr lang="ko-KR" altLang="en-US" b="1" dirty="0"/>
              <a:t>리프</a:t>
            </a:r>
            <a:r>
              <a:rPr lang="en-US" altLang="ko-KR" b="1" dirty="0"/>
              <a:t>(Leaf) </a:t>
            </a:r>
            <a:r>
              <a:rPr lang="ko-KR" altLang="en-US" b="1" dirty="0"/>
              <a:t>노드</a:t>
            </a:r>
            <a:r>
              <a:rPr lang="ko-KR" altLang="en-US" dirty="0"/>
              <a:t>는 실제 </a:t>
            </a:r>
            <a:r>
              <a:rPr lang="ko-KR" altLang="en-US" b="1" dirty="0"/>
              <a:t>오브젝트의 </a:t>
            </a:r>
            <a:r>
              <a:rPr lang="en-US" altLang="ko-KR" b="1" dirty="0"/>
              <a:t>AABB</a:t>
            </a:r>
            <a:r>
              <a:rPr lang="ko-KR" altLang="en-US" dirty="0"/>
              <a:t>를 포함한다</a:t>
            </a:r>
            <a:r>
              <a:rPr lang="en-US" altLang="ko-KR" dirty="0"/>
              <a:t>. 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오브젝트 수는 최대 자식 노드 수와 같지 않아도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* </a:t>
            </a:r>
            <a:r>
              <a:rPr lang="ko-KR" altLang="en-US" dirty="0"/>
              <a:t>각 </a:t>
            </a:r>
            <a:r>
              <a:rPr lang="ko-KR" altLang="en-US" b="1" dirty="0"/>
              <a:t>부모 노드의 </a:t>
            </a:r>
            <a:r>
              <a:rPr lang="en-US" altLang="ko-KR" b="1" dirty="0"/>
              <a:t>AABB</a:t>
            </a:r>
            <a:r>
              <a:rPr lang="ko-KR" altLang="en-US" dirty="0"/>
              <a:t>는 </a:t>
            </a:r>
            <a:r>
              <a:rPr lang="ko-KR" altLang="en-US" b="1" dirty="0"/>
              <a:t>자식 노드 </a:t>
            </a:r>
            <a:r>
              <a:rPr lang="en-US" altLang="ko-KR" b="1" dirty="0"/>
              <a:t>AABB</a:t>
            </a:r>
            <a:r>
              <a:rPr lang="ko-KR" altLang="en-US" b="1" dirty="0"/>
              <a:t>들의 합집합</a:t>
            </a:r>
            <a:r>
              <a:rPr lang="en-US" altLang="ko-KR" b="1" dirty="0"/>
              <a:t>(Union)</a:t>
            </a:r>
            <a:r>
              <a:rPr lang="ko-KR" altLang="en-US" dirty="0"/>
              <a:t> 이다</a:t>
            </a:r>
            <a:r>
              <a:rPr lang="en-US" altLang="ko-KR" dirty="0"/>
              <a:t>. </a:t>
            </a:r>
            <a:r>
              <a:rPr lang="ko-KR" altLang="en-US" dirty="0"/>
              <a:t>완전히 감싸는 최소 경계 상자를 의미한다</a:t>
            </a:r>
            <a:endParaRPr lang="en-US" altLang="ko-KR" dirty="0"/>
          </a:p>
          <a:p>
            <a:r>
              <a:rPr lang="en-US" altLang="ko-KR" dirty="0"/>
              <a:t> * </a:t>
            </a:r>
            <a:r>
              <a:rPr lang="ko-KR" altLang="en-US" dirty="0"/>
              <a:t>교차 검사 시</a:t>
            </a:r>
            <a:r>
              <a:rPr lang="en-US" altLang="ko-KR" dirty="0"/>
              <a:t>, </a:t>
            </a:r>
            <a:r>
              <a:rPr lang="ko-KR" altLang="en-US" b="1" dirty="0"/>
              <a:t>부모 </a:t>
            </a:r>
            <a:r>
              <a:rPr lang="en-US" altLang="ko-KR" b="1" dirty="0"/>
              <a:t>AABB</a:t>
            </a:r>
            <a:r>
              <a:rPr lang="ko-KR" altLang="en-US" b="1" dirty="0"/>
              <a:t>와의 교차 여부</a:t>
            </a:r>
            <a:r>
              <a:rPr lang="ko-KR" altLang="en-US" dirty="0"/>
              <a:t>를 먼저 검사하여 </a:t>
            </a:r>
            <a:r>
              <a:rPr lang="ko-KR" altLang="en-US" b="1" dirty="0"/>
              <a:t>하위 노드를 가지치기</a:t>
            </a:r>
            <a:r>
              <a:rPr lang="en-US" altLang="ko-KR" b="1" dirty="0"/>
              <a:t>(Pruning)</a:t>
            </a:r>
            <a:r>
              <a:rPr lang="ko-KR" altLang="en-US" dirty="0"/>
              <a:t>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7833A3D-0186-D26A-D4BC-B26176CFCB73}"/>
              </a:ext>
            </a:extLst>
          </p:cNvPr>
          <p:cNvGrpSpPr/>
          <p:nvPr/>
        </p:nvGrpSpPr>
        <p:grpSpPr>
          <a:xfrm>
            <a:off x="980475" y="1756949"/>
            <a:ext cx="4668428" cy="2020435"/>
            <a:chOff x="457014" y="1690688"/>
            <a:chExt cx="4668428" cy="2020435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B2708F5-40A2-ADF7-258C-E53C0CECAF75}"/>
                </a:ext>
              </a:extLst>
            </p:cNvPr>
            <p:cNvGrpSpPr/>
            <p:nvPr/>
          </p:nvGrpSpPr>
          <p:grpSpPr>
            <a:xfrm>
              <a:off x="457014" y="1869097"/>
              <a:ext cx="4668428" cy="1842026"/>
              <a:chOff x="334437" y="2380311"/>
              <a:chExt cx="5408411" cy="2097378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1C8EAF85-4A1C-058D-FE88-6C77E7C5A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578"/>
              <a:stretch>
                <a:fillRect/>
              </a:stretch>
            </p:blipFill>
            <p:spPr>
              <a:xfrm>
                <a:off x="334437" y="2380311"/>
                <a:ext cx="5408411" cy="2097378"/>
              </a:xfrm>
              <a:prstGeom prst="rect">
                <a:avLst/>
              </a:prstGeom>
            </p:spPr>
          </p:pic>
          <p:sp>
            <p:nvSpPr>
              <p:cNvPr id="9" name="이등변 삼각형 8">
                <a:extLst>
                  <a:ext uri="{FF2B5EF4-FFF2-40B4-BE49-F238E27FC236}">
                    <a16:creationId xmlns:a16="http://schemas.microsoft.com/office/drawing/2014/main" id="{C888D605-4F55-5335-BC39-2DC97EAF3FAE}"/>
                  </a:ext>
                </a:extLst>
              </p:cNvPr>
              <p:cNvSpPr/>
              <p:nvPr/>
            </p:nvSpPr>
            <p:spPr>
              <a:xfrm rot="9028807">
                <a:off x="1792211" y="2527683"/>
                <a:ext cx="1025379" cy="1621416"/>
              </a:xfrm>
              <a:prstGeom prst="triangl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158642-2F94-50AE-7608-A2918ADD932E}"/>
                </a:ext>
              </a:extLst>
            </p:cNvPr>
            <p:cNvSpPr txBox="1"/>
            <p:nvPr/>
          </p:nvSpPr>
          <p:spPr>
            <a:xfrm>
              <a:off x="2390140" y="1690688"/>
              <a:ext cx="1162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이상적인 구성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7F95EA2-A0EF-6143-631E-38D24873A579}"/>
              </a:ext>
            </a:extLst>
          </p:cNvPr>
          <p:cNvSpPr txBox="1"/>
          <p:nvPr/>
        </p:nvSpPr>
        <p:spPr>
          <a:xfrm>
            <a:off x="6765560" y="2575491"/>
            <a:ext cx="4254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https://sopiro.github.io/DynamicBVH/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942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C6328-852D-DD9D-1218-87A2F021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트리의 품질</a:t>
            </a:r>
            <a:r>
              <a:rPr lang="en-US" altLang="ko-KR" dirty="0"/>
              <a:t>(Tree Quality)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43798-2FA9-90D3-3E69-8F24535DEEEA}"/>
              </a:ext>
            </a:extLst>
          </p:cNvPr>
          <p:cNvSpPr txBox="1"/>
          <p:nvPr/>
        </p:nvSpPr>
        <p:spPr>
          <a:xfrm>
            <a:off x="640080" y="1508493"/>
            <a:ext cx="11018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BVH</a:t>
            </a:r>
            <a:r>
              <a:rPr lang="ko-KR" altLang="en-US" b="1" dirty="0"/>
              <a:t>의 트리 품질</a:t>
            </a:r>
            <a:r>
              <a:rPr lang="ko-KR" altLang="en-US" dirty="0"/>
              <a:t>이란</a:t>
            </a:r>
            <a:r>
              <a:rPr lang="en-US" altLang="ko-KR" dirty="0"/>
              <a:t>, “</a:t>
            </a:r>
            <a:r>
              <a:rPr lang="ko-KR" altLang="en-US" dirty="0"/>
              <a:t>주어진 오브젝트 집합을 얼마나 효율적으로 계층 구조로 나누고 오브젝트를 묶어서 불필요한 탐색을 줄이느냐</a:t>
            </a:r>
            <a:r>
              <a:rPr lang="en-US" altLang="ko-KR" dirty="0"/>
              <a:t>”</a:t>
            </a:r>
            <a:r>
              <a:rPr lang="ko-KR" altLang="en-US" dirty="0"/>
              <a:t>를 의미한다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174D2-AA87-649C-F483-9AB5126F0E28}"/>
              </a:ext>
            </a:extLst>
          </p:cNvPr>
          <p:cNvSpPr txBox="1"/>
          <p:nvPr/>
        </p:nvSpPr>
        <p:spPr>
          <a:xfrm>
            <a:off x="5394960" y="2090473"/>
            <a:ext cx="6705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en-US" altLang="ko-KR" sz="1400" dirty="0"/>
              <a:t>Surface Area </a:t>
            </a:r>
            <a:r>
              <a:rPr lang="ko-KR" altLang="en-US" sz="1400" dirty="0"/>
              <a:t>최소화</a:t>
            </a:r>
            <a:endParaRPr lang="en-US" altLang="ko-KR" sz="1400" dirty="0"/>
          </a:p>
          <a:p>
            <a:r>
              <a:rPr lang="ko-KR" altLang="en-US" sz="1400" dirty="0"/>
              <a:t>부모 </a:t>
            </a:r>
            <a:r>
              <a:rPr lang="en-US" altLang="ko-KR" sz="1400" dirty="0"/>
              <a:t>AABB</a:t>
            </a:r>
            <a:r>
              <a:rPr lang="ko-KR" altLang="en-US" sz="1400" dirty="0"/>
              <a:t>의 표면적이 작을수록 교차할 확률이 작아져 전체 방문 수가 감소</a:t>
            </a:r>
            <a:endParaRPr lang="en-US" altLang="ko-KR" sz="1400" dirty="0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 dirty="0"/>
              <a:t>(2) AABB</a:t>
            </a:r>
            <a:r>
              <a:rPr lang="ko-KR" altLang="en-US" sz="1400" dirty="0"/>
              <a:t> </a:t>
            </a:r>
            <a:r>
              <a:rPr lang="en-US" altLang="ko-KR" sz="1400" dirty="0"/>
              <a:t>Overlap </a:t>
            </a:r>
            <a:r>
              <a:rPr lang="ko-KR" altLang="en-US" sz="1400" dirty="0"/>
              <a:t>최소화</a:t>
            </a:r>
            <a:endParaRPr lang="en-US" altLang="ko-KR" sz="1400" dirty="0"/>
          </a:p>
          <a:p>
            <a:r>
              <a:rPr lang="ko-KR" altLang="en-US" sz="1400" dirty="0"/>
              <a:t>형제 노드 </a:t>
            </a:r>
            <a:r>
              <a:rPr lang="en-US" altLang="ko-KR" sz="1400" dirty="0"/>
              <a:t>AABB</a:t>
            </a:r>
            <a:r>
              <a:rPr lang="ko-KR" altLang="en-US" sz="1400" dirty="0"/>
              <a:t>가 서로 겹치는 부피</a:t>
            </a:r>
            <a:r>
              <a:rPr lang="en-US" altLang="ko-KR" sz="1400" dirty="0"/>
              <a:t>(Volume)</a:t>
            </a:r>
            <a:r>
              <a:rPr lang="ko-KR" altLang="en-US" sz="1400" dirty="0"/>
              <a:t> 가 작을수록 좋음</a:t>
            </a:r>
            <a:r>
              <a:rPr lang="en-US" altLang="ko-KR" sz="1400" dirty="0"/>
              <a:t>. </a:t>
            </a:r>
            <a:r>
              <a:rPr lang="ko-KR" altLang="en-US" sz="1400" dirty="0"/>
              <a:t>작은 부분에서 겹칠 수는 있으나  많으면 비슷한 영역이므로 다른 자식도 방문해야 하는 경우가 많아져 효율이 급감</a:t>
            </a:r>
            <a:r>
              <a:rPr lang="en-US" altLang="ko-KR" sz="1400" dirty="0"/>
              <a:t>.(</a:t>
            </a:r>
            <a:r>
              <a:rPr lang="ko-KR" altLang="en-US" sz="1400" dirty="0"/>
              <a:t>가지치기 실패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(3) </a:t>
            </a:r>
            <a:r>
              <a:rPr lang="ko-KR" altLang="en-US" sz="1400" dirty="0"/>
              <a:t>균형 잡힌 깊이 </a:t>
            </a:r>
            <a:r>
              <a:rPr lang="en-US" altLang="ko-KR" sz="1400" dirty="0"/>
              <a:t>(Balanced Depth)</a:t>
            </a:r>
          </a:p>
          <a:p>
            <a:r>
              <a:rPr lang="ko-KR" altLang="en-US" sz="1400" dirty="0"/>
              <a:t>트리의 좌우 서브 트리 깊이 차이가 너무 크면 노드 방문</a:t>
            </a:r>
            <a:r>
              <a:rPr lang="en-US" altLang="ko-KR" sz="1400" dirty="0"/>
              <a:t>(</a:t>
            </a:r>
            <a:r>
              <a:rPr lang="ko-KR" altLang="en-US" sz="1400" dirty="0"/>
              <a:t>교차테스트</a:t>
            </a:r>
            <a:r>
              <a:rPr lang="en-US" altLang="ko-KR" sz="1400" dirty="0"/>
              <a:t>)</a:t>
            </a:r>
            <a:r>
              <a:rPr lang="ko-KR" altLang="en-US" sz="1400" dirty="0"/>
              <a:t>증가</a:t>
            </a:r>
            <a:r>
              <a:rPr lang="en-US" altLang="ko-KR" sz="1400" dirty="0"/>
              <a:t> </a:t>
            </a:r>
            <a:r>
              <a:rPr lang="ko-KR" altLang="en-US" sz="1400" dirty="0"/>
              <a:t>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(4) </a:t>
            </a:r>
            <a:r>
              <a:rPr lang="ko-KR" altLang="en-US" sz="1400" dirty="0"/>
              <a:t>리프당 오브젝트 수 최적화</a:t>
            </a:r>
            <a:endParaRPr lang="en-US" altLang="ko-KR" sz="1400" dirty="0"/>
          </a:p>
          <a:p>
            <a:r>
              <a:rPr lang="ko-KR" altLang="en-US" sz="1400" dirty="0"/>
              <a:t>리프에 포함된 오브젝트가 너무 많으면 내부 교차 테스트 과다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/>
              <a:t>너무 적으면 노드 수 폭증하여 노드의 </a:t>
            </a:r>
            <a:r>
              <a:rPr lang="en-US" altLang="ko-KR" sz="1400" dirty="0"/>
              <a:t>AABB </a:t>
            </a:r>
            <a:r>
              <a:rPr lang="ko-KR" altLang="en-US" sz="1400" dirty="0"/>
              <a:t>교차 테스트 증가</a:t>
            </a:r>
            <a:endParaRPr lang="en-US" altLang="ko-KR" sz="14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39355F56-B985-05BA-96FF-C8C56132CCEC}"/>
              </a:ext>
            </a:extLst>
          </p:cNvPr>
          <p:cNvGrpSpPr/>
          <p:nvPr/>
        </p:nvGrpSpPr>
        <p:grpSpPr>
          <a:xfrm>
            <a:off x="91440" y="2736911"/>
            <a:ext cx="2191051" cy="1785656"/>
            <a:chOff x="354360" y="5073816"/>
            <a:chExt cx="2441204" cy="1736994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5C01F321-B125-E713-ADD3-851E840AD2D1}"/>
                </a:ext>
              </a:extLst>
            </p:cNvPr>
            <p:cNvGrpSpPr/>
            <p:nvPr/>
          </p:nvGrpSpPr>
          <p:grpSpPr>
            <a:xfrm>
              <a:off x="380328" y="5902479"/>
              <a:ext cx="2026200" cy="892147"/>
              <a:chOff x="3494412" y="5600728"/>
              <a:chExt cx="2026200" cy="892147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6407793-D706-E96A-F24C-39B193F921D8}"/>
                  </a:ext>
                </a:extLst>
              </p:cNvPr>
              <p:cNvSpPr/>
              <p:nvPr/>
            </p:nvSpPr>
            <p:spPr>
              <a:xfrm>
                <a:off x="3510595" y="5616912"/>
                <a:ext cx="665501" cy="574535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오각형 20">
                <a:extLst>
                  <a:ext uri="{FF2B5EF4-FFF2-40B4-BE49-F238E27FC236}">
                    <a16:creationId xmlns:a16="http://schemas.microsoft.com/office/drawing/2014/main" id="{B67D0B9C-7168-3B48-BD65-7EA6683F01BC}"/>
                  </a:ext>
                </a:extLst>
              </p:cNvPr>
              <p:cNvSpPr/>
              <p:nvPr/>
            </p:nvSpPr>
            <p:spPr>
              <a:xfrm>
                <a:off x="4921801" y="5902156"/>
                <a:ext cx="582626" cy="574535"/>
              </a:xfrm>
              <a:prstGeom prst="pentagon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BAF78F6-F1AB-9BB4-E9D0-340B3DC953D8}"/>
                  </a:ext>
                </a:extLst>
              </p:cNvPr>
              <p:cNvSpPr/>
              <p:nvPr/>
            </p:nvSpPr>
            <p:spPr>
              <a:xfrm>
                <a:off x="3510595" y="5616912"/>
                <a:ext cx="665501" cy="57453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71542E7-731D-23B9-6F47-E331096F0356}"/>
                  </a:ext>
                </a:extLst>
              </p:cNvPr>
              <p:cNvSpPr/>
              <p:nvPr/>
            </p:nvSpPr>
            <p:spPr>
              <a:xfrm>
                <a:off x="4921801" y="5906202"/>
                <a:ext cx="582626" cy="570489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5D44EDB1-000E-E841-C255-72DCE3147523}"/>
                  </a:ext>
                </a:extLst>
              </p:cNvPr>
              <p:cNvSpPr/>
              <p:nvPr/>
            </p:nvSpPr>
            <p:spPr>
              <a:xfrm>
                <a:off x="3494412" y="5600728"/>
                <a:ext cx="2026200" cy="89214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C5B615A-802D-4EFA-DFDF-C71DE355FF14}"/>
                </a:ext>
              </a:extLst>
            </p:cNvPr>
            <p:cNvGrpSpPr/>
            <p:nvPr/>
          </p:nvGrpSpPr>
          <p:grpSpPr>
            <a:xfrm>
              <a:off x="969627" y="5073816"/>
              <a:ext cx="1809753" cy="1733719"/>
              <a:chOff x="6937144" y="5322053"/>
              <a:chExt cx="1796610" cy="1278041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CF58E8F2-E1F8-30A3-270D-9C5EEE11F863}"/>
                  </a:ext>
                </a:extLst>
              </p:cNvPr>
              <p:cNvGrpSpPr/>
              <p:nvPr/>
            </p:nvGrpSpPr>
            <p:grpSpPr>
              <a:xfrm>
                <a:off x="6948001" y="6009375"/>
                <a:ext cx="665501" cy="574535"/>
                <a:chOff x="6939909" y="5825399"/>
                <a:chExt cx="665501" cy="574535"/>
              </a:xfrm>
            </p:grpSpPr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C9DE79FF-9AAA-8EA5-6C89-386BAEBC78BF}"/>
                    </a:ext>
                  </a:extLst>
                </p:cNvPr>
                <p:cNvSpPr/>
                <p:nvPr/>
              </p:nvSpPr>
              <p:spPr>
                <a:xfrm>
                  <a:off x="6939909" y="5825399"/>
                  <a:ext cx="665501" cy="574535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이등변 삼각형 28">
                  <a:extLst>
                    <a:ext uri="{FF2B5EF4-FFF2-40B4-BE49-F238E27FC236}">
                      <a16:creationId xmlns:a16="http://schemas.microsoft.com/office/drawing/2014/main" id="{450571AE-B481-5B81-86FF-639F4DD7EEAA}"/>
                    </a:ext>
                  </a:extLst>
                </p:cNvPr>
                <p:cNvSpPr/>
                <p:nvPr/>
              </p:nvSpPr>
              <p:spPr>
                <a:xfrm>
                  <a:off x="6939909" y="5825399"/>
                  <a:ext cx="665501" cy="574535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F3ED821F-B3E0-27EB-F2BB-9A54B1D3390C}"/>
                  </a:ext>
                </a:extLst>
              </p:cNvPr>
              <p:cNvGrpSpPr/>
              <p:nvPr/>
            </p:nvGrpSpPr>
            <p:grpSpPr>
              <a:xfrm>
                <a:off x="7960604" y="5322053"/>
                <a:ext cx="740782" cy="846583"/>
                <a:chOff x="6939909" y="5709751"/>
                <a:chExt cx="740782" cy="846583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7CBF1165-41CA-861D-9004-A13A6CB0238E}"/>
                    </a:ext>
                  </a:extLst>
                </p:cNvPr>
                <p:cNvSpPr/>
                <p:nvPr/>
              </p:nvSpPr>
              <p:spPr>
                <a:xfrm>
                  <a:off x="6939909" y="5825399"/>
                  <a:ext cx="740782" cy="728166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이등변 삼각형 32">
                  <a:extLst>
                    <a:ext uri="{FF2B5EF4-FFF2-40B4-BE49-F238E27FC236}">
                      <a16:creationId xmlns:a16="http://schemas.microsoft.com/office/drawing/2014/main" id="{BB3D1401-85DB-7C42-3FFF-FC055A5BE02F}"/>
                    </a:ext>
                  </a:extLst>
                </p:cNvPr>
                <p:cNvSpPr/>
                <p:nvPr/>
              </p:nvSpPr>
              <p:spPr>
                <a:xfrm rot="19025059">
                  <a:off x="7043091" y="5709751"/>
                  <a:ext cx="403348" cy="846583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E605309C-DFC9-4717-DE11-4E1F96B797E1}"/>
                  </a:ext>
                </a:extLst>
              </p:cNvPr>
              <p:cNvSpPr/>
              <p:nvPr/>
            </p:nvSpPr>
            <p:spPr>
              <a:xfrm>
                <a:off x="6937144" y="5412587"/>
                <a:ext cx="1796610" cy="11875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A1F2DAD-6473-D36B-9B7A-BD6F9D13BE2B}"/>
                </a:ext>
              </a:extLst>
            </p:cNvPr>
            <p:cNvSpPr/>
            <p:nvPr/>
          </p:nvSpPr>
          <p:spPr>
            <a:xfrm>
              <a:off x="354360" y="5179837"/>
              <a:ext cx="2441204" cy="16309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70139A5-5630-79F1-4BB5-9CF0CDBD432E}"/>
              </a:ext>
            </a:extLst>
          </p:cNvPr>
          <p:cNvGrpSpPr/>
          <p:nvPr/>
        </p:nvGrpSpPr>
        <p:grpSpPr>
          <a:xfrm>
            <a:off x="3018963" y="2834056"/>
            <a:ext cx="2200752" cy="1490535"/>
            <a:chOff x="3168690" y="5090562"/>
            <a:chExt cx="2200752" cy="1490535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334225C-63DC-5508-343C-8FF70D752B82}"/>
                </a:ext>
              </a:extLst>
            </p:cNvPr>
            <p:cNvSpPr/>
            <p:nvPr/>
          </p:nvSpPr>
          <p:spPr>
            <a:xfrm>
              <a:off x="3168690" y="6108622"/>
              <a:ext cx="384620" cy="38425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오각형 38">
              <a:extLst>
                <a:ext uri="{FF2B5EF4-FFF2-40B4-BE49-F238E27FC236}">
                  <a16:creationId xmlns:a16="http://schemas.microsoft.com/office/drawing/2014/main" id="{1B3E323F-48AE-11F3-D219-CF0598769BD1}"/>
                </a:ext>
              </a:extLst>
            </p:cNvPr>
            <p:cNvSpPr/>
            <p:nvPr/>
          </p:nvSpPr>
          <p:spPr>
            <a:xfrm>
              <a:off x="3709285" y="6108622"/>
              <a:ext cx="384620" cy="384253"/>
            </a:xfrm>
            <a:prstGeom prst="pentagon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05914AFA-00CE-5D0D-695B-56F84D3EC068}"/>
                </a:ext>
              </a:extLst>
            </p:cNvPr>
            <p:cNvSpPr/>
            <p:nvPr/>
          </p:nvSpPr>
          <p:spPr>
            <a:xfrm>
              <a:off x="4524874" y="6103184"/>
              <a:ext cx="384620" cy="389691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0BBAD038-ED53-0612-ADB6-3C6FB239F0D7}"/>
                </a:ext>
              </a:extLst>
            </p:cNvPr>
            <p:cNvSpPr/>
            <p:nvPr/>
          </p:nvSpPr>
          <p:spPr>
            <a:xfrm rot="19025059">
              <a:off x="5092060" y="6021653"/>
              <a:ext cx="277382" cy="55944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538E073-0D45-FFEE-49B7-D9789994E3D3}"/>
                </a:ext>
              </a:extLst>
            </p:cNvPr>
            <p:cNvSpPr/>
            <p:nvPr/>
          </p:nvSpPr>
          <p:spPr>
            <a:xfrm>
              <a:off x="3553310" y="5567320"/>
              <a:ext cx="274223" cy="25894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B0EE0C6-F150-E9F9-C20A-728DEC07562D}"/>
                </a:ext>
              </a:extLst>
            </p:cNvPr>
            <p:cNvSpPr/>
            <p:nvPr/>
          </p:nvSpPr>
          <p:spPr>
            <a:xfrm>
              <a:off x="4772480" y="5567319"/>
              <a:ext cx="274223" cy="258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8506228-9B3D-DE1B-C090-470AAD7D6CEB}"/>
                </a:ext>
              </a:extLst>
            </p:cNvPr>
            <p:cNvSpPr/>
            <p:nvPr/>
          </p:nvSpPr>
          <p:spPr>
            <a:xfrm>
              <a:off x="4207769" y="5090562"/>
              <a:ext cx="274223" cy="2589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35C1F4D2-F88C-2363-99C8-C5BB24A24686}"/>
                </a:ext>
              </a:extLst>
            </p:cNvPr>
            <p:cNvCxnSpPr>
              <a:stCxn id="42" idx="2"/>
              <a:endCxn id="38" idx="7"/>
            </p:cNvCxnSpPr>
            <p:nvPr/>
          </p:nvCxnSpPr>
          <p:spPr>
            <a:xfrm flipH="1">
              <a:off x="3496984" y="5826265"/>
              <a:ext cx="193438" cy="3386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30001CDB-6E90-7F16-A16F-3DE2C111E42D}"/>
                </a:ext>
              </a:extLst>
            </p:cNvPr>
            <p:cNvCxnSpPr>
              <a:cxnSpLocks/>
              <a:stCxn id="42" idx="2"/>
              <a:endCxn id="39" idx="0"/>
            </p:cNvCxnSpPr>
            <p:nvPr/>
          </p:nvCxnSpPr>
          <p:spPr>
            <a:xfrm>
              <a:off x="3690422" y="5826265"/>
              <a:ext cx="211173" cy="2823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61B23981-3D57-092A-D7DE-750ECC1DDDFC}"/>
                </a:ext>
              </a:extLst>
            </p:cNvPr>
            <p:cNvCxnSpPr>
              <a:cxnSpLocks/>
              <a:stCxn id="43" idx="2"/>
              <a:endCxn id="40" idx="0"/>
            </p:cNvCxnSpPr>
            <p:nvPr/>
          </p:nvCxnSpPr>
          <p:spPr>
            <a:xfrm flipH="1">
              <a:off x="4717184" y="5826264"/>
              <a:ext cx="192408" cy="2769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B8891B76-C9DD-CC9C-5478-7B720C9A3D85}"/>
                </a:ext>
              </a:extLst>
            </p:cNvPr>
            <p:cNvCxnSpPr>
              <a:cxnSpLocks/>
              <a:stCxn id="43" idx="2"/>
              <a:endCxn id="41" idx="5"/>
            </p:cNvCxnSpPr>
            <p:nvPr/>
          </p:nvCxnSpPr>
          <p:spPr>
            <a:xfrm>
              <a:off x="4909592" y="5826264"/>
              <a:ext cx="371945" cy="4278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8386BED-19E0-14B4-37DA-EA169062B960}"/>
                </a:ext>
              </a:extLst>
            </p:cNvPr>
            <p:cNvCxnSpPr>
              <a:cxnSpLocks/>
              <a:stCxn id="44" idx="2"/>
              <a:endCxn id="42" idx="0"/>
            </p:cNvCxnSpPr>
            <p:nvPr/>
          </p:nvCxnSpPr>
          <p:spPr>
            <a:xfrm flipH="1">
              <a:off x="3690422" y="5349507"/>
              <a:ext cx="654459" cy="2178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961B5E52-F125-54D8-0C99-F45E2047AF2E}"/>
                </a:ext>
              </a:extLst>
            </p:cNvPr>
            <p:cNvCxnSpPr>
              <a:cxnSpLocks/>
              <a:stCxn id="44" idx="2"/>
              <a:endCxn id="43" idx="0"/>
            </p:cNvCxnSpPr>
            <p:nvPr/>
          </p:nvCxnSpPr>
          <p:spPr>
            <a:xfrm>
              <a:off x="4344881" y="5349507"/>
              <a:ext cx="564711" cy="2178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B62EDB7-0106-D2C2-C72D-9F4B6AF3F5A0}"/>
              </a:ext>
            </a:extLst>
          </p:cNvPr>
          <p:cNvSpPr txBox="1"/>
          <p:nvPr/>
        </p:nvSpPr>
        <p:spPr>
          <a:xfrm>
            <a:off x="2402425" y="2931791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저 품질 구조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20C14C-6515-BED0-E2BD-A93A56281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824" y="4737013"/>
            <a:ext cx="2344044" cy="178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4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B213F-C085-5E3C-AE3D-779B8B85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하향식 </a:t>
            </a:r>
            <a:r>
              <a:rPr lang="en-US" altLang="ko-KR" dirty="0"/>
              <a:t>– </a:t>
            </a:r>
            <a:r>
              <a:rPr lang="ko-KR" altLang="en-US" dirty="0"/>
              <a:t>오브젝트 수 </a:t>
            </a:r>
            <a:r>
              <a:rPr lang="ko-KR" altLang="en-US" dirty="0" err="1"/>
              <a:t>분할점</a:t>
            </a:r>
            <a:r>
              <a:rPr lang="ko-KR" altLang="en-US" dirty="0"/>
              <a:t> 결정 방식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574E72-A606-D8C4-4C50-B8DFA48BAFED}"/>
              </a:ext>
            </a:extLst>
          </p:cNvPr>
          <p:cNvSpPr txBox="1"/>
          <p:nvPr/>
        </p:nvSpPr>
        <p:spPr>
          <a:xfrm>
            <a:off x="574675" y="1535526"/>
            <a:ext cx="249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vector&lt;AABB&gt; array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3F45D-CBAA-D317-8176-7D1EBDCC6B57}"/>
              </a:ext>
            </a:extLst>
          </p:cNvPr>
          <p:cNvSpPr txBox="1"/>
          <p:nvPr/>
        </p:nvSpPr>
        <p:spPr>
          <a:xfrm>
            <a:off x="4125968" y="2263329"/>
            <a:ext cx="5762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구현이 쉽도록 자식이 </a:t>
            </a:r>
            <a:r>
              <a:rPr lang="en-US" altLang="ko-KR" sz="1200" dirty="0"/>
              <a:t>2</a:t>
            </a:r>
            <a:r>
              <a:rPr lang="ko-KR" altLang="en-US" sz="1200" dirty="0"/>
              <a:t>노드인 </a:t>
            </a:r>
            <a:r>
              <a:rPr lang="en-US" altLang="ko-KR" sz="1200" dirty="0"/>
              <a:t>BVH2</a:t>
            </a:r>
            <a:r>
              <a:rPr lang="ko-KR" altLang="en-US" sz="1200" dirty="0"/>
              <a:t>트리로 구성</a:t>
            </a:r>
            <a:r>
              <a:rPr lang="en-US" altLang="ko-KR" sz="1200" dirty="0"/>
              <a:t> </a:t>
            </a:r>
          </a:p>
          <a:p>
            <a:r>
              <a:rPr lang="ko-KR" altLang="en-US" sz="1200" dirty="0" err="1"/>
              <a:t>리프노드가</a:t>
            </a:r>
            <a:r>
              <a:rPr lang="en-US" altLang="ko-KR" sz="1200" dirty="0"/>
              <a:t> </a:t>
            </a:r>
            <a:r>
              <a:rPr lang="ko-KR" altLang="en-US" sz="1200" dirty="0"/>
              <a:t>포함하는 오브젝트 또는 </a:t>
            </a:r>
            <a:r>
              <a:rPr lang="en-US" altLang="ko-KR" sz="1200" dirty="0"/>
              <a:t>AABB</a:t>
            </a:r>
            <a:r>
              <a:rPr lang="ko-KR" altLang="en-US" sz="1200" dirty="0"/>
              <a:t>의 개수는 편의상 최대 </a:t>
            </a:r>
            <a:r>
              <a:rPr lang="en-US" altLang="ko-KR" sz="1200" dirty="0"/>
              <a:t>2</a:t>
            </a:r>
            <a:r>
              <a:rPr lang="ko-KR" altLang="en-US" sz="1200" dirty="0"/>
              <a:t>개</a:t>
            </a:r>
            <a:endParaRPr lang="en-US" altLang="ko-KR" sz="12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82984B4C-6402-3509-DFEF-548296BFC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48755"/>
              </p:ext>
            </p:extLst>
          </p:nvPr>
        </p:nvGraphicFramePr>
        <p:xfrm>
          <a:off x="5031300" y="4266395"/>
          <a:ext cx="220261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pSp>
        <p:nvGrpSpPr>
          <p:cNvPr id="89" name="그룹 88">
            <a:extLst>
              <a:ext uri="{FF2B5EF4-FFF2-40B4-BE49-F238E27FC236}">
                <a16:creationId xmlns:a16="http://schemas.microsoft.com/office/drawing/2014/main" id="{11A49EEC-D292-B3B6-4DD1-0E13F48F0E7E}"/>
              </a:ext>
            </a:extLst>
          </p:cNvPr>
          <p:cNvGrpSpPr/>
          <p:nvPr/>
        </p:nvGrpSpPr>
        <p:grpSpPr>
          <a:xfrm>
            <a:off x="-68326" y="2106578"/>
            <a:ext cx="3557836" cy="2710322"/>
            <a:chOff x="-112460" y="2044506"/>
            <a:chExt cx="4398888" cy="31677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C47CEED-F4FA-7175-32B2-41D03D3B6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271" y="2044506"/>
              <a:ext cx="3854157" cy="30162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29146B-7D31-E7C4-5F1B-6A6C1873DF18}"/>
                    </a:ext>
                  </a:extLst>
                </p:cNvPr>
                <p:cNvSpPr txBox="1"/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29146B-7D31-E7C4-5F1B-6A6C1873D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blipFill>
                  <a:blip r:embed="rId3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34363C7-853D-1745-2643-D0BDC5173357}"/>
                    </a:ext>
                  </a:extLst>
                </p:cNvPr>
                <p:cNvSpPr txBox="1"/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34363C7-853D-1745-2643-D0BDC5173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66D0A6F-253A-DCC7-F72E-D051BB8F3AA7}"/>
                    </a:ext>
                  </a:extLst>
                </p:cNvPr>
                <p:cNvSpPr txBox="1"/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66D0A6F-253A-DCC7-F72E-D051BB8F3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blipFill>
                  <a:blip r:embed="rId5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8F93D4-99C1-6606-091F-3670F5E99844}"/>
                    </a:ext>
                  </a:extLst>
                </p:cNvPr>
                <p:cNvSpPr txBox="1"/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8F93D4-99C1-6606-091F-3670F5E99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075C23A-2A06-9FF3-5583-A2338124E6E3}"/>
                </a:ext>
              </a:extLst>
            </p:cNvPr>
            <p:cNvSpPr txBox="1"/>
            <p:nvPr/>
          </p:nvSpPr>
          <p:spPr>
            <a:xfrm>
              <a:off x="2056062" y="2497499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5BEB6C-412E-E2B8-C3F9-A969A452BB6A}"/>
                </a:ext>
              </a:extLst>
            </p:cNvPr>
            <p:cNvSpPr txBox="1"/>
            <p:nvPr/>
          </p:nvSpPr>
          <p:spPr>
            <a:xfrm>
              <a:off x="2207706" y="305016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8764548-E9FC-79D7-F07F-1C9B29A20C34}"/>
                </a:ext>
              </a:extLst>
            </p:cNvPr>
            <p:cNvSpPr txBox="1"/>
            <p:nvPr/>
          </p:nvSpPr>
          <p:spPr>
            <a:xfrm>
              <a:off x="2402862" y="3429000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7EF78B8-AD3B-E5E6-49AE-E235BBB9D808}"/>
                </a:ext>
              </a:extLst>
            </p:cNvPr>
            <p:cNvSpPr txBox="1"/>
            <p:nvPr/>
          </p:nvSpPr>
          <p:spPr>
            <a:xfrm>
              <a:off x="3416395" y="380739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C3D9DDF-ED8B-D10A-78D4-FF6115C37C2B}"/>
                </a:ext>
              </a:extLst>
            </p:cNvPr>
            <p:cNvSpPr txBox="1"/>
            <p:nvPr/>
          </p:nvSpPr>
          <p:spPr>
            <a:xfrm>
              <a:off x="1731481" y="4008964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7149438-596D-2FCA-F8E4-7C641682D9C4}"/>
                </a:ext>
              </a:extLst>
            </p:cNvPr>
            <p:cNvSpPr txBox="1"/>
            <p:nvPr/>
          </p:nvSpPr>
          <p:spPr>
            <a:xfrm>
              <a:off x="2934580" y="427080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</p:grp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5A331AA9-4BAE-07B3-8D08-DC0693322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205786"/>
              </p:ext>
            </p:extLst>
          </p:nvPr>
        </p:nvGraphicFramePr>
        <p:xfrm>
          <a:off x="4478649" y="5000484"/>
          <a:ext cx="110130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BEDEE197-3871-3D8F-B610-82BCE7E29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61493"/>
              </p:ext>
            </p:extLst>
          </p:nvPr>
        </p:nvGraphicFramePr>
        <p:xfrm>
          <a:off x="6408217" y="5000484"/>
          <a:ext cx="110130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5658C4F4-0567-0751-1098-0B1E829CE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286139"/>
              </p:ext>
            </p:extLst>
          </p:nvPr>
        </p:nvGraphicFramePr>
        <p:xfrm>
          <a:off x="4064668" y="5755501"/>
          <a:ext cx="367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5512334C-DEDD-2D55-11F2-6A6A1129D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77120"/>
              </p:ext>
            </p:extLst>
          </p:nvPr>
        </p:nvGraphicFramePr>
        <p:xfrm>
          <a:off x="4696001" y="5755501"/>
          <a:ext cx="73420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3D9AF5AA-48E6-8AED-C602-9D52FC24A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481018"/>
              </p:ext>
            </p:extLst>
          </p:nvPr>
        </p:nvGraphicFramePr>
        <p:xfrm>
          <a:off x="6283012" y="5755501"/>
          <a:ext cx="367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8269D36D-93DF-CD7D-796D-93A31CADC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60425"/>
              </p:ext>
            </p:extLst>
          </p:nvPr>
        </p:nvGraphicFramePr>
        <p:xfrm>
          <a:off x="7356162" y="5744915"/>
          <a:ext cx="73420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D3FAD6C0-F44E-6EAF-5A2F-39DC8DBDCC40}"/>
              </a:ext>
            </a:extLst>
          </p:cNvPr>
          <p:cNvSpPr txBox="1"/>
          <p:nvPr/>
        </p:nvSpPr>
        <p:spPr>
          <a:xfrm>
            <a:off x="4168814" y="3783061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y</a:t>
            </a:r>
            <a:r>
              <a:rPr lang="ko-KR" altLang="en-US" sz="1200" dirty="0"/>
              <a:t>축 정렬 사용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441B43-B9D6-1023-5678-E026255FFFC1}"/>
              </a:ext>
            </a:extLst>
          </p:cNvPr>
          <p:cNvSpPr txBox="1"/>
          <p:nvPr/>
        </p:nvSpPr>
        <p:spPr>
          <a:xfrm>
            <a:off x="3823217" y="4528856"/>
            <a:ext cx="13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x</a:t>
            </a:r>
            <a:r>
              <a:rPr lang="ko-KR" altLang="en-US" sz="1200" dirty="0"/>
              <a:t>축 정렬 사용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D91790-E1CD-D0BA-D9DD-B7954562514E}"/>
              </a:ext>
            </a:extLst>
          </p:cNvPr>
          <p:cNvSpPr txBox="1"/>
          <p:nvPr/>
        </p:nvSpPr>
        <p:spPr>
          <a:xfrm>
            <a:off x="7231014" y="4605324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y</a:t>
            </a:r>
            <a:r>
              <a:rPr lang="ko-KR" altLang="en-US" sz="1200" dirty="0"/>
              <a:t>축 정렬 사용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BDAF652D-79A4-44B0-55E4-F6C599A88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129508"/>
              </p:ext>
            </p:extLst>
          </p:nvPr>
        </p:nvGraphicFramePr>
        <p:xfrm>
          <a:off x="5031300" y="3267703"/>
          <a:ext cx="220261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03E27BC4-AA48-7DBF-C3BA-C663DFEE9544}"/>
              </a:ext>
            </a:extLst>
          </p:cNvPr>
          <p:cNvSpPr txBox="1"/>
          <p:nvPr/>
        </p:nvSpPr>
        <p:spPr>
          <a:xfrm>
            <a:off x="5623167" y="284460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초기배열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C6C34BA-B7C3-3D3D-F0F4-E831420221CD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5029303" y="4632155"/>
            <a:ext cx="550655" cy="368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0B450E6-DF5E-C6BE-31F9-99394E6C670E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6562228" y="4644772"/>
            <a:ext cx="396643" cy="3557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6538638-7D1E-A602-85CC-46B5F0D5C07D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 flipH="1">
            <a:off x="4248219" y="5366244"/>
            <a:ext cx="781084" cy="389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7495EDC-3461-8E05-DC91-0D3AF99836CD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>
            <a:off x="5029303" y="5366244"/>
            <a:ext cx="33801" cy="389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E4BF4FF-26B1-D2CB-89F3-ADB501C1A160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6466563" y="5366244"/>
            <a:ext cx="439923" cy="389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7EA59FC-4A1B-8B70-60BD-28E905B5CABF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>
            <a:off x="6958871" y="5366244"/>
            <a:ext cx="764394" cy="378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대각선 줄무늬 99">
            <a:extLst>
              <a:ext uri="{FF2B5EF4-FFF2-40B4-BE49-F238E27FC236}">
                <a16:creationId xmlns:a16="http://schemas.microsoft.com/office/drawing/2014/main" id="{F5C45C7E-9125-2D7E-9DDB-A5D90966C8E2}"/>
              </a:ext>
            </a:extLst>
          </p:cNvPr>
          <p:cNvSpPr/>
          <p:nvPr/>
        </p:nvSpPr>
        <p:spPr>
          <a:xfrm>
            <a:off x="6099980" y="4107714"/>
            <a:ext cx="61264" cy="674626"/>
          </a:xfrm>
          <a:prstGeom prst="diagStrip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대각선 줄무늬 100">
            <a:extLst>
              <a:ext uri="{FF2B5EF4-FFF2-40B4-BE49-F238E27FC236}">
                <a16:creationId xmlns:a16="http://schemas.microsoft.com/office/drawing/2014/main" id="{28CBC9FF-5EC0-F5D1-4096-91C348344086}"/>
              </a:ext>
            </a:extLst>
          </p:cNvPr>
          <p:cNvSpPr/>
          <p:nvPr/>
        </p:nvSpPr>
        <p:spPr>
          <a:xfrm>
            <a:off x="4820877" y="4831140"/>
            <a:ext cx="61264" cy="674626"/>
          </a:xfrm>
          <a:prstGeom prst="diagStrip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2" name="대각선 줄무늬 101">
            <a:extLst>
              <a:ext uri="{FF2B5EF4-FFF2-40B4-BE49-F238E27FC236}">
                <a16:creationId xmlns:a16="http://schemas.microsoft.com/office/drawing/2014/main" id="{EC0C55D6-DD20-8396-F820-414A1EE07537}"/>
              </a:ext>
            </a:extLst>
          </p:cNvPr>
          <p:cNvSpPr/>
          <p:nvPr/>
        </p:nvSpPr>
        <p:spPr>
          <a:xfrm>
            <a:off x="6760549" y="4846051"/>
            <a:ext cx="61264" cy="674626"/>
          </a:xfrm>
          <a:prstGeom prst="diagStrip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9794AD-B17F-55BF-7BA8-974AB4ECB1CA}"/>
              </a:ext>
            </a:extLst>
          </p:cNvPr>
          <p:cNvSpPr txBox="1"/>
          <p:nvPr/>
        </p:nvSpPr>
        <p:spPr>
          <a:xfrm>
            <a:off x="5650527" y="4008761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 AABB</a:t>
            </a:r>
            <a:endParaRPr lang="ko-KR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D7CD5B8-5EC7-8755-27EE-BBA074E5EA94}"/>
              </a:ext>
            </a:extLst>
          </p:cNvPr>
          <p:cNvSpPr txBox="1"/>
          <p:nvPr/>
        </p:nvSpPr>
        <p:spPr>
          <a:xfrm>
            <a:off x="6496371" y="4767865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 AABB</a:t>
            </a:r>
            <a:endParaRPr lang="ko-KR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ADF3881-F9D9-F2DD-69F9-7937312ED9C6}"/>
              </a:ext>
            </a:extLst>
          </p:cNvPr>
          <p:cNvSpPr txBox="1"/>
          <p:nvPr/>
        </p:nvSpPr>
        <p:spPr>
          <a:xfrm>
            <a:off x="4642663" y="4767827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 AABB</a:t>
            </a:r>
            <a:endParaRPr lang="ko-KR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155F936-0F45-7072-C77E-CD12A8BA0804}"/>
              </a:ext>
            </a:extLst>
          </p:cNvPr>
          <p:cNvSpPr txBox="1"/>
          <p:nvPr/>
        </p:nvSpPr>
        <p:spPr>
          <a:xfrm>
            <a:off x="8482337" y="3542125"/>
            <a:ext cx="37188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ko-KR" altLang="en-US" dirty="0"/>
              <a:t>부분 영역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(leaf)</a:t>
            </a:r>
            <a:r>
              <a:rPr lang="ko-KR" altLang="en-US" dirty="0"/>
              <a:t> 이하인가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아니면 합집합</a:t>
            </a:r>
            <a:r>
              <a:rPr lang="en-US" altLang="ko-KR" dirty="0"/>
              <a:t> AABB </a:t>
            </a:r>
            <a:r>
              <a:rPr lang="ko-KR" altLang="en-US" dirty="0"/>
              <a:t>계산</a:t>
            </a:r>
            <a:br>
              <a:rPr lang="en-US" altLang="ko-KR" dirty="0"/>
            </a:br>
            <a:r>
              <a:rPr lang="ko-KR" altLang="en-US" dirty="0"/>
              <a:t>맞으면 </a:t>
            </a:r>
            <a:r>
              <a:rPr lang="en-US" altLang="ko-KR" dirty="0"/>
              <a:t>AABB</a:t>
            </a:r>
            <a:r>
              <a:rPr lang="ko-KR" altLang="en-US" dirty="0"/>
              <a:t> </a:t>
            </a:r>
            <a:r>
              <a:rPr lang="en-US" altLang="ko-KR" dirty="0"/>
              <a:t>index or </a:t>
            </a:r>
            <a:r>
              <a:rPr lang="en-US" altLang="ko-KR" dirty="0" err="1"/>
              <a:t>ptr</a:t>
            </a:r>
            <a:r>
              <a:rPr lang="ko-KR" altLang="en-US" dirty="0"/>
              <a:t> 저장</a:t>
            </a:r>
            <a:endParaRPr lang="en-US" altLang="ko-KR" dirty="0"/>
          </a:p>
          <a:p>
            <a:pPr marL="342900" indent="-342900">
              <a:buAutoNum type="alphaLcPeriod"/>
            </a:pPr>
            <a:endParaRPr lang="en-US" altLang="ko-KR" dirty="0"/>
          </a:p>
          <a:p>
            <a:pPr marL="342900" indent="-342900">
              <a:buAutoNum type="alphaLcPeriod"/>
            </a:pPr>
            <a:r>
              <a:rPr lang="en-US" altLang="ko-KR" dirty="0"/>
              <a:t>a </a:t>
            </a:r>
            <a:r>
              <a:rPr lang="ko-KR" altLang="en-US" dirty="0"/>
              <a:t>범위를 긴 축</a:t>
            </a:r>
            <a:r>
              <a:rPr lang="en-US" altLang="ko-KR" dirty="0"/>
              <a:t> </a:t>
            </a:r>
            <a:r>
              <a:rPr lang="ko-KR" altLang="en-US" dirty="0"/>
              <a:t>기준 부분 정렬</a:t>
            </a:r>
            <a:endParaRPr lang="en-US" altLang="ko-KR" dirty="0"/>
          </a:p>
          <a:p>
            <a:pPr marL="342900" indent="-342900">
              <a:buAutoNum type="alphaLcPeriod"/>
            </a:pPr>
            <a:endParaRPr lang="en-US" altLang="ko-KR" dirty="0"/>
          </a:p>
          <a:p>
            <a:pPr marL="342900" indent="-342900">
              <a:buAutoNum type="alphaLcPeriod"/>
            </a:pPr>
            <a:r>
              <a:rPr lang="ko-KR" altLang="en-US" dirty="0" err="1"/>
              <a:t>갯수</a:t>
            </a:r>
            <a:r>
              <a:rPr lang="ko-KR" altLang="en-US" dirty="0"/>
              <a:t> 절반 분할 영역 </a:t>
            </a:r>
            <a:r>
              <a:rPr lang="en-US" altLang="ko-KR" dirty="0"/>
              <a:t>a </a:t>
            </a:r>
            <a:r>
              <a:rPr lang="ko-KR" altLang="en-US" dirty="0"/>
              <a:t>시도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BB52018-F52B-86D4-2F0A-1706F7BD8C38}"/>
              </a:ext>
            </a:extLst>
          </p:cNvPr>
          <p:cNvSpPr txBox="1"/>
          <p:nvPr/>
        </p:nvSpPr>
        <p:spPr>
          <a:xfrm>
            <a:off x="4098070" y="1641476"/>
            <a:ext cx="706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긴 축 정렬을 하고 숫자를 절반씩 나누어 합집합 </a:t>
            </a:r>
            <a:r>
              <a:rPr lang="en-US" altLang="ko-KR" dirty="0"/>
              <a:t>AABB</a:t>
            </a:r>
            <a:r>
              <a:rPr lang="ko-KR" altLang="en-US" dirty="0"/>
              <a:t>를 계산한다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E12F0D-F8F4-8E47-B1E9-49E82C1150DB}"/>
              </a:ext>
            </a:extLst>
          </p:cNvPr>
          <p:cNvSpPr/>
          <p:nvPr/>
        </p:nvSpPr>
        <p:spPr>
          <a:xfrm>
            <a:off x="1990725" y="3609295"/>
            <a:ext cx="833132" cy="65648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ADF553-F2E1-A3C3-726B-72376EDDE56D}"/>
              </a:ext>
            </a:extLst>
          </p:cNvPr>
          <p:cNvSpPr/>
          <p:nvPr/>
        </p:nvSpPr>
        <p:spPr>
          <a:xfrm>
            <a:off x="1236421" y="2482850"/>
            <a:ext cx="597141" cy="79746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F80637-29A1-554C-8288-9928A400F0C5}"/>
              </a:ext>
            </a:extLst>
          </p:cNvPr>
          <p:cNvSpPr/>
          <p:nvPr/>
        </p:nvSpPr>
        <p:spPr>
          <a:xfrm>
            <a:off x="1244034" y="3609295"/>
            <a:ext cx="1579823" cy="65648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718223-8A3F-ADC9-82AB-A666E5D91F49}"/>
              </a:ext>
            </a:extLst>
          </p:cNvPr>
          <p:cNvSpPr/>
          <p:nvPr/>
        </p:nvSpPr>
        <p:spPr>
          <a:xfrm>
            <a:off x="1236423" y="2478921"/>
            <a:ext cx="729651" cy="11220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E155FB-717E-7046-E92A-05CF691C67C2}"/>
              </a:ext>
            </a:extLst>
          </p:cNvPr>
          <p:cNvSpPr/>
          <p:nvPr/>
        </p:nvSpPr>
        <p:spPr>
          <a:xfrm>
            <a:off x="1236424" y="2478921"/>
            <a:ext cx="1587433" cy="178747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089DB34-23EA-816F-AE13-3CDFFD2BBDF0}"/>
              </a:ext>
            </a:extLst>
          </p:cNvPr>
          <p:cNvCxnSpPr>
            <a:cxnSpLocks/>
          </p:cNvCxnSpPr>
          <p:nvPr/>
        </p:nvCxnSpPr>
        <p:spPr>
          <a:xfrm>
            <a:off x="1236421" y="3609069"/>
            <a:ext cx="1587436" cy="30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0E7F35B-7E68-4BDF-3C23-C386A5818245}"/>
              </a:ext>
            </a:extLst>
          </p:cNvPr>
          <p:cNvCxnSpPr>
            <a:cxnSpLocks/>
          </p:cNvCxnSpPr>
          <p:nvPr/>
        </p:nvCxnSpPr>
        <p:spPr>
          <a:xfrm flipV="1">
            <a:off x="1833562" y="3590333"/>
            <a:ext cx="3704" cy="69130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BEE8D02-08BC-3AE2-7736-20CF93373A8B}"/>
              </a:ext>
            </a:extLst>
          </p:cNvPr>
          <p:cNvCxnSpPr>
            <a:cxnSpLocks/>
          </p:cNvCxnSpPr>
          <p:nvPr/>
        </p:nvCxnSpPr>
        <p:spPr>
          <a:xfrm flipH="1">
            <a:off x="1236421" y="3326087"/>
            <a:ext cx="713599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0D7D890-14F0-C512-3842-CBF1A6B11E18}"/>
              </a:ext>
            </a:extLst>
          </p:cNvPr>
          <p:cNvSpPr txBox="1"/>
          <p:nvPr/>
        </p:nvSpPr>
        <p:spPr>
          <a:xfrm>
            <a:off x="4824127" y="5535588"/>
            <a:ext cx="995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AABB</a:t>
            </a:r>
            <a:endParaRPr lang="ko-KR" alt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20D20B-AD01-8DB0-6D6B-CB01C119D0DB}"/>
              </a:ext>
            </a:extLst>
          </p:cNvPr>
          <p:cNvSpPr txBox="1"/>
          <p:nvPr/>
        </p:nvSpPr>
        <p:spPr>
          <a:xfrm>
            <a:off x="3694572" y="5566635"/>
            <a:ext cx="995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AABB</a:t>
            </a:r>
            <a:endParaRPr lang="ko-KR" alt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87B146-FAFC-2593-BF2F-BB3C176B2121}"/>
              </a:ext>
            </a:extLst>
          </p:cNvPr>
          <p:cNvSpPr txBox="1"/>
          <p:nvPr/>
        </p:nvSpPr>
        <p:spPr>
          <a:xfrm>
            <a:off x="6091315" y="5528785"/>
            <a:ext cx="995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AABB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2AF5-854F-B7F8-0B4D-E2B1497150DD}"/>
              </a:ext>
            </a:extLst>
          </p:cNvPr>
          <p:cNvSpPr txBox="1"/>
          <p:nvPr/>
        </p:nvSpPr>
        <p:spPr>
          <a:xfrm>
            <a:off x="7423307" y="5520677"/>
            <a:ext cx="995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AABB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2536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8D1C2-6828-4E4C-42B0-033B0DD8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트리의 변화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65BCD-A4A9-7EFB-AE63-3C976DA0FD15}"/>
              </a:ext>
            </a:extLst>
          </p:cNvPr>
          <p:cNvSpPr txBox="1"/>
          <p:nvPr/>
        </p:nvSpPr>
        <p:spPr>
          <a:xfrm>
            <a:off x="5232123" y="1635987"/>
            <a:ext cx="67414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움직이지 않는 오브젝트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en-US" altLang="ko-KR" dirty="0"/>
              <a:t>Primitive)</a:t>
            </a:r>
            <a:r>
              <a:rPr lang="ko-KR" altLang="en-US" dirty="0"/>
              <a:t>를 대상으로 하는 정적 트리는 한번 트리를 구성하여 사용하지만 드물게 위치가 바뀌면 트리의 노드 구성이나 노드의 </a:t>
            </a:r>
            <a:r>
              <a:rPr lang="en-US" altLang="ko-KR" dirty="0"/>
              <a:t>AABB</a:t>
            </a:r>
            <a:r>
              <a:rPr lang="ko-KR" altLang="en-US" dirty="0"/>
              <a:t>를 변경해야 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하지만 트리구성의 규칙을 벗어나므로 문제점이 존재한다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A0A3AA5-6407-2462-2AEB-251F4AF906F3}"/>
              </a:ext>
            </a:extLst>
          </p:cNvPr>
          <p:cNvGrpSpPr/>
          <p:nvPr/>
        </p:nvGrpSpPr>
        <p:grpSpPr>
          <a:xfrm>
            <a:off x="218475" y="1544031"/>
            <a:ext cx="4668428" cy="1961968"/>
            <a:chOff x="466125" y="2039331"/>
            <a:chExt cx="4668428" cy="196196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9CEC89C-0510-9217-5CF4-33F50AC42635}"/>
                </a:ext>
              </a:extLst>
            </p:cNvPr>
            <p:cNvGrpSpPr/>
            <p:nvPr/>
          </p:nvGrpSpPr>
          <p:grpSpPr>
            <a:xfrm>
              <a:off x="466125" y="2159273"/>
              <a:ext cx="4668428" cy="1842026"/>
              <a:chOff x="334437" y="2380311"/>
              <a:chExt cx="5408411" cy="2097378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840B81A6-68E6-8EAF-ECD8-B8559376BF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578"/>
              <a:stretch>
                <a:fillRect/>
              </a:stretch>
            </p:blipFill>
            <p:spPr>
              <a:xfrm>
                <a:off x="334437" y="2380311"/>
                <a:ext cx="5408411" cy="2097378"/>
              </a:xfrm>
              <a:prstGeom prst="rect">
                <a:avLst/>
              </a:prstGeom>
            </p:spPr>
          </p:pic>
          <p:sp>
            <p:nvSpPr>
              <p:cNvPr id="9" name="이등변 삼각형 8">
                <a:extLst>
                  <a:ext uri="{FF2B5EF4-FFF2-40B4-BE49-F238E27FC236}">
                    <a16:creationId xmlns:a16="http://schemas.microsoft.com/office/drawing/2014/main" id="{2F84590A-9A81-7849-ED1C-E840BE48DD09}"/>
                  </a:ext>
                </a:extLst>
              </p:cNvPr>
              <p:cNvSpPr/>
              <p:nvPr/>
            </p:nvSpPr>
            <p:spPr>
              <a:xfrm rot="9028807">
                <a:off x="1792211" y="2527683"/>
                <a:ext cx="1025379" cy="1621416"/>
              </a:xfrm>
              <a:prstGeom prst="triangl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DFD0404-3B29-D4F6-37EC-93DBBB869447}"/>
                </a:ext>
              </a:extLst>
            </p:cNvPr>
            <p:cNvCxnSpPr/>
            <p:nvPr/>
          </p:nvCxnSpPr>
          <p:spPr>
            <a:xfrm flipV="1">
              <a:off x="1794135" y="2959620"/>
              <a:ext cx="1678899" cy="404734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81AF78A-7E51-A1F2-13D1-988051908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3584" y="2406374"/>
              <a:ext cx="1581463" cy="9615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F52262-7F44-75FA-8043-D35A5D5B508A}"/>
                </a:ext>
              </a:extLst>
            </p:cNvPr>
            <p:cNvSpPr txBox="1"/>
            <p:nvPr/>
          </p:nvSpPr>
          <p:spPr>
            <a:xfrm>
              <a:off x="4006850" y="2039331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AABB</a:t>
              </a:r>
              <a:endParaRPr lang="ko-KR" altLang="en-US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ECDAE5-3EC7-4A0A-C0FC-76CA1384424F}"/>
                </a:ext>
              </a:extLst>
            </p:cNvPr>
            <p:cNvSpPr txBox="1"/>
            <p:nvPr/>
          </p:nvSpPr>
          <p:spPr>
            <a:xfrm>
              <a:off x="3189943" y="2592577"/>
              <a:ext cx="5661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AABB</a:t>
              </a:r>
              <a:endParaRPr lang="ko-KR" altLang="en-US" sz="12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46C2F06-D857-95C7-1FDD-4C8D9A6BD750}"/>
              </a:ext>
            </a:extLst>
          </p:cNvPr>
          <p:cNvSpPr txBox="1"/>
          <p:nvPr/>
        </p:nvSpPr>
        <p:spPr>
          <a:xfrm>
            <a:off x="7883160" y="1174699"/>
            <a:ext cx="4254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https://sopiro.github.io/DynamicBVH/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FC0709-E98E-83AE-61A3-8A71AF92D0DA}"/>
              </a:ext>
            </a:extLst>
          </p:cNvPr>
          <p:cNvSpPr txBox="1"/>
          <p:nvPr/>
        </p:nvSpPr>
        <p:spPr>
          <a:xfrm>
            <a:off x="158750" y="3642686"/>
            <a:ext cx="121285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/>
              <a:t> </a:t>
            </a:r>
            <a:r>
              <a:rPr lang="ko-KR" altLang="en-US" sz="1600" b="1" dirty="0"/>
              <a:t>부모 </a:t>
            </a:r>
            <a:r>
              <a:rPr lang="en-US" altLang="ko-KR" sz="1600" b="1" dirty="0"/>
              <a:t>AABB</a:t>
            </a:r>
            <a:r>
              <a:rPr lang="ko-KR" altLang="en-US" sz="1600" b="1" dirty="0"/>
              <a:t>가 커짐</a:t>
            </a:r>
          </a:p>
          <a:p>
            <a:pPr>
              <a:buNone/>
            </a:pPr>
            <a:r>
              <a:rPr lang="ko-KR" altLang="en-US" sz="1600" dirty="0"/>
              <a:t>오브젝트가 움직이면 부모는 그 둘을 감싸려고 </a:t>
            </a:r>
            <a:r>
              <a:rPr lang="en-US" altLang="ko-KR" sz="1600" dirty="0"/>
              <a:t>AABB</a:t>
            </a:r>
            <a:r>
              <a:rPr lang="ko-KR" altLang="en-US" sz="1600" dirty="0"/>
              <a:t>를 키워야 해서 </a:t>
            </a:r>
            <a:r>
              <a:rPr lang="ko-KR" altLang="en-US" sz="1600" b="1" dirty="0"/>
              <a:t>부모 </a:t>
            </a:r>
            <a:r>
              <a:rPr lang="en-US" altLang="ko-KR" sz="1600" b="1" dirty="0"/>
              <a:t>AABB </a:t>
            </a:r>
            <a:r>
              <a:rPr lang="ko-KR" altLang="en-US" sz="1600" b="1" dirty="0"/>
              <a:t>영역이 점점 커진다</a:t>
            </a:r>
            <a:r>
              <a:rPr lang="en-US" altLang="ko-KR" sz="1600" b="1" dirty="0"/>
              <a:t>.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 </a:t>
            </a:r>
            <a:r>
              <a:rPr lang="ko-KR" altLang="en-US" sz="1600" b="1" dirty="0"/>
              <a:t>형제 노드 간 </a:t>
            </a:r>
            <a:r>
              <a:rPr lang="en-US" altLang="ko-KR" sz="1600" b="1" dirty="0"/>
              <a:t>AABB Overlap </a:t>
            </a:r>
            <a:r>
              <a:rPr lang="ko-KR" altLang="en-US" sz="1600" b="1" dirty="0"/>
              <a:t>증가 </a:t>
            </a:r>
            <a:endParaRPr lang="en-US" altLang="ko-KR" sz="1600" b="1" dirty="0"/>
          </a:p>
          <a:p>
            <a:r>
              <a:rPr lang="ko-KR" altLang="en-US" sz="1600" dirty="0"/>
              <a:t>분할 기준이 </a:t>
            </a:r>
            <a:r>
              <a:rPr lang="en-US" altLang="ko-KR" sz="1600" dirty="0"/>
              <a:t>SAH</a:t>
            </a:r>
            <a:r>
              <a:rPr lang="ko-KR" altLang="en-US" sz="1600" dirty="0"/>
              <a:t>든 단순 오브젝트 수 기반이든 중요하지 않음</a:t>
            </a:r>
            <a:r>
              <a:rPr lang="en-US" altLang="ko-KR" sz="1600" dirty="0"/>
              <a:t>. </a:t>
            </a:r>
            <a:r>
              <a:rPr lang="ko-KR" altLang="en-US" sz="1600" dirty="0"/>
              <a:t>오브젝트가 이동하면 형제 노드 </a:t>
            </a:r>
            <a:r>
              <a:rPr lang="en-US" altLang="ko-KR" sz="1600" dirty="0"/>
              <a:t>AABB</a:t>
            </a:r>
            <a:r>
              <a:rPr lang="ko-KR" altLang="en-US" sz="1600" dirty="0"/>
              <a:t>가 서로 겹치는 경우가 증가하고</a:t>
            </a:r>
            <a:r>
              <a:rPr lang="en-US" altLang="ko-KR" sz="1600" dirty="0"/>
              <a:t>, </a:t>
            </a:r>
            <a:r>
              <a:rPr lang="ko-KR" altLang="en-US" sz="1600" dirty="0"/>
              <a:t>그 결과 한 자식을 검사해야 하면 다른 자식도 검사해야 할 가능성이 증가한다</a:t>
            </a:r>
            <a:r>
              <a:rPr lang="en-US" altLang="ko-KR" sz="1600" dirty="0"/>
              <a:t>. </a:t>
            </a:r>
            <a:r>
              <a:rPr lang="en-US" altLang="ko-KR" sz="1600" b="1" dirty="0"/>
              <a:t>(</a:t>
            </a:r>
            <a:r>
              <a:rPr lang="ko-KR" altLang="en-US" sz="1600" b="1" dirty="0" err="1"/>
              <a:t>프루닝</a:t>
            </a:r>
            <a:r>
              <a:rPr lang="ko-KR" altLang="en-US" sz="1600" b="1" dirty="0"/>
              <a:t> 실패 증가 → 방문 노드 증가</a:t>
            </a:r>
            <a:r>
              <a:rPr lang="en-US" altLang="ko-KR" sz="1600" b="1" dirty="0"/>
              <a:t>)</a:t>
            </a:r>
            <a:endParaRPr lang="ko-KR" altLang="en-US" sz="1600" dirty="0"/>
          </a:p>
          <a:p>
            <a:pPr>
              <a:buNone/>
            </a:pPr>
            <a:endParaRPr lang="en-US" altLang="ko-KR" sz="1600" b="1" dirty="0"/>
          </a:p>
          <a:p>
            <a:r>
              <a:rPr lang="ko-KR" altLang="en-US" sz="1600" b="1" dirty="0"/>
              <a:t> 초기 분할 기준이 의미 없어짐</a:t>
            </a:r>
          </a:p>
          <a:p>
            <a:r>
              <a:rPr lang="ko-KR" altLang="en-US" sz="1600" dirty="0"/>
              <a:t>정적 트리는 빌드 시점의 </a:t>
            </a:r>
            <a:r>
              <a:rPr lang="en-US" altLang="ko-KR" sz="1600" dirty="0"/>
              <a:t>AABB/</a:t>
            </a:r>
            <a:r>
              <a:rPr lang="ko-KR" altLang="en-US" sz="1600" dirty="0"/>
              <a:t>위치에 맞춰서</a:t>
            </a:r>
            <a:r>
              <a:rPr lang="en-US" altLang="ko-KR" sz="1600" dirty="0"/>
              <a:t>, longest axis </a:t>
            </a:r>
            <a:r>
              <a:rPr lang="en-US" altLang="ko-KR" sz="1600" dirty="0" err="1"/>
              <a:t>split,median</a:t>
            </a:r>
            <a:r>
              <a:rPr lang="en-US" altLang="ko-KR" sz="1600" dirty="0"/>
              <a:t> split,</a:t>
            </a:r>
            <a:r>
              <a:rPr lang="ko-KR" altLang="en-US" sz="1600" dirty="0"/>
              <a:t>균등 분할</a:t>
            </a:r>
            <a:r>
              <a:rPr lang="en-US" altLang="ko-KR" sz="1600" dirty="0"/>
              <a:t>,object-count </a:t>
            </a:r>
            <a:r>
              <a:rPr lang="ko-KR" altLang="en-US" sz="1600" dirty="0"/>
              <a:t>분할 등을 기준 구성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하지만 </a:t>
            </a:r>
            <a:r>
              <a:rPr lang="en-US" altLang="ko-KR" sz="1600" dirty="0"/>
              <a:t>AABB</a:t>
            </a:r>
            <a:r>
              <a:rPr lang="ko-KR" altLang="en-US" sz="1600" dirty="0"/>
              <a:t>가 이동하면</a:t>
            </a:r>
            <a:r>
              <a:rPr lang="en-US" altLang="ko-KR" sz="1600" dirty="0"/>
              <a:t>: </a:t>
            </a:r>
            <a:r>
              <a:rPr lang="ko-KR" altLang="en-US" sz="1600" dirty="0"/>
              <a:t>원래 왼쪽 서브 트리에 있던 객체가 오른쪽 공간으로 이동</a:t>
            </a:r>
            <a:r>
              <a:rPr lang="en-US" altLang="ko-KR" sz="1600" dirty="0"/>
              <a:t>,</a:t>
            </a:r>
            <a:r>
              <a:rPr lang="ko-KR" altLang="en-US" sz="1600" dirty="0"/>
              <a:t>원래 오른쪽이었던 물체가 왼쪽 공간으로 이동</a:t>
            </a:r>
          </a:p>
          <a:p>
            <a:r>
              <a:rPr lang="ko-KR" altLang="en-US" sz="1600" dirty="0"/>
              <a:t>그런데 트리 구조는 고정됨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/>
              <a:t>→ </a:t>
            </a:r>
            <a:r>
              <a:rPr lang="ko-KR" altLang="en-US" sz="1600" b="1" dirty="0"/>
              <a:t>트리 구조가 실제 공간 분포와 어긋남 </a:t>
            </a:r>
            <a:r>
              <a:rPr lang="ko-KR" altLang="en-US" sz="1600" dirty="0"/>
              <a:t>→ “</a:t>
            </a:r>
            <a:r>
              <a:rPr lang="ko-KR" altLang="en-US" sz="1600" dirty="0" err="1"/>
              <a:t>분할”이</a:t>
            </a:r>
            <a:r>
              <a:rPr lang="ko-KR" altLang="en-US" sz="1600" dirty="0"/>
              <a:t> 더 이상 유효하지 않게 됨 → 성능 하락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2104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91C97-352C-6B6E-511A-A6B100F9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트리 변화의 대응 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67400-5EAE-D5D5-70F1-E772F9C22D54}"/>
              </a:ext>
            </a:extLst>
          </p:cNvPr>
          <p:cNvSpPr txBox="1"/>
          <p:nvPr/>
        </p:nvSpPr>
        <p:spPr>
          <a:xfrm>
            <a:off x="7189186" y="1525713"/>
            <a:ext cx="495971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방법 </a:t>
            </a:r>
            <a:r>
              <a:rPr lang="en-US" altLang="ko-KR" sz="1400" b="1" dirty="0"/>
              <a:t>0: Full Rebuild</a:t>
            </a:r>
          </a:p>
          <a:p>
            <a:pPr>
              <a:buNone/>
            </a:pPr>
            <a:r>
              <a:rPr lang="ko-KR" altLang="en-US" sz="1400" b="1" dirty="0"/>
              <a:t>전체 다시 빌드한다</a:t>
            </a:r>
            <a:r>
              <a:rPr lang="en-US" altLang="ko-KR" sz="1400" b="1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ko-KR" altLang="en-US" sz="1400" b="1" dirty="0"/>
              <a:t>방법 </a:t>
            </a:r>
            <a:r>
              <a:rPr lang="en-US" altLang="ko-KR" sz="1400" b="1" dirty="0"/>
              <a:t>1: Refit — </a:t>
            </a:r>
            <a:r>
              <a:rPr lang="ko-KR" altLang="en-US" sz="1400" b="1" dirty="0"/>
              <a:t>트리 구조는 유지하고 </a:t>
            </a:r>
            <a:r>
              <a:rPr lang="en-US" altLang="ko-KR" sz="1400" b="1" dirty="0"/>
              <a:t>AABB</a:t>
            </a:r>
            <a:r>
              <a:rPr lang="ko-KR" altLang="en-US" sz="1400" b="1" dirty="0"/>
              <a:t>만 갱신</a:t>
            </a:r>
          </a:p>
          <a:p>
            <a:pPr>
              <a:buNone/>
            </a:pPr>
            <a:r>
              <a:rPr lang="ko-KR" altLang="en-US" sz="1400" dirty="0"/>
              <a:t>정적 트리를 유지한 채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b="1" dirty="0"/>
              <a:t>부모 </a:t>
            </a:r>
            <a:r>
              <a:rPr lang="en-US" altLang="ko-KR" sz="1400" b="1" dirty="0"/>
              <a:t>AABB = </a:t>
            </a:r>
            <a:r>
              <a:rPr lang="ko-KR" altLang="en-US" sz="1400" b="1" dirty="0"/>
              <a:t>자식 두 개의 </a:t>
            </a:r>
            <a:r>
              <a:rPr lang="en-US" altLang="ko-KR" sz="1400" b="1" dirty="0"/>
              <a:t>union</a:t>
            </a:r>
            <a:r>
              <a:rPr lang="ko-KR" altLang="en-US" sz="1400" dirty="0"/>
              <a:t>으로 다시 계산하는 방식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ko-KR" altLang="en-US" sz="1400" b="1" dirty="0"/>
              <a:t> 장점</a:t>
            </a:r>
          </a:p>
          <a:p>
            <a:r>
              <a:rPr lang="ko-KR" altLang="en-US" sz="1400" dirty="0"/>
              <a:t>빠르다 </a:t>
            </a:r>
            <a:r>
              <a:rPr lang="en-US" altLang="ko-KR" sz="1400" dirty="0"/>
              <a:t>(O(N))</a:t>
            </a:r>
          </a:p>
          <a:p>
            <a:r>
              <a:rPr lang="ko-KR" altLang="en-US" sz="1400" dirty="0"/>
              <a:t>구현 매우 쉬움</a:t>
            </a:r>
          </a:p>
          <a:p>
            <a:r>
              <a:rPr lang="ko-KR" altLang="en-US" sz="1400" dirty="0"/>
              <a:t>트리 구조 변경 없음 → 메모리 재배치 필요 없음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ko-KR" altLang="en-US" sz="1400" b="1" dirty="0"/>
              <a:t>단점</a:t>
            </a:r>
          </a:p>
          <a:p>
            <a:r>
              <a:rPr lang="ko-KR" altLang="en-US" sz="1400" b="1" dirty="0"/>
              <a:t>트리 구조</a:t>
            </a:r>
            <a:r>
              <a:rPr lang="en-US" altLang="ko-KR" sz="1400" b="1" dirty="0"/>
              <a:t>(topology)</a:t>
            </a:r>
            <a:r>
              <a:rPr lang="ko-KR" altLang="en-US" sz="1400" b="1" dirty="0"/>
              <a:t>는 그대로라 </a:t>
            </a:r>
            <a:r>
              <a:rPr lang="en-US" altLang="ko-KR" sz="1400" b="1" dirty="0"/>
              <a:t>SAH </a:t>
            </a:r>
            <a:r>
              <a:rPr lang="ko-KR" altLang="en-US" sz="1400" b="1" dirty="0"/>
              <a:t>품질이 계속 악화됨</a:t>
            </a:r>
            <a:endParaRPr lang="ko-KR" altLang="en-US" sz="1400" dirty="0"/>
          </a:p>
          <a:p>
            <a:r>
              <a:rPr lang="en-US" altLang="ko-KR" sz="1400" dirty="0"/>
              <a:t>Surface area </a:t>
            </a:r>
            <a:r>
              <a:rPr lang="ko-KR" altLang="en-US" sz="1400" dirty="0"/>
              <a:t>증가</a:t>
            </a:r>
          </a:p>
          <a:p>
            <a:r>
              <a:rPr lang="ko-KR" altLang="en-US" sz="1400" dirty="0"/>
              <a:t>형제 </a:t>
            </a:r>
            <a:r>
              <a:rPr lang="en-US" altLang="ko-KR" sz="1400" dirty="0"/>
              <a:t>overlap </a:t>
            </a:r>
            <a:r>
              <a:rPr lang="ko-KR" altLang="en-US" sz="1400" dirty="0"/>
              <a:t>증가</a:t>
            </a:r>
          </a:p>
          <a:p>
            <a:r>
              <a:rPr lang="en-US" altLang="ko-KR" sz="1400" dirty="0"/>
              <a:t>pruning </a:t>
            </a:r>
            <a:r>
              <a:rPr lang="ko-KR" altLang="en-US" sz="1400" dirty="0"/>
              <a:t>효율 점점 떨어짐</a:t>
            </a:r>
          </a:p>
          <a:p>
            <a:r>
              <a:rPr lang="ko-KR" altLang="en-US" sz="1400" dirty="0"/>
              <a:t>결국 </a:t>
            </a:r>
            <a:r>
              <a:rPr lang="ko-KR" altLang="en-US" sz="1400" b="1" dirty="0"/>
              <a:t>트리 품질이 나빠지는 것은 막을 수 없음</a:t>
            </a:r>
            <a:endParaRPr lang="ko-KR" altLang="en-US" sz="1400" dirty="0"/>
          </a:p>
          <a:p>
            <a:pPr>
              <a:buNone/>
            </a:pPr>
            <a:r>
              <a:rPr lang="ko-KR" altLang="en-US" sz="1400" dirty="0"/>
              <a:t>정적 </a:t>
            </a:r>
            <a:r>
              <a:rPr lang="en-US" altLang="ko-KR" sz="1400" dirty="0"/>
              <a:t>BVH</a:t>
            </a:r>
            <a:r>
              <a:rPr lang="ko-KR" altLang="en-US" sz="1400" dirty="0"/>
              <a:t>라면 어디까지나 </a:t>
            </a:r>
            <a:r>
              <a:rPr lang="en-US" altLang="ko-KR" sz="1400" dirty="0"/>
              <a:t>"</a:t>
            </a:r>
            <a:r>
              <a:rPr lang="ko-KR" altLang="en-US" sz="1400" dirty="0"/>
              <a:t>응급 처리</a:t>
            </a:r>
            <a:r>
              <a:rPr lang="en-US" altLang="ko-KR" sz="1400" dirty="0"/>
              <a:t>" </a:t>
            </a:r>
            <a:r>
              <a:rPr lang="ko-KR" altLang="en-US" sz="1400" dirty="0"/>
              <a:t>정도로만 사용됨</a:t>
            </a:r>
            <a:r>
              <a:rPr lang="en-US" altLang="ko-KR" sz="1400" dirty="0"/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C356DB7-3ED5-8DC6-1807-BB36FCBC2DAB}"/>
              </a:ext>
            </a:extLst>
          </p:cNvPr>
          <p:cNvGrpSpPr/>
          <p:nvPr/>
        </p:nvGrpSpPr>
        <p:grpSpPr>
          <a:xfrm>
            <a:off x="-88097" y="1279705"/>
            <a:ext cx="3557836" cy="2710322"/>
            <a:chOff x="-112460" y="2044506"/>
            <a:chExt cx="4398888" cy="316771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6EF823C-F322-DDEE-2F26-CA00C2DE9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271" y="2044506"/>
              <a:ext cx="3854157" cy="30162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16ACA7F-5A4D-4F5B-0E0D-5F159DB12E00}"/>
                    </a:ext>
                  </a:extLst>
                </p:cNvPr>
                <p:cNvSpPr txBox="1"/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29146B-7D31-E7C4-5F1B-6A6C1873D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blipFill>
                  <a:blip r:embed="rId3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19CF03B-DD9F-73DB-9C0C-4AF082DF96DB}"/>
                    </a:ext>
                  </a:extLst>
                </p:cNvPr>
                <p:cNvSpPr txBox="1"/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34363C7-853D-1745-2643-D0BDC5173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992CDC-F40E-19BF-AF2D-13C7A401E75A}"/>
                    </a:ext>
                  </a:extLst>
                </p:cNvPr>
                <p:cNvSpPr txBox="1"/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66D0A6F-253A-DCC7-F72E-D051BB8F3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blipFill>
                  <a:blip r:embed="rId5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AF72172-4899-4D10-4F29-69828BCB2E4D}"/>
                    </a:ext>
                  </a:extLst>
                </p:cNvPr>
                <p:cNvSpPr txBox="1"/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8F93D4-99C1-6606-091F-3670F5E99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AF11A2-8E3D-D72F-040C-03683F03CD3F}"/>
                </a:ext>
              </a:extLst>
            </p:cNvPr>
            <p:cNvSpPr txBox="1"/>
            <p:nvPr/>
          </p:nvSpPr>
          <p:spPr>
            <a:xfrm>
              <a:off x="2056062" y="2497499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54B8D6-D6C4-76B6-34DF-970FD820C041}"/>
                </a:ext>
              </a:extLst>
            </p:cNvPr>
            <p:cNvSpPr txBox="1"/>
            <p:nvPr/>
          </p:nvSpPr>
          <p:spPr>
            <a:xfrm>
              <a:off x="2207706" y="305016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BA77EC-CC41-DCAE-6751-729EA9E7FB6F}"/>
                </a:ext>
              </a:extLst>
            </p:cNvPr>
            <p:cNvSpPr txBox="1"/>
            <p:nvPr/>
          </p:nvSpPr>
          <p:spPr>
            <a:xfrm>
              <a:off x="2402862" y="3429000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B29527-A80E-C1EB-5454-FC3CF33CC271}"/>
                </a:ext>
              </a:extLst>
            </p:cNvPr>
            <p:cNvSpPr txBox="1"/>
            <p:nvPr/>
          </p:nvSpPr>
          <p:spPr>
            <a:xfrm>
              <a:off x="3416395" y="380739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0FC3A5-BC5C-36C1-7584-68A6B24C3B14}"/>
                </a:ext>
              </a:extLst>
            </p:cNvPr>
            <p:cNvSpPr txBox="1"/>
            <p:nvPr/>
          </p:nvSpPr>
          <p:spPr>
            <a:xfrm>
              <a:off x="1731481" y="4008964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D2C8AE-33C1-DA42-A98A-25934AC9C358}"/>
                </a:ext>
              </a:extLst>
            </p:cNvPr>
            <p:cNvSpPr txBox="1"/>
            <p:nvPr/>
          </p:nvSpPr>
          <p:spPr>
            <a:xfrm>
              <a:off x="2934580" y="427080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78B933-2665-0037-FD2E-EAA116C86FEA}"/>
              </a:ext>
            </a:extLst>
          </p:cNvPr>
          <p:cNvSpPr/>
          <p:nvPr/>
        </p:nvSpPr>
        <p:spPr>
          <a:xfrm>
            <a:off x="1216650" y="1655977"/>
            <a:ext cx="597141" cy="79746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DBA5906-68E9-9072-096C-9FB6A9EE17F1}"/>
              </a:ext>
            </a:extLst>
          </p:cNvPr>
          <p:cNvSpPr/>
          <p:nvPr/>
        </p:nvSpPr>
        <p:spPr>
          <a:xfrm>
            <a:off x="1224263" y="2782422"/>
            <a:ext cx="1579823" cy="65648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980973-B3CA-8723-2496-1C4895561CF4}"/>
              </a:ext>
            </a:extLst>
          </p:cNvPr>
          <p:cNvSpPr/>
          <p:nvPr/>
        </p:nvSpPr>
        <p:spPr>
          <a:xfrm>
            <a:off x="1216652" y="1652048"/>
            <a:ext cx="729651" cy="11220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97DCB1B-97BE-8319-901A-9B7250151F4D}"/>
              </a:ext>
            </a:extLst>
          </p:cNvPr>
          <p:cNvSpPr/>
          <p:nvPr/>
        </p:nvSpPr>
        <p:spPr>
          <a:xfrm>
            <a:off x="1216653" y="1652048"/>
            <a:ext cx="1587433" cy="178747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DE0D17E-DBC4-9BA7-9203-F8DA2446DDFE}"/>
              </a:ext>
            </a:extLst>
          </p:cNvPr>
          <p:cNvCxnSpPr>
            <a:cxnSpLocks/>
          </p:cNvCxnSpPr>
          <p:nvPr/>
        </p:nvCxnSpPr>
        <p:spPr>
          <a:xfrm>
            <a:off x="1216650" y="2782196"/>
            <a:ext cx="1587436" cy="308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00CD2CA-94F7-C33E-283F-E8CF2036E151}"/>
              </a:ext>
            </a:extLst>
          </p:cNvPr>
          <p:cNvCxnSpPr>
            <a:cxnSpLocks/>
          </p:cNvCxnSpPr>
          <p:nvPr/>
        </p:nvCxnSpPr>
        <p:spPr>
          <a:xfrm flipV="1">
            <a:off x="1813791" y="2763460"/>
            <a:ext cx="3704" cy="691303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E59CEBF-942A-D3AD-6972-A5006BFD1C94}"/>
              </a:ext>
            </a:extLst>
          </p:cNvPr>
          <p:cNvCxnSpPr>
            <a:cxnSpLocks/>
          </p:cNvCxnSpPr>
          <p:nvPr/>
        </p:nvCxnSpPr>
        <p:spPr>
          <a:xfrm flipH="1">
            <a:off x="1216650" y="2499214"/>
            <a:ext cx="713599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380EA40-68F8-3C3E-2945-B5FC245FC139}"/>
              </a:ext>
            </a:extLst>
          </p:cNvPr>
          <p:cNvSpPr/>
          <p:nvPr/>
        </p:nvSpPr>
        <p:spPr>
          <a:xfrm>
            <a:off x="1445619" y="4375080"/>
            <a:ext cx="214034" cy="216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F20D02F-0CF8-9C8C-759B-ACEA90017315}"/>
              </a:ext>
            </a:extLst>
          </p:cNvPr>
          <p:cNvSpPr/>
          <p:nvPr/>
        </p:nvSpPr>
        <p:spPr>
          <a:xfrm>
            <a:off x="1200934" y="4831195"/>
            <a:ext cx="597141" cy="33744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103BA33-91BC-2CC1-D19D-DD4FFDC26E7F}"/>
              </a:ext>
            </a:extLst>
          </p:cNvPr>
          <p:cNvSpPr/>
          <p:nvPr/>
        </p:nvSpPr>
        <p:spPr>
          <a:xfrm>
            <a:off x="1321416" y="5234369"/>
            <a:ext cx="612857" cy="25914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4F0E3CB-72C2-DDB6-00FE-3F851A79D78F}"/>
              </a:ext>
            </a:extLst>
          </p:cNvPr>
          <p:cNvSpPr/>
          <p:nvPr/>
        </p:nvSpPr>
        <p:spPr>
          <a:xfrm>
            <a:off x="1946396" y="5531099"/>
            <a:ext cx="841635" cy="25914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94AD721-B335-681F-1097-D51F27A06DAA}"/>
              </a:ext>
            </a:extLst>
          </p:cNvPr>
          <p:cNvSpPr/>
          <p:nvPr/>
        </p:nvSpPr>
        <p:spPr>
          <a:xfrm>
            <a:off x="1200598" y="5726432"/>
            <a:ext cx="216000" cy="216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6A86D26-2029-710F-BFFA-EABB756777C6}"/>
              </a:ext>
            </a:extLst>
          </p:cNvPr>
          <p:cNvSpPr/>
          <p:nvPr/>
        </p:nvSpPr>
        <p:spPr>
          <a:xfrm>
            <a:off x="668088" y="4999915"/>
            <a:ext cx="216000" cy="216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C00000"/>
                </a:solidFill>
              </a:rPr>
              <a:t>•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DBFC222-BFDE-3C2C-DF92-F456D23B990F}"/>
              </a:ext>
            </a:extLst>
          </p:cNvPr>
          <p:cNvSpPr/>
          <p:nvPr/>
        </p:nvSpPr>
        <p:spPr>
          <a:xfrm>
            <a:off x="1200934" y="4371172"/>
            <a:ext cx="597141" cy="79746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8AED788-ED9D-CC97-6A61-BF6CCFA22F58}"/>
              </a:ext>
            </a:extLst>
          </p:cNvPr>
          <p:cNvSpPr/>
          <p:nvPr/>
        </p:nvSpPr>
        <p:spPr>
          <a:xfrm>
            <a:off x="1200598" y="4370416"/>
            <a:ext cx="729651" cy="11220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2AFEFF0-A9C5-B8D8-1358-90CB753DF362}"/>
              </a:ext>
            </a:extLst>
          </p:cNvPr>
          <p:cNvSpPr/>
          <p:nvPr/>
        </p:nvSpPr>
        <p:spPr>
          <a:xfrm>
            <a:off x="668088" y="4371275"/>
            <a:ext cx="2119943" cy="157115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8A153A4-2B49-8807-A2BE-A76C237A2754}"/>
              </a:ext>
            </a:extLst>
          </p:cNvPr>
          <p:cNvSpPr/>
          <p:nvPr/>
        </p:nvSpPr>
        <p:spPr>
          <a:xfrm>
            <a:off x="668088" y="4999916"/>
            <a:ext cx="2119943" cy="79033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121A82AF-699C-FBDE-CB69-B85433FE10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474" y="1441461"/>
            <a:ext cx="3491545" cy="2419010"/>
          </a:xfrm>
          <a:prstGeom prst="rect">
            <a:avLst/>
          </a:prstGeom>
        </p:spPr>
      </p:pic>
      <p:sp>
        <p:nvSpPr>
          <p:cNvPr id="95" name="직사각형 94">
            <a:extLst>
              <a:ext uri="{FF2B5EF4-FFF2-40B4-BE49-F238E27FC236}">
                <a16:creationId xmlns:a16="http://schemas.microsoft.com/office/drawing/2014/main" id="{CAD89D42-B420-2A95-E131-348BA3778D24}"/>
              </a:ext>
            </a:extLst>
          </p:cNvPr>
          <p:cNvSpPr/>
          <p:nvPr/>
        </p:nvSpPr>
        <p:spPr>
          <a:xfrm>
            <a:off x="1974510" y="2783722"/>
            <a:ext cx="833132" cy="65648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7754264-9182-2F0D-F62D-ED127924BF93}"/>
              </a:ext>
            </a:extLst>
          </p:cNvPr>
          <p:cNvSpPr txBox="1"/>
          <p:nvPr/>
        </p:nvSpPr>
        <p:spPr>
          <a:xfrm>
            <a:off x="4972886" y="2093875"/>
            <a:ext cx="12420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갯수</a:t>
            </a:r>
            <a:r>
              <a:rPr lang="ko-KR" altLang="en-US" sz="1100" dirty="0"/>
              <a:t> 절반 분할</a:t>
            </a:r>
          </a:p>
        </p:txBody>
      </p:sp>
    </p:spTree>
    <p:extLst>
      <p:ext uri="{BB962C8B-B14F-4D97-AF65-F5344CB8AC3E}">
        <p14:creationId xmlns:p14="http://schemas.microsoft.com/office/powerpoint/2010/main" val="123978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9FE8B-8DE8-C525-AEDE-4F0F4867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트리 변화의 대응 방법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B8E6BA1-7A8C-485E-539C-76ECFF65ABDE}"/>
              </a:ext>
            </a:extLst>
          </p:cNvPr>
          <p:cNvGrpSpPr/>
          <p:nvPr/>
        </p:nvGrpSpPr>
        <p:grpSpPr>
          <a:xfrm>
            <a:off x="-126197" y="1279705"/>
            <a:ext cx="3557836" cy="2710322"/>
            <a:chOff x="-112460" y="2044506"/>
            <a:chExt cx="4398888" cy="31677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1964F4C-724C-5EA1-1F1B-A430CCB8B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271" y="2044506"/>
              <a:ext cx="3854157" cy="30162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247C496-0875-4756-44EF-002364F5C2C8}"/>
                    </a:ext>
                  </a:extLst>
                </p:cNvPr>
                <p:cNvSpPr txBox="1"/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29146B-7D31-E7C4-5F1B-6A6C1873D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blipFill>
                  <a:blip r:embed="rId3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5A16088-16D8-3623-236D-856FEEB3D332}"/>
                    </a:ext>
                  </a:extLst>
                </p:cNvPr>
                <p:cNvSpPr txBox="1"/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34363C7-853D-1745-2643-D0BDC5173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FC1314-F222-890B-10E4-D4FAF0124CF5}"/>
                    </a:ext>
                  </a:extLst>
                </p:cNvPr>
                <p:cNvSpPr txBox="1"/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66D0A6F-253A-DCC7-F72E-D051BB8F3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blipFill>
                  <a:blip r:embed="rId5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75A82AE-6AB5-0E6C-B7D1-1DBFC8B64F19}"/>
                    </a:ext>
                  </a:extLst>
                </p:cNvPr>
                <p:cNvSpPr txBox="1"/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8F93D4-99C1-6606-091F-3670F5E99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3DA55D-B57F-83B8-A930-C8C2835351BB}"/>
                </a:ext>
              </a:extLst>
            </p:cNvPr>
            <p:cNvSpPr txBox="1"/>
            <p:nvPr/>
          </p:nvSpPr>
          <p:spPr>
            <a:xfrm>
              <a:off x="2056062" y="2497499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7511B3-BAF9-BF97-2F90-F85594E90E3F}"/>
                </a:ext>
              </a:extLst>
            </p:cNvPr>
            <p:cNvSpPr txBox="1"/>
            <p:nvPr/>
          </p:nvSpPr>
          <p:spPr>
            <a:xfrm>
              <a:off x="2207706" y="305016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A923F2-DAC8-92DA-06A9-0443B8C34147}"/>
                </a:ext>
              </a:extLst>
            </p:cNvPr>
            <p:cNvSpPr txBox="1"/>
            <p:nvPr/>
          </p:nvSpPr>
          <p:spPr>
            <a:xfrm>
              <a:off x="2402862" y="3429000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4882A9-5193-BC7F-BE04-DB2282921A30}"/>
                </a:ext>
              </a:extLst>
            </p:cNvPr>
            <p:cNvSpPr txBox="1"/>
            <p:nvPr/>
          </p:nvSpPr>
          <p:spPr>
            <a:xfrm>
              <a:off x="3416395" y="380739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9928C8-06A2-12AE-CC5B-1A5428DFBF2B}"/>
                </a:ext>
              </a:extLst>
            </p:cNvPr>
            <p:cNvSpPr txBox="1"/>
            <p:nvPr/>
          </p:nvSpPr>
          <p:spPr>
            <a:xfrm>
              <a:off x="1731481" y="4008964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6F9C88-8E1D-CC83-6D09-51DD1A94B395}"/>
                </a:ext>
              </a:extLst>
            </p:cNvPr>
            <p:cNvSpPr txBox="1"/>
            <p:nvPr/>
          </p:nvSpPr>
          <p:spPr>
            <a:xfrm>
              <a:off x="2934580" y="427080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1371A6-6BD6-24BE-7171-4CBB91ACBE1F}"/>
              </a:ext>
            </a:extLst>
          </p:cNvPr>
          <p:cNvSpPr/>
          <p:nvPr/>
        </p:nvSpPr>
        <p:spPr>
          <a:xfrm>
            <a:off x="1178550" y="1655977"/>
            <a:ext cx="597141" cy="79746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8BD40E-264E-E14C-0C17-A6F1B8A29D32}"/>
              </a:ext>
            </a:extLst>
          </p:cNvPr>
          <p:cNvSpPr/>
          <p:nvPr/>
        </p:nvSpPr>
        <p:spPr>
          <a:xfrm>
            <a:off x="1186163" y="2782422"/>
            <a:ext cx="1579823" cy="65648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D1065F-F103-D0D1-A66E-03D312F14018}"/>
              </a:ext>
            </a:extLst>
          </p:cNvPr>
          <p:cNvSpPr/>
          <p:nvPr/>
        </p:nvSpPr>
        <p:spPr>
          <a:xfrm>
            <a:off x="1178552" y="1652048"/>
            <a:ext cx="729651" cy="11220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FE7491-AB62-C951-6366-B8116D6AA43E}"/>
              </a:ext>
            </a:extLst>
          </p:cNvPr>
          <p:cNvSpPr/>
          <p:nvPr/>
        </p:nvSpPr>
        <p:spPr>
          <a:xfrm>
            <a:off x="1178553" y="1652048"/>
            <a:ext cx="1587433" cy="178747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0FDC87-CCB6-2CB1-8227-13EBA1776F67}"/>
              </a:ext>
            </a:extLst>
          </p:cNvPr>
          <p:cNvCxnSpPr>
            <a:cxnSpLocks/>
          </p:cNvCxnSpPr>
          <p:nvPr/>
        </p:nvCxnSpPr>
        <p:spPr>
          <a:xfrm>
            <a:off x="1178550" y="2782196"/>
            <a:ext cx="1587436" cy="308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0BAD7AA-D33E-FCEB-7EBE-804E09B55B5D}"/>
              </a:ext>
            </a:extLst>
          </p:cNvPr>
          <p:cNvCxnSpPr>
            <a:cxnSpLocks/>
          </p:cNvCxnSpPr>
          <p:nvPr/>
        </p:nvCxnSpPr>
        <p:spPr>
          <a:xfrm flipV="1">
            <a:off x="1775691" y="2763460"/>
            <a:ext cx="3704" cy="691303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A64E6DE-114A-787F-866D-809653AA4B7D}"/>
              </a:ext>
            </a:extLst>
          </p:cNvPr>
          <p:cNvCxnSpPr>
            <a:cxnSpLocks/>
          </p:cNvCxnSpPr>
          <p:nvPr/>
        </p:nvCxnSpPr>
        <p:spPr>
          <a:xfrm flipH="1">
            <a:off x="1178550" y="2499214"/>
            <a:ext cx="713599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5B6A45-B416-42ED-ED5D-6A316F004CD9}"/>
              </a:ext>
            </a:extLst>
          </p:cNvPr>
          <p:cNvSpPr/>
          <p:nvPr/>
        </p:nvSpPr>
        <p:spPr>
          <a:xfrm>
            <a:off x="1936410" y="2783722"/>
            <a:ext cx="833132" cy="65648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440DCE-52FE-61EB-B28E-AA0E097BE210}"/>
              </a:ext>
            </a:extLst>
          </p:cNvPr>
          <p:cNvSpPr/>
          <p:nvPr/>
        </p:nvSpPr>
        <p:spPr>
          <a:xfrm>
            <a:off x="1407519" y="4375080"/>
            <a:ext cx="214034" cy="216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0CC0FB-07FC-2830-2AB0-8576F156EFE7}"/>
              </a:ext>
            </a:extLst>
          </p:cNvPr>
          <p:cNvSpPr/>
          <p:nvPr/>
        </p:nvSpPr>
        <p:spPr>
          <a:xfrm>
            <a:off x="1162834" y="4831195"/>
            <a:ext cx="597141" cy="33744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7CBCFA8-901B-3473-DA57-FD456EBF4BF6}"/>
              </a:ext>
            </a:extLst>
          </p:cNvPr>
          <p:cNvSpPr/>
          <p:nvPr/>
        </p:nvSpPr>
        <p:spPr>
          <a:xfrm>
            <a:off x="1283316" y="5234369"/>
            <a:ext cx="612857" cy="25914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8E43DD-F6F8-9EC3-293C-906745351EE7}"/>
              </a:ext>
            </a:extLst>
          </p:cNvPr>
          <p:cNvSpPr/>
          <p:nvPr/>
        </p:nvSpPr>
        <p:spPr>
          <a:xfrm>
            <a:off x="1908296" y="5531099"/>
            <a:ext cx="841635" cy="25914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A4BC8F-09C8-04E4-81F7-8B2226C279CC}"/>
              </a:ext>
            </a:extLst>
          </p:cNvPr>
          <p:cNvSpPr/>
          <p:nvPr/>
        </p:nvSpPr>
        <p:spPr>
          <a:xfrm>
            <a:off x="1162498" y="5726432"/>
            <a:ext cx="216000" cy="216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•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BC52927-F7E5-728E-C6D4-C736F61437B5}"/>
              </a:ext>
            </a:extLst>
          </p:cNvPr>
          <p:cNvSpPr/>
          <p:nvPr/>
        </p:nvSpPr>
        <p:spPr>
          <a:xfrm>
            <a:off x="629988" y="4999915"/>
            <a:ext cx="216000" cy="216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C00000"/>
                </a:solidFill>
              </a:rPr>
              <a:t>•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94C920-1ECA-9914-23E2-3D60FA227095}"/>
              </a:ext>
            </a:extLst>
          </p:cNvPr>
          <p:cNvSpPr/>
          <p:nvPr/>
        </p:nvSpPr>
        <p:spPr>
          <a:xfrm>
            <a:off x="1162834" y="4371172"/>
            <a:ext cx="597141" cy="79746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7D4FDAF-A8CF-79C9-8DD3-50FBA48536F2}"/>
              </a:ext>
            </a:extLst>
          </p:cNvPr>
          <p:cNvSpPr/>
          <p:nvPr/>
        </p:nvSpPr>
        <p:spPr>
          <a:xfrm>
            <a:off x="1162498" y="4370416"/>
            <a:ext cx="729651" cy="11220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5CE1C7-5317-3248-A18F-B88BBB107ED5}"/>
              </a:ext>
            </a:extLst>
          </p:cNvPr>
          <p:cNvSpPr/>
          <p:nvPr/>
        </p:nvSpPr>
        <p:spPr>
          <a:xfrm>
            <a:off x="629988" y="4371275"/>
            <a:ext cx="2119943" cy="157115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F89B3C4-1505-FC0B-D69E-BAA451B62A6C}"/>
              </a:ext>
            </a:extLst>
          </p:cNvPr>
          <p:cNvSpPr/>
          <p:nvPr/>
        </p:nvSpPr>
        <p:spPr>
          <a:xfrm>
            <a:off x="629988" y="4999916"/>
            <a:ext cx="2119943" cy="79033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2ECCD597-4424-BCCB-683F-31621F548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1932" y="1451335"/>
            <a:ext cx="3491545" cy="241901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75D608D-162B-5969-E4B4-86686CBBFF4F}"/>
              </a:ext>
            </a:extLst>
          </p:cNvPr>
          <p:cNvSpPr txBox="1"/>
          <p:nvPr/>
        </p:nvSpPr>
        <p:spPr>
          <a:xfrm>
            <a:off x="6169208" y="1279705"/>
            <a:ext cx="61417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방법</a:t>
            </a:r>
            <a:r>
              <a:rPr lang="en-US" altLang="ko-KR" sz="1400" b="1" dirty="0"/>
              <a:t>2:  </a:t>
            </a:r>
            <a:r>
              <a:rPr lang="en-US" altLang="ko-KR" sz="1400" b="1" dirty="0" err="1"/>
              <a:t>SubTree</a:t>
            </a:r>
            <a:r>
              <a:rPr lang="en-US" altLang="ko-KR" sz="1400" b="1" dirty="0"/>
              <a:t> Rebuild</a:t>
            </a:r>
          </a:p>
          <a:p>
            <a:pPr>
              <a:buNone/>
            </a:pPr>
            <a:r>
              <a:rPr lang="en-US" altLang="ko-KR" sz="1400" b="1" dirty="0"/>
              <a:t>(1) </a:t>
            </a:r>
            <a:r>
              <a:rPr lang="ko-KR" altLang="en-US" sz="1400" b="1" dirty="0"/>
              <a:t>이동된 오브젝트의 리프 노드부터 시작</a:t>
            </a:r>
          </a:p>
          <a:p>
            <a:pPr>
              <a:buNone/>
            </a:pPr>
            <a:endParaRPr lang="en-US" altLang="ko-KR" sz="1400" dirty="0"/>
          </a:p>
          <a:p>
            <a:pPr>
              <a:buNone/>
            </a:pPr>
            <a:r>
              <a:rPr lang="en-US" altLang="ko-KR" sz="1400" b="1" dirty="0"/>
              <a:t>(2) parent</a:t>
            </a:r>
            <a:r>
              <a:rPr lang="ko-KR" altLang="en-US" sz="1400" b="1" dirty="0"/>
              <a:t>로 올라가며 </a:t>
            </a:r>
            <a:r>
              <a:rPr lang="en-US" altLang="ko-KR" sz="1400" b="1" dirty="0"/>
              <a:t>split rule</a:t>
            </a:r>
            <a:r>
              <a:rPr lang="ko-KR" altLang="en-US" sz="1400" b="1" dirty="0"/>
              <a:t>이 깨진 부모를 찾는다</a:t>
            </a:r>
          </a:p>
          <a:p>
            <a:pPr>
              <a:buNone/>
            </a:pPr>
            <a:r>
              <a:rPr lang="en-US" altLang="ko-KR" sz="1400" dirty="0"/>
              <a:t>Leaf → Parent → Parent</a:t>
            </a:r>
            <a:r>
              <a:rPr lang="ko-KR" altLang="en-US" sz="1400" dirty="0"/>
              <a:t>로 올라가면서 다음을 평가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- parent bounds</a:t>
            </a:r>
            <a:r>
              <a:rPr lang="ko-KR" altLang="en-US" sz="1400" dirty="0"/>
              <a:t>가 지나치게 커졌는가</a:t>
            </a:r>
            <a:r>
              <a:rPr lang="en-US" altLang="ko-KR" sz="1400" dirty="0"/>
              <a:t>?</a:t>
            </a:r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형제 노드와 </a:t>
            </a:r>
            <a:r>
              <a:rPr lang="en-US" altLang="ko-KR" sz="1400" dirty="0"/>
              <a:t>overlap</a:t>
            </a:r>
            <a:r>
              <a:rPr lang="ko-KR" altLang="en-US" sz="1400" dirty="0"/>
              <a:t>이 크게 늘었는가</a:t>
            </a:r>
            <a:r>
              <a:rPr lang="en-US" altLang="ko-KR" sz="1400" dirty="0"/>
              <a:t>?</a:t>
            </a:r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사용했던 긴 </a:t>
            </a:r>
            <a:r>
              <a:rPr lang="en-US" altLang="ko-KR" sz="1400" dirty="0"/>
              <a:t>split axis</a:t>
            </a:r>
            <a:r>
              <a:rPr lang="ko-KR" altLang="en-US" sz="1400" dirty="0"/>
              <a:t>가 더 이상 맞지 않는가</a:t>
            </a:r>
            <a:r>
              <a:rPr lang="en-US" altLang="ko-KR" sz="1400" dirty="0"/>
              <a:t>?</a:t>
            </a:r>
          </a:p>
          <a:p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원래 </a:t>
            </a:r>
            <a:r>
              <a:rPr lang="en-US" altLang="ko-KR" sz="1400" dirty="0"/>
              <a:t>parent</a:t>
            </a:r>
            <a:r>
              <a:rPr lang="ko-KR" altLang="en-US" sz="1400" dirty="0"/>
              <a:t>가 나눴던 분할기준</a:t>
            </a:r>
            <a:r>
              <a:rPr lang="en-US" altLang="ko-KR" sz="1400" dirty="0"/>
              <a:t>(</a:t>
            </a:r>
            <a:r>
              <a:rPr lang="ko-KR" altLang="en-US" sz="1400" dirty="0"/>
              <a:t>수</a:t>
            </a:r>
            <a:r>
              <a:rPr lang="en-US" altLang="ko-KR" sz="1400" dirty="0"/>
              <a:t>/</a:t>
            </a:r>
            <a:r>
              <a:rPr lang="ko-KR" altLang="en-US" sz="1400" dirty="0"/>
              <a:t>중간</a:t>
            </a:r>
            <a:r>
              <a:rPr lang="en-US" altLang="ko-KR" sz="1400" dirty="0"/>
              <a:t>/SAH)</a:t>
            </a:r>
            <a:r>
              <a:rPr lang="ko-KR" altLang="en-US" sz="1400" dirty="0"/>
              <a:t> 을 </a:t>
            </a:r>
            <a:r>
              <a:rPr lang="ko-KR" altLang="en-US" sz="1400" dirty="0" err="1"/>
              <a:t>따르는가</a:t>
            </a:r>
            <a:r>
              <a:rPr lang="en-US" altLang="ko-KR" sz="1400" dirty="0"/>
              <a:t>?</a:t>
            </a:r>
          </a:p>
          <a:p>
            <a:pPr>
              <a:buNone/>
            </a:pPr>
            <a:r>
              <a:rPr lang="ko-KR" altLang="en-US" sz="1400" dirty="0"/>
              <a:t>이 중 하나라도 </a:t>
            </a:r>
            <a:r>
              <a:rPr lang="en-US" altLang="ko-KR" sz="1400" dirty="0"/>
              <a:t>TRUE</a:t>
            </a:r>
            <a:r>
              <a:rPr lang="ko-KR" altLang="en-US" sz="1400" dirty="0"/>
              <a:t>인 **첫 번째 부모</a:t>
            </a:r>
            <a:r>
              <a:rPr lang="en-US" altLang="ko-KR" sz="1400" dirty="0"/>
              <a:t>(parent)**</a:t>
            </a:r>
            <a:r>
              <a:rPr lang="ko-KR" altLang="en-US" sz="1400" dirty="0"/>
              <a:t>가 </a:t>
            </a:r>
            <a:endParaRPr lang="en-US" altLang="ko-KR" sz="1400" dirty="0"/>
          </a:p>
          <a:p>
            <a:pPr>
              <a:buNone/>
            </a:pPr>
            <a:r>
              <a:rPr lang="ko-KR" altLang="en-US" sz="1400" dirty="0" err="1"/>
              <a:t>서브트리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리빌드</a:t>
            </a:r>
            <a:r>
              <a:rPr lang="ko-KR" altLang="en-US" sz="1400" dirty="0"/>
              <a:t> 대상이다</a:t>
            </a:r>
            <a:r>
              <a:rPr lang="en-US" altLang="ko-KR" sz="1400" dirty="0"/>
              <a:t>. </a:t>
            </a:r>
          </a:p>
          <a:p>
            <a:pPr>
              <a:buNone/>
            </a:pPr>
            <a:r>
              <a:rPr lang="en-US" altLang="ko-KR" sz="1400" b="1" dirty="0"/>
              <a:t>(3) </a:t>
            </a:r>
            <a:r>
              <a:rPr lang="ko-KR" altLang="en-US" sz="1400" b="1" dirty="0"/>
              <a:t>해당 </a:t>
            </a:r>
            <a:r>
              <a:rPr lang="en-US" altLang="ko-KR" sz="1400" b="1" dirty="0"/>
              <a:t>parent</a:t>
            </a:r>
            <a:r>
              <a:rPr lang="ko-KR" altLang="en-US" sz="1400" b="1" dirty="0"/>
              <a:t>의 </a:t>
            </a:r>
            <a:r>
              <a:rPr lang="en-US" altLang="ko-KR" sz="1400" b="1" dirty="0"/>
              <a:t>subtree</a:t>
            </a:r>
            <a:r>
              <a:rPr lang="ko-KR" altLang="en-US" sz="1400" b="1" dirty="0"/>
              <a:t>를 통째로 트리에서 제거</a:t>
            </a:r>
            <a:r>
              <a:rPr lang="en-US" altLang="ko-KR" sz="1400" b="1" dirty="0"/>
              <a:t>(detach)</a:t>
            </a:r>
          </a:p>
          <a:p>
            <a:pPr>
              <a:buNone/>
            </a:pPr>
            <a:r>
              <a:rPr lang="ko-KR" altLang="en-US" sz="1400" dirty="0"/>
              <a:t>그 </a:t>
            </a:r>
            <a:r>
              <a:rPr lang="en-US" altLang="ko-KR" sz="1400" dirty="0"/>
              <a:t>parent</a:t>
            </a:r>
            <a:r>
              <a:rPr lang="ko-KR" altLang="en-US" sz="1400" dirty="0"/>
              <a:t>를 루트로 하는 </a:t>
            </a:r>
            <a:r>
              <a:rPr lang="en-US" altLang="ko-KR" sz="1400" dirty="0"/>
              <a:t>subtree </a:t>
            </a:r>
            <a:r>
              <a:rPr lang="ko-KR" altLang="en-US" sz="1400" dirty="0"/>
              <a:t>전체를 분리한다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(4) </a:t>
            </a:r>
            <a:r>
              <a:rPr lang="ko-KR" altLang="en-US" sz="1400" b="1" dirty="0"/>
              <a:t>그 </a:t>
            </a:r>
            <a:r>
              <a:rPr lang="en-US" altLang="ko-KR" sz="1400" b="1" dirty="0"/>
              <a:t>subtree</a:t>
            </a:r>
            <a:r>
              <a:rPr lang="ko-KR" altLang="en-US" sz="1400" b="1" dirty="0"/>
              <a:t>가 가진 오브젝트들의 </a:t>
            </a:r>
            <a:r>
              <a:rPr lang="en-US" altLang="ko-KR" sz="1400" b="1" dirty="0"/>
              <a:t>AABB </a:t>
            </a:r>
            <a:r>
              <a:rPr lang="ko-KR" altLang="en-US" sz="1400" b="1" dirty="0"/>
              <a:t>목록을 수집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(5) </a:t>
            </a:r>
            <a:r>
              <a:rPr lang="ko-KR" altLang="en-US" sz="1400" b="1" dirty="0"/>
              <a:t>정적 </a:t>
            </a:r>
            <a:r>
              <a:rPr lang="en-US" altLang="ko-KR" sz="1400" b="1" dirty="0"/>
              <a:t>BVH </a:t>
            </a:r>
            <a:r>
              <a:rPr lang="ko-KR" altLang="en-US" sz="1400" b="1" dirty="0"/>
              <a:t>빌드 알고리즘으로 이 </a:t>
            </a:r>
            <a:r>
              <a:rPr lang="en-US" altLang="ko-KR" sz="1400" b="1" dirty="0"/>
              <a:t>subtree</a:t>
            </a:r>
            <a:r>
              <a:rPr lang="ko-KR" altLang="en-US" sz="1400" b="1" dirty="0"/>
              <a:t>만 다시 빌드</a:t>
            </a:r>
          </a:p>
          <a:p>
            <a:pPr>
              <a:buNone/>
            </a:pPr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정적 </a:t>
            </a:r>
            <a:r>
              <a:rPr lang="en-US" altLang="ko-KR" sz="1400" dirty="0"/>
              <a:t>BVH</a:t>
            </a:r>
            <a:r>
              <a:rPr lang="ko-KR" altLang="en-US" sz="1400" dirty="0"/>
              <a:t>를 처음 만들 때 사용한</a:t>
            </a:r>
            <a:r>
              <a:rPr lang="en-US" altLang="ko-KR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median split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object-count split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SAH split</a:t>
            </a:r>
            <a:br>
              <a:rPr lang="en-US" altLang="ko-KR" sz="1400" dirty="0"/>
            </a:br>
            <a:r>
              <a:rPr lang="ko-KR" altLang="en-US" sz="1400" dirty="0"/>
              <a:t>중 어떤 것을 사용했든</a:t>
            </a:r>
            <a:br>
              <a:rPr lang="ko-KR" altLang="en-US" sz="1400" dirty="0"/>
            </a:br>
            <a:r>
              <a:rPr lang="ko-KR" altLang="en-US" sz="1400" dirty="0"/>
              <a:t>그 빌드 알고리즘을 </a:t>
            </a:r>
            <a:r>
              <a:rPr lang="en-US" altLang="ko-KR" sz="1400" dirty="0"/>
              <a:t>subtree </a:t>
            </a:r>
            <a:r>
              <a:rPr lang="ko-KR" altLang="en-US" sz="1400" dirty="0"/>
              <a:t>범위에 대해 다시 실행한다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r>
              <a:rPr lang="en-US" altLang="ko-KR" sz="1400" b="1" dirty="0"/>
              <a:t>(6) </a:t>
            </a:r>
            <a:r>
              <a:rPr lang="ko-KR" altLang="en-US" sz="1400" b="1" dirty="0"/>
              <a:t>새로 만든 </a:t>
            </a:r>
            <a:r>
              <a:rPr lang="en-US" altLang="ko-KR" sz="1400" b="1" dirty="0"/>
              <a:t>subtree</a:t>
            </a:r>
            <a:r>
              <a:rPr lang="ko-KR" altLang="en-US" sz="1400" b="1" dirty="0"/>
              <a:t>를 원래 위치에 다시 붙인다</a:t>
            </a:r>
            <a:r>
              <a:rPr lang="en-US" altLang="ko-KR" sz="1400" b="1" dirty="0"/>
              <a:t>(reattach)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2B5BBDF-660D-D057-D7A1-90C2D4FCB13B}"/>
              </a:ext>
            </a:extLst>
          </p:cNvPr>
          <p:cNvSpPr txBox="1"/>
          <p:nvPr/>
        </p:nvSpPr>
        <p:spPr>
          <a:xfrm>
            <a:off x="4371937" y="2082250"/>
            <a:ext cx="12420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갯수</a:t>
            </a:r>
            <a:r>
              <a:rPr lang="ko-KR" altLang="en-US" sz="1100" dirty="0"/>
              <a:t> 절반 분할</a:t>
            </a:r>
          </a:p>
        </p:txBody>
      </p:sp>
    </p:spTree>
    <p:extLst>
      <p:ext uri="{BB962C8B-B14F-4D97-AF65-F5344CB8AC3E}">
        <p14:creationId xmlns:p14="http://schemas.microsoft.com/office/powerpoint/2010/main" val="264296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5115A-4558-2F31-8604-722B606E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트리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5B46510-F5DB-3315-B46F-17363F69ECEF}"/>
              </a:ext>
            </a:extLst>
          </p:cNvPr>
          <p:cNvGrpSpPr/>
          <p:nvPr/>
        </p:nvGrpSpPr>
        <p:grpSpPr>
          <a:xfrm>
            <a:off x="352317" y="2121433"/>
            <a:ext cx="2191052" cy="1766432"/>
            <a:chOff x="354360" y="5092515"/>
            <a:chExt cx="2441205" cy="1718295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CE39F34-8B1F-C777-8BF0-063C94D2AF88}"/>
                </a:ext>
              </a:extLst>
            </p:cNvPr>
            <p:cNvGrpSpPr/>
            <p:nvPr/>
          </p:nvGrpSpPr>
          <p:grpSpPr>
            <a:xfrm>
              <a:off x="380329" y="5902479"/>
              <a:ext cx="1489405" cy="908331"/>
              <a:chOff x="3494413" y="5600728"/>
              <a:chExt cx="1489405" cy="908331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769360B-F02E-9352-5580-7F85763FEBEC}"/>
                  </a:ext>
                </a:extLst>
              </p:cNvPr>
              <p:cNvSpPr/>
              <p:nvPr/>
            </p:nvSpPr>
            <p:spPr>
              <a:xfrm>
                <a:off x="3510595" y="5616912"/>
                <a:ext cx="665501" cy="574535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오각형 14">
                <a:extLst>
                  <a:ext uri="{FF2B5EF4-FFF2-40B4-BE49-F238E27FC236}">
                    <a16:creationId xmlns:a16="http://schemas.microsoft.com/office/drawing/2014/main" id="{B19F6D60-5B5F-A1A7-121F-B8A331FC4630}"/>
                  </a:ext>
                </a:extLst>
              </p:cNvPr>
              <p:cNvSpPr/>
              <p:nvPr/>
            </p:nvSpPr>
            <p:spPr>
              <a:xfrm>
                <a:off x="4399938" y="5906202"/>
                <a:ext cx="582626" cy="574535"/>
              </a:xfrm>
              <a:prstGeom prst="pentagon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A6CC7F5-4428-A346-1E37-AB8B4340E4BF}"/>
                  </a:ext>
                </a:extLst>
              </p:cNvPr>
              <p:cNvSpPr/>
              <p:nvPr/>
            </p:nvSpPr>
            <p:spPr>
              <a:xfrm>
                <a:off x="3510595" y="5616912"/>
                <a:ext cx="665501" cy="57453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E8FEE4B4-7FB2-484D-5EFA-905F00DFA236}"/>
                  </a:ext>
                </a:extLst>
              </p:cNvPr>
              <p:cNvSpPr/>
              <p:nvPr/>
            </p:nvSpPr>
            <p:spPr>
              <a:xfrm>
                <a:off x="4401192" y="5906202"/>
                <a:ext cx="582626" cy="570489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03C020D5-6673-B3D5-463A-DD22C5084E62}"/>
                  </a:ext>
                </a:extLst>
              </p:cNvPr>
              <p:cNvSpPr/>
              <p:nvPr/>
            </p:nvSpPr>
            <p:spPr>
              <a:xfrm>
                <a:off x="3494413" y="5600728"/>
                <a:ext cx="1488153" cy="908331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8CCA607-42B8-9B3B-B7F7-7ECDDEC4A627}"/>
                </a:ext>
              </a:extLst>
            </p:cNvPr>
            <p:cNvGrpSpPr/>
            <p:nvPr/>
          </p:nvGrpSpPr>
          <p:grpSpPr>
            <a:xfrm>
              <a:off x="969628" y="5092515"/>
              <a:ext cx="1825937" cy="733587"/>
              <a:chOff x="6937143" y="5335843"/>
              <a:chExt cx="1812676" cy="540777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2E91BC53-7D12-22C7-1E7B-40FDD5245A08}"/>
                  </a:ext>
                </a:extLst>
              </p:cNvPr>
              <p:cNvGrpSpPr/>
              <p:nvPr/>
            </p:nvGrpSpPr>
            <p:grpSpPr>
              <a:xfrm>
                <a:off x="6953199" y="5402576"/>
                <a:ext cx="612054" cy="474043"/>
                <a:chOff x="6945107" y="5218600"/>
                <a:chExt cx="612054" cy="474043"/>
              </a:xfrm>
            </p:grpSpPr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E4477464-8A13-6ACE-17EB-AF0239FDF340}"/>
                    </a:ext>
                  </a:extLst>
                </p:cNvPr>
                <p:cNvSpPr/>
                <p:nvPr/>
              </p:nvSpPr>
              <p:spPr>
                <a:xfrm>
                  <a:off x="6945109" y="5218600"/>
                  <a:ext cx="612052" cy="474043"/>
                </a:xfrm>
                <a:prstGeom prst="rect">
                  <a:avLst/>
                </a:prstGeom>
                <a:noFill/>
                <a:ln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이등변 삼각형 12">
                  <a:extLst>
                    <a:ext uri="{FF2B5EF4-FFF2-40B4-BE49-F238E27FC236}">
                      <a16:creationId xmlns:a16="http://schemas.microsoft.com/office/drawing/2014/main" id="{CA2278F0-D12F-64E7-AA62-C245C20CB2AE}"/>
                    </a:ext>
                  </a:extLst>
                </p:cNvPr>
                <p:cNvSpPr/>
                <p:nvPr/>
              </p:nvSpPr>
              <p:spPr>
                <a:xfrm>
                  <a:off x="6945107" y="5242847"/>
                  <a:ext cx="612052" cy="449796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EB91485A-2BFA-0340-F18B-224EAAF5F599}"/>
                  </a:ext>
                </a:extLst>
              </p:cNvPr>
              <p:cNvGrpSpPr/>
              <p:nvPr/>
            </p:nvGrpSpPr>
            <p:grpSpPr>
              <a:xfrm>
                <a:off x="7966889" y="5335843"/>
                <a:ext cx="740782" cy="540777"/>
                <a:chOff x="6946194" y="5723541"/>
                <a:chExt cx="740782" cy="540777"/>
              </a:xfrm>
            </p:grpSpPr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A22C5D38-F593-75AE-48A2-20520D521351}"/>
                    </a:ext>
                  </a:extLst>
                </p:cNvPr>
                <p:cNvSpPr/>
                <p:nvPr/>
              </p:nvSpPr>
              <p:spPr>
                <a:xfrm>
                  <a:off x="6946194" y="5774256"/>
                  <a:ext cx="740782" cy="490062"/>
                </a:xfrm>
                <a:prstGeom prst="rect">
                  <a:avLst/>
                </a:prstGeom>
                <a:noFill/>
                <a:ln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" name="이등변 삼각형 10">
                  <a:extLst>
                    <a:ext uri="{FF2B5EF4-FFF2-40B4-BE49-F238E27FC236}">
                      <a16:creationId xmlns:a16="http://schemas.microsoft.com/office/drawing/2014/main" id="{30050D25-11AA-7D3F-6095-73B661050CBB}"/>
                    </a:ext>
                  </a:extLst>
                </p:cNvPr>
                <p:cNvSpPr/>
                <p:nvPr/>
              </p:nvSpPr>
              <p:spPr>
                <a:xfrm rot="19025059">
                  <a:off x="6993306" y="5723541"/>
                  <a:ext cx="459521" cy="507232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A1A799F5-EC90-24A7-10FB-481D92A3CBD8}"/>
                  </a:ext>
                </a:extLst>
              </p:cNvPr>
              <p:cNvSpPr/>
              <p:nvPr/>
            </p:nvSpPr>
            <p:spPr>
              <a:xfrm>
                <a:off x="6937143" y="5412588"/>
                <a:ext cx="1812676" cy="4640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FD8992-23AA-9D6C-A022-1A87DA05F857}"/>
                </a:ext>
              </a:extLst>
            </p:cNvPr>
            <p:cNvSpPr/>
            <p:nvPr/>
          </p:nvSpPr>
          <p:spPr>
            <a:xfrm>
              <a:off x="354360" y="5179837"/>
              <a:ext cx="2441204" cy="16309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5AF8667-1C67-6A29-9879-6EE18469A60F}"/>
              </a:ext>
            </a:extLst>
          </p:cNvPr>
          <p:cNvGrpSpPr/>
          <p:nvPr/>
        </p:nvGrpSpPr>
        <p:grpSpPr>
          <a:xfrm>
            <a:off x="2778114" y="2102666"/>
            <a:ext cx="2107749" cy="1893733"/>
            <a:chOff x="3183123" y="2930174"/>
            <a:chExt cx="2107749" cy="189373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D2EC3250-B0D8-1AB8-4475-E845C03B7D06}"/>
                </a:ext>
              </a:extLst>
            </p:cNvPr>
            <p:cNvGrpSpPr/>
            <p:nvPr/>
          </p:nvGrpSpPr>
          <p:grpSpPr>
            <a:xfrm>
              <a:off x="3183123" y="2930174"/>
              <a:ext cx="2107749" cy="1893733"/>
              <a:chOff x="3218772" y="5090562"/>
              <a:chExt cx="2107749" cy="1893733"/>
            </a:xfrm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B602DFA1-F331-9802-E250-C2CDC187C638}"/>
                  </a:ext>
                </a:extLst>
              </p:cNvPr>
              <p:cNvSpPr/>
              <p:nvPr/>
            </p:nvSpPr>
            <p:spPr>
              <a:xfrm>
                <a:off x="3218772" y="6600041"/>
                <a:ext cx="384620" cy="38425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오각형 20">
                <a:extLst>
                  <a:ext uri="{FF2B5EF4-FFF2-40B4-BE49-F238E27FC236}">
                    <a16:creationId xmlns:a16="http://schemas.microsoft.com/office/drawing/2014/main" id="{011D02CE-A5F6-FCF6-E484-A72FE0EDA4AD}"/>
                  </a:ext>
                </a:extLst>
              </p:cNvPr>
              <p:cNvSpPr/>
              <p:nvPr/>
            </p:nvSpPr>
            <p:spPr>
              <a:xfrm>
                <a:off x="3747537" y="6600042"/>
                <a:ext cx="384620" cy="384253"/>
              </a:xfrm>
              <a:prstGeom prst="pentagon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이등변 삼각형 21">
                <a:extLst>
                  <a:ext uri="{FF2B5EF4-FFF2-40B4-BE49-F238E27FC236}">
                    <a16:creationId xmlns:a16="http://schemas.microsoft.com/office/drawing/2014/main" id="{B1B0A773-83CF-605E-8589-CF9ED1324E3F}"/>
                  </a:ext>
                </a:extLst>
              </p:cNvPr>
              <p:cNvSpPr/>
              <p:nvPr/>
            </p:nvSpPr>
            <p:spPr>
              <a:xfrm>
                <a:off x="4456237" y="6578777"/>
                <a:ext cx="384620" cy="389691"/>
              </a:xfrm>
              <a:prstGeom prst="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이등변 삼각형 22">
                <a:extLst>
                  <a:ext uri="{FF2B5EF4-FFF2-40B4-BE49-F238E27FC236}">
                    <a16:creationId xmlns:a16="http://schemas.microsoft.com/office/drawing/2014/main" id="{13336C93-8BEB-E8B7-4C3B-61BBD5964E05}"/>
                  </a:ext>
                </a:extLst>
              </p:cNvPr>
              <p:cNvSpPr/>
              <p:nvPr/>
            </p:nvSpPr>
            <p:spPr>
              <a:xfrm rot="19025059">
                <a:off x="5004004" y="6533146"/>
                <a:ext cx="322517" cy="371149"/>
              </a:xfrm>
              <a:prstGeom prst="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E6D381FE-3A00-D465-DCD4-FF62F0F21BC6}"/>
                  </a:ext>
                </a:extLst>
              </p:cNvPr>
              <p:cNvSpPr/>
              <p:nvPr/>
            </p:nvSpPr>
            <p:spPr>
              <a:xfrm>
                <a:off x="3553310" y="5567320"/>
                <a:ext cx="274223" cy="258945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99BB2822-1E84-FCE6-1CC2-62ED460CCD7B}"/>
                  </a:ext>
                </a:extLst>
              </p:cNvPr>
              <p:cNvSpPr/>
              <p:nvPr/>
            </p:nvSpPr>
            <p:spPr>
              <a:xfrm>
                <a:off x="4772480" y="5567319"/>
                <a:ext cx="274223" cy="25894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D46B9C19-904D-E37D-BC51-21235E0F9B47}"/>
                  </a:ext>
                </a:extLst>
              </p:cNvPr>
              <p:cNvSpPr/>
              <p:nvPr/>
            </p:nvSpPr>
            <p:spPr>
              <a:xfrm>
                <a:off x="4207769" y="5090562"/>
                <a:ext cx="274223" cy="25894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81D0FBCE-593C-FF9C-1178-40B7A3DAAD8C}"/>
                  </a:ext>
                </a:extLst>
              </p:cNvPr>
              <p:cNvCxnSpPr>
                <a:cxnSpLocks/>
                <a:stCxn id="24" idx="2"/>
                <a:endCxn id="47" idx="0"/>
              </p:cNvCxnSpPr>
              <p:nvPr/>
            </p:nvCxnSpPr>
            <p:spPr>
              <a:xfrm flipH="1">
                <a:off x="3435661" y="5826265"/>
                <a:ext cx="254761" cy="40252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E5761A6E-7125-AA66-DF1C-D544C561D44B}"/>
                  </a:ext>
                </a:extLst>
              </p:cNvPr>
              <p:cNvCxnSpPr>
                <a:cxnSpLocks/>
                <a:stCxn id="24" idx="2"/>
                <a:endCxn id="48" idx="0"/>
              </p:cNvCxnSpPr>
              <p:nvPr/>
            </p:nvCxnSpPr>
            <p:spPr>
              <a:xfrm>
                <a:off x="3690422" y="5826265"/>
                <a:ext cx="286703" cy="40252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C0B9D1BB-896D-038B-B99B-01DCC5900E32}"/>
                  </a:ext>
                </a:extLst>
              </p:cNvPr>
              <p:cNvCxnSpPr>
                <a:cxnSpLocks/>
                <a:stCxn id="25" idx="2"/>
                <a:endCxn id="36" idx="0"/>
              </p:cNvCxnSpPr>
              <p:nvPr/>
            </p:nvCxnSpPr>
            <p:spPr>
              <a:xfrm flipH="1">
                <a:off x="4623800" y="5826264"/>
                <a:ext cx="285792" cy="3878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ECFCBFFF-C950-2A60-5DAB-DB2C4D9B87A9}"/>
                  </a:ext>
                </a:extLst>
              </p:cNvPr>
              <p:cNvCxnSpPr>
                <a:cxnSpLocks/>
                <a:stCxn id="25" idx="2"/>
                <a:endCxn id="37" idx="0"/>
              </p:cNvCxnSpPr>
              <p:nvPr/>
            </p:nvCxnSpPr>
            <p:spPr>
              <a:xfrm>
                <a:off x="4909592" y="5826264"/>
                <a:ext cx="255672" cy="3878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B2C5F053-3755-8161-A409-9AFEEFB42AA0}"/>
                  </a:ext>
                </a:extLst>
              </p:cNvPr>
              <p:cNvCxnSpPr>
                <a:cxnSpLocks/>
                <a:stCxn id="26" idx="2"/>
                <a:endCxn id="24" idx="0"/>
              </p:cNvCxnSpPr>
              <p:nvPr/>
            </p:nvCxnSpPr>
            <p:spPr>
              <a:xfrm flipH="1">
                <a:off x="3690422" y="5349507"/>
                <a:ext cx="654459" cy="21781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005EA4DF-F7E6-0851-2A8F-4074F38267D9}"/>
                  </a:ext>
                </a:extLst>
              </p:cNvPr>
              <p:cNvCxnSpPr>
                <a:cxnSpLocks/>
                <a:stCxn id="26" idx="2"/>
                <a:endCxn id="25" idx="0"/>
              </p:cNvCxnSpPr>
              <p:nvPr/>
            </p:nvCxnSpPr>
            <p:spPr>
              <a:xfrm>
                <a:off x="4344881" y="5349507"/>
                <a:ext cx="564711" cy="21781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DF46C94-FCB2-1689-E579-B7BC871B2E75}"/>
                </a:ext>
              </a:extLst>
            </p:cNvPr>
            <p:cNvSpPr/>
            <p:nvPr/>
          </p:nvSpPr>
          <p:spPr>
            <a:xfrm>
              <a:off x="4451039" y="4053677"/>
              <a:ext cx="274223" cy="2589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9A1B89A-BDB5-B94E-5E5A-319727654D3A}"/>
                </a:ext>
              </a:extLst>
            </p:cNvPr>
            <p:cNvSpPr/>
            <p:nvPr/>
          </p:nvSpPr>
          <p:spPr>
            <a:xfrm>
              <a:off x="4992503" y="4053676"/>
              <a:ext cx="274223" cy="2589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656E4DC-76AD-510D-3A7D-EEB770076215}"/>
                </a:ext>
              </a:extLst>
            </p:cNvPr>
            <p:cNvSpPr/>
            <p:nvPr/>
          </p:nvSpPr>
          <p:spPr>
            <a:xfrm>
              <a:off x="3262900" y="4068406"/>
              <a:ext cx="274223" cy="2589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C8A9B7E-21BE-4D75-0BC1-03A6A5A1EA67}"/>
                </a:ext>
              </a:extLst>
            </p:cNvPr>
            <p:cNvSpPr/>
            <p:nvPr/>
          </p:nvSpPr>
          <p:spPr>
            <a:xfrm>
              <a:off x="3804364" y="4068405"/>
              <a:ext cx="274223" cy="2589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D78EE5E6-E047-D17F-AB98-83B96E66C0EE}"/>
                </a:ext>
              </a:extLst>
            </p:cNvPr>
            <p:cNvCxnSpPr>
              <a:cxnSpLocks/>
              <a:stCxn id="37" idx="2"/>
              <a:endCxn id="23" idx="1"/>
            </p:cNvCxnSpPr>
            <p:nvPr/>
          </p:nvCxnSpPr>
          <p:spPr>
            <a:xfrm flipH="1">
              <a:off x="5070564" y="4312621"/>
              <a:ext cx="59051" cy="300614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59FF5426-118A-FD57-517A-372287F8C353}"/>
                </a:ext>
              </a:extLst>
            </p:cNvPr>
            <p:cNvCxnSpPr>
              <a:cxnSpLocks/>
              <a:stCxn id="36" idx="2"/>
              <a:endCxn id="22" idx="1"/>
            </p:cNvCxnSpPr>
            <p:nvPr/>
          </p:nvCxnSpPr>
          <p:spPr>
            <a:xfrm flipH="1">
              <a:off x="4516743" y="4312622"/>
              <a:ext cx="71408" cy="300613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BF2FF76-1810-1B10-7B4E-841D40685898}"/>
                </a:ext>
              </a:extLst>
            </p:cNvPr>
            <p:cNvCxnSpPr>
              <a:cxnSpLocks/>
              <a:stCxn id="48" idx="2"/>
              <a:endCxn id="21" idx="0"/>
            </p:cNvCxnSpPr>
            <p:nvPr/>
          </p:nvCxnSpPr>
          <p:spPr>
            <a:xfrm flipH="1">
              <a:off x="3904198" y="4327350"/>
              <a:ext cx="37278" cy="112304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8B7B16ED-07BE-07AF-E8C4-DD6BFE7C3418}"/>
                </a:ext>
              </a:extLst>
            </p:cNvPr>
            <p:cNvCxnSpPr>
              <a:cxnSpLocks/>
              <a:stCxn id="47" idx="2"/>
              <a:endCxn id="20" idx="0"/>
            </p:cNvCxnSpPr>
            <p:nvPr/>
          </p:nvCxnSpPr>
          <p:spPr>
            <a:xfrm flipH="1">
              <a:off x="3375433" y="4327351"/>
              <a:ext cx="24579" cy="112302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8284F4AE-C867-20D3-FE2B-D2C498BDC27B}"/>
              </a:ext>
            </a:extLst>
          </p:cNvPr>
          <p:cNvSpPr txBox="1"/>
          <p:nvPr/>
        </p:nvSpPr>
        <p:spPr>
          <a:xfrm>
            <a:off x="210214" y="1324484"/>
            <a:ext cx="11382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리프 노드와 연결된 오브젝트</a:t>
            </a:r>
            <a:r>
              <a:rPr lang="en-US" altLang="ko-KR" dirty="0"/>
              <a:t>(or</a:t>
            </a:r>
            <a:r>
              <a:rPr lang="ko-KR" altLang="en-US" dirty="0"/>
              <a:t> </a:t>
            </a:r>
            <a:r>
              <a:rPr lang="en-US" altLang="ko-KR" dirty="0"/>
              <a:t>primitive)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이동 후에  </a:t>
            </a:r>
            <a:r>
              <a:rPr lang="en-US" altLang="ko-KR" dirty="0"/>
              <a:t>Refit(</a:t>
            </a:r>
            <a:r>
              <a:rPr lang="ko-KR" altLang="en-US" dirty="0"/>
              <a:t>루트까지 </a:t>
            </a:r>
            <a:r>
              <a:rPr lang="en-US" altLang="ko-KR" dirty="0"/>
              <a:t>AABB </a:t>
            </a:r>
            <a:r>
              <a:rPr lang="ko-KR" altLang="en-US" dirty="0"/>
              <a:t>갱신</a:t>
            </a:r>
            <a:r>
              <a:rPr lang="en-US" altLang="ko-KR" dirty="0"/>
              <a:t>)</a:t>
            </a:r>
            <a:r>
              <a:rPr lang="ko-KR" altLang="en-US" dirty="0"/>
              <a:t>을 수행하고</a:t>
            </a:r>
            <a:endParaRPr lang="en-US" altLang="ko-KR" dirty="0"/>
          </a:p>
          <a:p>
            <a:r>
              <a:rPr lang="ko-KR" altLang="en-US" dirty="0"/>
              <a:t>상황에 따라 노드가 </a:t>
            </a:r>
            <a:r>
              <a:rPr lang="en-US" altLang="ko-KR" dirty="0"/>
              <a:t>Remove/Insert , Rotation , Subtree Rebuild </a:t>
            </a:r>
            <a:r>
              <a:rPr lang="ko-KR" altLang="en-US" dirty="0"/>
              <a:t>일어나므로  리프 노드와 와 </a:t>
            </a:r>
            <a:r>
              <a:rPr lang="en-US" altLang="ko-KR" dirty="0"/>
              <a:t>1:1</a:t>
            </a:r>
            <a:r>
              <a:rPr lang="ko-KR" altLang="en-US" dirty="0"/>
              <a:t>로 연결한다</a:t>
            </a:r>
            <a:r>
              <a:rPr lang="en-US" altLang="ko-KR" dirty="0"/>
              <a:t>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6D813F9-BCFB-423D-27D9-1C9D16870FA4}"/>
              </a:ext>
            </a:extLst>
          </p:cNvPr>
          <p:cNvSpPr txBox="1"/>
          <p:nvPr/>
        </p:nvSpPr>
        <p:spPr>
          <a:xfrm>
            <a:off x="161179" y="4464723"/>
            <a:ext cx="59863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동적 트리 또한 </a:t>
            </a:r>
            <a:r>
              <a:rPr lang="en-US" altLang="ko-KR" sz="1600" dirty="0"/>
              <a:t>Refit </a:t>
            </a:r>
            <a:r>
              <a:rPr lang="ko-KR" altLang="en-US" sz="1600" dirty="0"/>
              <a:t>이후에 아래와 같은 </a:t>
            </a:r>
            <a:r>
              <a:rPr lang="en-US" altLang="ko-KR" sz="1600" dirty="0"/>
              <a:t>split rule</a:t>
            </a:r>
            <a:r>
              <a:rPr lang="ko-KR" altLang="en-US" sz="1600" dirty="0"/>
              <a:t>을 확인한다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- parent bounds</a:t>
            </a:r>
            <a:r>
              <a:rPr lang="ko-KR" altLang="en-US" sz="1600" dirty="0"/>
              <a:t>가 지나치게 커졌는가</a:t>
            </a:r>
            <a:r>
              <a:rPr lang="en-US" altLang="ko-KR" sz="1600" dirty="0"/>
              <a:t>?</a:t>
            </a:r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형제 노드와 </a:t>
            </a:r>
            <a:r>
              <a:rPr lang="en-US" altLang="ko-KR" sz="1600" dirty="0"/>
              <a:t>overlap</a:t>
            </a:r>
            <a:r>
              <a:rPr lang="ko-KR" altLang="en-US" sz="1600" dirty="0"/>
              <a:t>이 크게 늘었는가</a:t>
            </a:r>
            <a:r>
              <a:rPr lang="en-US" altLang="ko-KR" sz="1600" dirty="0"/>
              <a:t>?</a:t>
            </a:r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사용했던 긴 </a:t>
            </a:r>
            <a:r>
              <a:rPr lang="en-US" altLang="ko-KR" sz="1600" dirty="0"/>
              <a:t>split axis</a:t>
            </a:r>
            <a:r>
              <a:rPr lang="ko-KR" altLang="en-US" sz="1600" dirty="0"/>
              <a:t>가 더 이상 맞지 않는가</a:t>
            </a:r>
            <a:r>
              <a:rPr lang="en-US" altLang="ko-KR" sz="1600" dirty="0"/>
              <a:t>?</a:t>
            </a:r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- </a:t>
            </a:r>
            <a:r>
              <a:rPr lang="ko-KR" altLang="en-US" sz="1600" dirty="0"/>
              <a:t>원래 </a:t>
            </a:r>
            <a:r>
              <a:rPr lang="en-US" altLang="ko-KR" sz="1600" dirty="0"/>
              <a:t>parent</a:t>
            </a:r>
            <a:r>
              <a:rPr lang="ko-KR" altLang="en-US" sz="1600" dirty="0"/>
              <a:t>가 나눴던 분할기준</a:t>
            </a:r>
            <a:r>
              <a:rPr lang="en-US" altLang="ko-KR" sz="1600" dirty="0"/>
              <a:t>(</a:t>
            </a:r>
            <a:r>
              <a:rPr lang="ko-KR" altLang="en-US" sz="1600" dirty="0"/>
              <a:t>수</a:t>
            </a:r>
            <a:r>
              <a:rPr lang="en-US" altLang="ko-KR" sz="1600" dirty="0"/>
              <a:t>/</a:t>
            </a:r>
            <a:r>
              <a:rPr lang="ko-KR" altLang="en-US" sz="1600" dirty="0"/>
              <a:t>중간</a:t>
            </a:r>
            <a:r>
              <a:rPr lang="en-US" altLang="ko-KR" sz="1600" dirty="0"/>
              <a:t>/SAH)</a:t>
            </a:r>
            <a:r>
              <a:rPr lang="ko-KR" altLang="en-US" sz="1600" dirty="0"/>
              <a:t> 을 </a:t>
            </a:r>
            <a:r>
              <a:rPr lang="ko-KR" altLang="en-US" sz="1600" dirty="0" err="1"/>
              <a:t>따르는가</a:t>
            </a:r>
            <a:r>
              <a:rPr lang="en-US" altLang="ko-KR" sz="1600" dirty="0"/>
              <a:t>?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9CEA051-26EA-8045-672C-2E9AD36A1C50}"/>
              </a:ext>
            </a:extLst>
          </p:cNvPr>
          <p:cNvSpPr txBox="1"/>
          <p:nvPr/>
        </p:nvSpPr>
        <p:spPr>
          <a:xfrm>
            <a:off x="6097030" y="908907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https://sopiro.github.io/DynamicBVH/</a:t>
            </a:r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5ECC902-26CD-5B06-35C8-4C368AC40879}"/>
              </a:ext>
            </a:extLst>
          </p:cNvPr>
          <p:cNvSpPr txBox="1"/>
          <p:nvPr/>
        </p:nvSpPr>
        <p:spPr>
          <a:xfrm>
            <a:off x="6699707" y="2211201"/>
            <a:ext cx="323697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(1) </a:t>
            </a:r>
            <a:r>
              <a:rPr lang="ko-KR" altLang="en-US" sz="1400" dirty="0" err="1"/>
              <a:t>Refit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leaf→root</a:t>
            </a:r>
            <a:r>
              <a:rPr lang="ko-KR" altLang="en-US" sz="1400" dirty="0"/>
              <a:t>)</a:t>
            </a:r>
          </a:p>
          <a:p>
            <a:r>
              <a:rPr lang="ko-KR" altLang="en-US" sz="1400" dirty="0"/>
              <a:t>    ↓ 검사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split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</a:t>
            </a:r>
            <a:r>
              <a:rPr lang="ko-KR" altLang="en-US" sz="1400" dirty="0"/>
              <a:t> 유지됨 → 종료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split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</a:t>
            </a:r>
            <a:r>
              <a:rPr lang="ko-KR" altLang="en-US" sz="1400" dirty="0"/>
              <a:t> 깨짐 → (2)</a:t>
            </a:r>
          </a:p>
          <a:p>
            <a:endParaRPr lang="ko-KR" altLang="en-US" sz="1400" dirty="0"/>
          </a:p>
          <a:p>
            <a:r>
              <a:rPr lang="ko-KR" altLang="en-US" sz="1400" dirty="0"/>
              <a:t>(2) </a:t>
            </a:r>
            <a:r>
              <a:rPr lang="ko-KR" altLang="en-US" sz="1400" b="1" dirty="0" err="1"/>
              <a:t>Insert</a:t>
            </a:r>
            <a:r>
              <a:rPr lang="ko-KR" altLang="en-US" sz="1400" b="1" dirty="0"/>
              <a:t>/</a:t>
            </a:r>
            <a:r>
              <a:rPr lang="ko-KR" altLang="en-US" sz="1400" b="1" dirty="0" err="1"/>
              <a:t>Remove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reinsert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leaf</a:t>
            </a:r>
            <a:r>
              <a:rPr lang="ko-KR" altLang="en-US" sz="1400" dirty="0"/>
              <a:t>)</a:t>
            </a:r>
          </a:p>
          <a:p>
            <a:r>
              <a:rPr lang="ko-KR" altLang="en-US" sz="1400" dirty="0"/>
              <a:t>    ↓ 검사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split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</a:t>
            </a:r>
            <a:r>
              <a:rPr lang="ko-KR" altLang="en-US" sz="1400" dirty="0"/>
              <a:t> 유지됨 → 종료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split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</a:t>
            </a:r>
            <a:r>
              <a:rPr lang="ko-KR" altLang="en-US" sz="1400" dirty="0"/>
              <a:t> 깨짐 → (3)</a:t>
            </a:r>
          </a:p>
          <a:p>
            <a:endParaRPr lang="ko-KR" altLang="en-US" sz="1400" dirty="0"/>
          </a:p>
          <a:p>
            <a:r>
              <a:rPr lang="ko-KR" altLang="en-US" sz="1400" dirty="0"/>
              <a:t>(3) </a:t>
            </a:r>
            <a:r>
              <a:rPr lang="ko-KR" altLang="en-US" sz="1400" b="1" dirty="0" err="1"/>
              <a:t>Rotation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local</a:t>
            </a:r>
            <a:r>
              <a:rPr lang="ko-KR" altLang="en-US" sz="1400" dirty="0"/>
              <a:t> </a:t>
            </a:r>
            <a:r>
              <a:rPr lang="ko-KR" altLang="en-US" sz="1400" dirty="0" err="1"/>
              <a:t>optimize</a:t>
            </a:r>
            <a:r>
              <a:rPr lang="ko-KR" altLang="en-US" sz="1400" dirty="0"/>
              <a:t>)</a:t>
            </a:r>
          </a:p>
          <a:p>
            <a:r>
              <a:rPr lang="ko-KR" altLang="en-US" sz="1400" dirty="0"/>
              <a:t>    ↓ 검사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split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</a:t>
            </a:r>
            <a:r>
              <a:rPr lang="ko-KR" altLang="en-US" sz="1400" dirty="0"/>
              <a:t> 유지됨 → 종료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split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</a:t>
            </a:r>
            <a:r>
              <a:rPr lang="ko-KR" altLang="en-US" sz="1400" dirty="0"/>
              <a:t> 깨짐 → (4)</a:t>
            </a:r>
          </a:p>
          <a:p>
            <a:endParaRPr lang="ko-KR" altLang="en-US" sz="1400" dirty="0"/>
          </a:p>
          <a:p>
            <a:r>
              <a:rPr lang="ko-KR" altLang="en-US" sz="1400" dirty="0"/>
              <a:t>(4) </a:t>
            </a:r>
            <a:r>
              <a:rPr lang="ko-KR" altLang="en-US" sz="1400" dirty="0" err="1"/>
              <a:t>Partial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Rebuild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subtree</a:t>
            </a:r>
            <a:r>
              <a:rPr lang="ko-KR" altLang="en-US" sz="1400" dirty="0"/>
              <a:t> 재생성)</a:t>
            </a:r>
          </a:p>
          <a:p>
            <a:r>
              <a:rPr lang="ko-KR" altLang="en-US" sz="1400" dirty="0"/>
              <a:t>    ↓ 검사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split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</a:t>
            </a:r>
            <a:r>
              <a:rPr lang="ko-KR" altLang="en-US" sz="1400" dirty="0"/>
              <a:t> 유지됨 → 종료</a:t>
            </a:r>
          </a:p>
          <a:p>
            <a:endParaRPr lang="ko-KR" altLang="en-US" sz="1400" dirty="0"/>
          </a:p>
          <a:p>
            <a:r>
              <a:rPr lang="ko-KR" altLang="en-US" sz="1400" dirty="0"/>
              <a:t>(모두 완료)</a:t>
            </a:r>
          </a:p>
        </p:txBody>
      </p:sp>
    </p:spTree>
    <p:extLst>
      <p:ext uri="{BB962C8B-B14F-4D97-AF65-F5344CB8AC3E}">
        <p14:creationId xmlns:p14="http://schemas.microsoft.com/office/powerpoint/2010/main" val="204663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41B97-FA23-46D9-7C6A-FD9F80E2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A701F-EA32-BE98-4674-D89AB97A1ABC}"/>
              </a:ext>
            </a:extLst>
          </p:cNvPr>
          <p:cNvSpPr txBox="1"/>
          <p:nvPr/>
        </p:nvSpPr>
        <p:spPr>
          <a:xfrm>
            <a:off x="442784" y="1563130"/>
            <a:ext cx="103075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동적 트리 갱신 작업과정 중 </a:t>
            </a:r>
            <a:r>
              <a:rPr lang="ko-KR" altLang="en-US" dirty="0" err="1"/>
              <a:t>Insert</a:t>
            </a:r>
            <a:r>
              <a:rPr lang="ko-KR" altLang="en-US" dirty="0"/>
              <a:t>/</a:t>
            </a:r>
            <a:r>
              <a:rPr lang="ko-KR" altLang="en-US" dirty="0" err="1"/>
              <a:t>Remove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 err="1"/>
              <a:t>Rotation</a:t>
            </a:r>
            <a:r>
              <a:rPr lang="ko-KR" altLang="en-US" dirty="0"/>
              <a:t> 과정을 추가로 정리하여 동적 트리의 전체 갱신과정을 문서로 정리합니다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 공간분할</a:t>
            </a:r>
            <a:r>
              <a:rPr lang="en-US" altLang="ko-KR" dirty="0"/>
              <a:t>(Quad/Octree)</a:t>
            </a:r>
            <a:r>
              <a:rPr lang="ko-KR" altLang="en-US" dirty="0"/>
              <a:t>와 비교하여 </a:t>
            </a:r>
            <a:r>
              <a:rPr lang="en-US" altLang="ko-KR" dirty="0"/>
              <a:t>BVH</a:t>
            </a:r>
            <a:r>
              <a:rPr lang="ko-KR" altLang="en-US" dirty="0"/>
              <a:t>는 어떤 장단점 </a:t>
            </a:r>
            <a:r>
              <a:rPr lang="en-US" altLang="ko-KR" dirty="0"/>
              <a:t>, </a:t>
            </a:r>
            <a:r>
              <a:rPr lang="ko-KR" altLang="en-US" dirty="0"/>
              <a:t>상황에서의 유리함이 있는지 문서로 정리합니다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3. BVH</a:t>
            </a:r>
            <a:r>
              <a:rPr lang="ko-KR" altLang="en-US" dirty="0"/>
              <a:t>가 응용 되어 </a:t>
            </a:r>
            <a:r>
              <a:rPr lang="ko-KR" altLang="en-US" dirty="0" err="1"/>
              <a:t>사용되는곳</a:t>
            </a:r>
            <a:r>
              <a:rPr lang="ko-KR" altLang="en-US" dirty="0"/>
              <a:t> 을 문서로 정리합니다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3952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2575</TotalTime>
  <Words>1194</Words>
  <Application>Microsoft Office PowerPoint</Application>
  <PresentationFormat>와이드스크린</PresentationFormat>
  <Paragraphs>209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Cambria Math</vt:lpstr>
      <vt:lpstr>Office 테마</vt:lpstr>
      <vt:lpstr>BoundingVolumeHierarchy</vt:lpstr>
      <vt:lpstr>BVH (BoundingVolumeHierarchy)</vt:lpstr>
      <vt:lpstr>트리의 품질(Tree Quality)</vt:lpstr>
      <vt:lpstr>하향식 – 오브젝트 수 분할점 결정 방식</vt:lpstr>
      <vt:lpstr>정적 트리의 변화</vt:lpstr>
      <vt:lpstr>정적 트리 변화의 대응 방법(1)</vt:lpstr>
      <vt:lpstr>정적 트리 변화의 대응 방법(2)</vt:lpstr>
      <vt:lpstr>동적 트리</vt:lpstr>
      <vt:lpstr>과제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BoundingVolumeHierarchy</dc:title>
  <dc:creator>Dongwon Lee</dc:creator>
  <cp:lastModifiedBy>Dongwon Lee</cp:lastModifiedBy>
  <cp:revision>501</cp:revision>
  <dcterms:created xsi:type="dcterms:W3CDTF">2025-11-04T12:33:20Z</dcterms:created>
  <dcterms:modified xsi:type="dcterms:W3CDTF">2025-12-03T20:48:00Z</dcterms:modified>
</cp:coreProperties>
</file>