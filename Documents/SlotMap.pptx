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1" r:id="rId4"/>
    <p:sldId id="258" r:id="rId5"/>
    <p:sldId id="259" r:id="rId6"/>
    <p:sldId id="260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50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2AD773-4571-4BA7-9764-EB3102683502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9F6841-78BC-4592-888C-95736FE30E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55016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7E314A-159A-5306-E914-204E45A734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CDEF67D-9DF2-500F-A93B-59E05EE647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85FF00-48CE-5AA2-325E-1F2C5C631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EDAE8-372D-4E5B-BC55-512BC2C23F36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64B257-33C6-50C8-E693-E0F3CCAF5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6F710E-09E2-E843-AB67-97ED85FB0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A3EE-638F-4D22-BBE6-9804680B32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5734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532A5F-80DF-13ED-77B5-B447CE6D2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33CC81-25DF-740C-E3EF-21360711F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B946FC-8CD2-3683-553C-9817E0785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EDAE8-372D-4E5B-BC55-512BC2C23F36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5C3B94-407B-B3B0-2735-69E570939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29FCB8-F17A-F552-41B3-86679A423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A3EE-638F-4D22-BBE6-9804680B32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3066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542C32-9331-95D9-2325-2F40F29FA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309C866-8F34-4879-DBB1-22F0C054D7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4B2B45-0D3F-9A73-A18E-D195D3EFF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EDAE8-372D-4E5B-BC55-512BC2C23F36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06E52F-B9E6-ECEF-F3BD-E93C6576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55EF57-DAD2-9BB8-7A01-7CA16694D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A3EE-638F-4D22-BBE6-9804680B32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6328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6C4B74-E066-6824-8DDD-C93261CE7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9982F0-E099-69B1-8C7E-1D4CC162D8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AE67CD9-810A-39AA-F1F7-9D12C81F8A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CA120C-38C7-1BA9-9495-55D850C06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EDAE8-372D-4E5B-BC55-512BC2C23F36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F05EE4-78B6-6981-F99F-B3C88E8EA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0A9A2B6-1D9E-33F4-6865-E8540CD11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A3EE-638F-4D22-BBE6-9804680B32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6280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CD2EAD-42AB-654C-7A64-2C37F20BB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BA585D-B83F-6DD4-72F7-5C8578113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4681B13-25CA-7B2B-D57D-D5A0E2D89E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A1CC30F-9266-AFC3-2DE7-410B201794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034DF90-B7E2-B00D-E7E0-2EFBF65523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3841F6B-6786-1673-BD8B-3EE7BF93F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EDAE8-372D-4E5B-BC55-512BC2C23F36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A873D53-B889-1CE2-3C59-EA4269410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4F89520-35A9-4C1D-144F-C6F7BFD3A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A3EE-638F-4D22-BBE6-9804680B32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2484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899D77-FA13-D4F7-7FCF-8F3FDF976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9259129-70AF-DA6A-0D49-8DF54B05C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EDAE8-372D-4E5B-BC55-512BC2C23F36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7566D17-2C02-61CE-1FBD-CAA74D31C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922C608-566C-F518-0D18-E2B6B31E8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A3EE-638F-4D22-BBE6-9804680B32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161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213C27C-E8DA-CA3F-1F20-13B118476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EDAE8-372D-4E5B-BC55-512BC2C23F36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D34BECB-E9B0-13BD-7F22-65428BE32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74888A-AC47-57E2-2014-A01E03359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A3EE-638F-4D22-BBE6-9804680B32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7227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F744D2-A265-3C02-364A-B8E8C2C05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018D1D-A257-477A-7565-D0658849D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4449A78-781F-E180-267F-17AD626217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0F19700-FEDD-2049-C3B5-C295EEA91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EDAE8-372D-4E5B-BC55-512BC2C23F36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B76578E-1B00-8040-0594-580D0EB0F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1830800-A835-9CA7-D7B6-D38520F70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A3EE-638F-4D22-BBE6-9804680B32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9334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08298B-D618-1ABA-FC38-417E80CFC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1D05A9B-785E-AE73-CF04-0E8B8DC170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220B5D5-B638-152E-90AB-2C7EDCB7D6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0503B65-9552-8557-97DF-2F3498A3D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EDAE8-372D-4E5B-BC55-512BC2C23F36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8FA6549-2752-612C-5542-1D09A79B6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0CD1272-B0D8-A2D2-B63B-16A0E9A5B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A3EE-638F-4D22-BBE6-9804680B32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7570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08B087-8A1E-8545-387C-46CFC828C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B1B64C-F77D-00B9-7857-3DC0EC732C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3296B6-091E-13F6-5673-614586029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EDAE8-372D-4E5B-BC55-512BC2C23F36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0F964C-3FA5-D71B-EE6C-116AD845A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3FD343-11FD-15E9-EDE5-ED2C13382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A3EE-638F-4D22-BBE6-9804680B32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2750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8EEF779-B55C-2DA8-701D-C9187E1B32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198DE32-FC5B-EE67-A05C-EDE89CB9BA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5BA089-C06B-937D-64EF-A78823090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EDAE8-372D-4E5B-BC55-512BC2C23F36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9F748B-941D-ED90-BA5E-50BA1BCC4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5BCEAE-90AD-99D3-5995-AF75F06E0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A3EE-638F-4D22-BBE6-9804680B32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9500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A106B79-E96A-8F8D-819F-056D304D9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4295A23-C37B-F250-05AF-3C04E0D98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9CFA5C-C0BE-F93E-F4FE-B7F4FE6B4C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EEDAE8-372D-4E5B-BC55-512BC2C23F36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F53306-E5C8-73FD-FE10-A5E7D3F86C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AEC1E0-68BE-F6EB-DCDC-076AB71653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34A3EE-638F-4D22-BBE6-9804680B32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0572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blog.maplestory.nexon.com/Tech/Content/10?page=1&amp;selectType=All" TargetMode="Externa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A42201-CAE5-359D-F9EF-C7068A6178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9829" y="1122363"/>
            <a:ext cx="9753599" cy="2387600"/>
          </a:xfrm>
        </p:spPr>
        <p:txBody>
          <a:bodyPr>
            <a:normAutofit/>
          </a:bodyPr>
          <a:lstStyle/>
          <a:p>
            <a:r>
              <a:rPr lang="en-US" altLang="ko-KR" dirty="0" err="1"/>
              <a:t>SlotMap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73587FF-5D7F-833D-4635-71A2BA3685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Handle</a:t>
            </a:r>
            <a:r>
              <a:rPr lang="ko-KR" altLang="en-US" dirty="0"/>
              <a:t>로 관리하는 연속된 컨테이너</a:t>
            </a:r>
          </a:p>
        </p:txBody>
      </p:sp>
    </p:spTree>
    <p:extLst>
      <p:ext uri="{BB962C8B-B14F-4D97-AF65-F5344CB8AC3E}">
        <p14:creationId xmlns:p14="http://schemas.microsoft.com/office/powerpoint/2010/main" val="909149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731C44-476E-5C26-EB86-2B3B9A685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Dangling Pointer(</a:t>
            </a:r>
            <a:r>
              <a:rPr lang="ko-KR" altLang="en-US"/>
              <a:t>허상 포인터</a:t>
            </a:r>
            <a:r>
              <a:rPr lang="en-US" altLang="ko-KR"/>
              <a:t>) </a:t>
            </a:r>
            <a:r>
              <a:rPr lang="ko-KR" altLang="en-US"/>
              <a:t>문제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9045D0-FF40-4646-65DB-95F85BCE2E5A}"/>
              </a:ext>
            </a:extLst>
          </p:cNvPr>
          <p:cNvSpPr txBox="1"/>
          <p:nvPr/>
        </p:nvSpPr>
        <p:spPr>
          <a:xfrm>
            <a:off x="604879" y="1909301"/>
            <a:ext cx="10515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/>
              <a:t>메모리 해제 후 포인터 유지</a:t>
            </a:r>
            <a:r>
              <a:rPr lang="en-US" altLang="ko-KR" b="1" dirty="0"/>
              <a:t>:</a:t>
            </a:r>
            <a:r>
              <a:rPr lang="ko-KR" altLang="en-US" dirty="0"/>
              <a:t>  </a:t>
            </a:r>
            <a:r>
              <a:rPr lang="en-US" altLang="ko-KR" dirty="0"/>
              <a:t>malloc()</a:t>
            </a:r>
            <a:r>
              <a:rPr lang="ko-KR" altLang="en-US" dirty="0"/>
              <a:t>나 </a:t>
            </a:r>
            <a:r>
              <a:rPr lang="en-US" altLang="ko-KR" dirty="0"/>
              <a:t>new</a:t>
            </a:r>
            <a:r>
              <a:rPr lang="ko-KR" altLang="en-US" dirty="0"/>
              <a:t>로 메모리를 할당하여 해당 주소를 포인터 변수에 보관하고 </a:t>
            </a:r>
            <a:r>
              <a:rPr lang="en-US" altLang="ko-KR" dirty="0">
                <a:latin typeface="Courier New" panose="02070309020205020404" pitchFamily="49" charset="0"/>
              </a:rPr>
              <a:t>free()</a:t>
            </a:r>
            <a:r>
              <a:rPr lang="ko-KR" altLang="en-US" dirty="0"/>
              <a:t>나 </a:t>
            </a:r>
            <a:r>
              <a:rPr lang="en-US" altLang="ko-KR" dirty="0">
                <a:latin typeface="Courier New" panose="02070309020205020404" pitchFamily="49" charset="0"/>
              </a:rPr>
              <a:t>delete</a:t>
            </a:r>
            <a:r>
              <a:rPr lang="ko-KR" altLang="en-US" dirty="0"/>
              <a:t>로 메모리를 반환했지만</a:t>
            </a:r>
            <a:r>
              <a:rPr lang="en-US" altLang="ko-KR" dirty="0"/>
              <a:t>, </a:t>
            </a:r>
            <a:r>
              <a:rPr lang="ko-KR" altLang="en-US" dirty="0"/>
              <a:t>또 다른 곳 에서 이미 해제된 메모리 주소 값을 가가지고 접근 </a:t>
            </a:r>
            <a:r>
              <a:rPr lang="ko-KR" altLang="en-US" dirty="0" err="1"/>
              <a:t>하려할때</a:t>
            </a:r>
            <a:r>
              <a:rPr lang="ko-KR" altLang="en-US" dirty="0"/>
              <a:t> 발생한다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7C75C0-9F7A-DB50-8CB1-DCB360476630}"/>
              </a:ext>
            </a:extLst>
          </p:cNvPr>
          <p:cNvSpPr txBox="1"/>
          <p:nvPr/>
        </p:nvSpPr>
        <p:spPr>
          <a:xfrm>
            <a:off x="229610" y="3204428"/>
            <a:ext cx="1188111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600" b="1" i="0" dirty="0">
                <a:effectLst/>
                <a:latin typeface="+mn-ea"/>
              </a:rPr>
              <a:t>핸들</a:t>
            </a:r>
            <a:r>
              <a:rPr lang="en-US" altLang="ko-KR" sz="1600" b="1" i="0" dirty="0">
                <a:effectLst/>
                <a:latin typeface="+mn-ea"/>
              </a:rPr>
              <a:t>(Handle) </a:t>
            </a:r>
            <a:r>
              <a:rPr lang="ko-KR" altLang="en-US" sz="1600" b="1" i="0" dirty="0">
                <a:effectLst/>
                <a:latin typeface="+mn-ea"/>
              </a:rPr>
              <a:t>시스템</a:t>
            </a:r>
            <a:r>
              <a:rPr lang="en-US" altLang="ko-KR" sz="1600" b="0" i="0" dirty="0">
                <a:effectLst/>
                <a:latin typeface="+mn-ea"/>
              </a:rPr>
              <a:t>: </a:t>
            </a:r>
            <a:r>
              <a:rPr lang="ko-KR" altLang="en-US" sz="1600" b="0" i="0" dirty="0">
                <a:effectLst/>
                <a:latin typeface="+mn-ea"/>
              </a:rPr>
              <a:t>포인터를 직접 전달하는 대신 정수형 </a:t>
            </a:r>
            <a:r>
              <a:rPr lang="en-US" altLang="ko-KR" sz="1600" b="0" i="0" dirty="0">
                <a:effectLst/>
                <a:latin typeface="+mn-ea"/>
              </a:rPr>
              <a:t>ID(Index)</a:t>
            </a:r>
            <a:r>
              <a:rPr lang="ko-KR" altLang="en-US" sz="1600" b="0" i="0" dirty="0">
                <a:effectLst/>
                <a:latin typeface="+mn-ea"/>
              </a:rPr>
              <a:t>를 사용한다</a:t>
            </a:r>
            <a:r>
              <a:rPr lang="en-US" altLang="ko-KR" sz="1600" b="0" i="0" dirty="0">
                <a:effectLst/>
                <a:latin typeface="+mn-ea"/>
              </a:rPr>
              <a:t>. </a:t>
            </a:r>
            <a:r>
              <a:rPr lang="ko-KR" altLang="en-US" sz="1600" b="0" i="0" dirty="0">
                <a:effectLst/>
                <a:latin typeface="+mn-ea"/>
              </a:rPr>
              <a:t>객체 풀</a:t>
            </a:r>
            <a:r>
              <a:rPr lang="en-US" altLang="ko-KR" sz="1600" b="0" i="0" dirty="0">
                <a:effectLst/>
                <a:latin typeface="+mn-ea"/>
              </a:rPr>
              <a:t>(Object Pool)</a:t>
            </a:r>
            <a:r>
              <a:rPr lang="ko-KR" altLang="en-US" sz="1600" b="0" i="0" dirty="0">
                <a:effectLst/>
                <a:latin typeface="+mn-ea"/>
              </a:rPr>
              <a:t>에서 해당 </a:t>
            </a:r>
            <a:r>
              <a:rPr lang="en-US" altLang="ko-KR" sz="1600" b="0" i="0" dirty="0">
                <a:effectLst/>
                <a:latin typeface="+mn-ea"/>
              </a:rPr>
              <a:t>ID</a:t>
            </a:r>
            <a:r>
              <a:rPr lang="ko-KR" altLang="en-US" sz="1600" b="0" i="0" dirty="0">
                <a:effectLst/>
                <a:latin typeface="+mn-ea"/>
              </a:rPr>
              <a:t>가 여전히 유효한지 확인 후 사용</a:t>
            </a:r>
            <a:r>
              <a:rPr lang="en-US" altLang="ko-KR" sz="1600" b="0" i="0" dirty="0">
                <a:effectLst/>
                <a:latin typeface="+mn-ea"/>
              </a:rPr>
              <a:t>. </a:t>
            </a:r>
          </a:p>
          <a:p>
            <a:pPr algn="l"/>
            <a:r>
              <a:rPr lang="ko-KR" altLang="en-US" sz="1600" b="0" i="0" dirty="0">
                <a:effectLst/>
                <a:latin typeface="+mn-ea"/>
              </a:rPr>
              <a:t> </a:t>
            </a:r>
            <a:endParaRPr lang="en-US" altLang="ko-KR" sz="1600" b="0" i="0" dirty="0">
              <a:effectLst/>
              <a:latin typeface="+mn-ea"/>
            </a:endParaRPr>
          </a:p>
          <a:p>
            <a:pPr algn="l"/>
            <a:r>
              <a:rPr lang="ko-KR" altLang="en-US" sz="1600" b="1" i="0" dirty="0" err="1">
                <a:effectLst/>
                <a:latin typeface="+mn-ea"/>
              </a:rPr>
              <a:t>가비지</a:t>
            </a:r>
            <a:r>
              <a:rPr lang="ko-KR" altLang="en-US" sz="1600" b="1" i="0" dirty="0">
                <a:effectLst/>
                <a:latin typeface="+mn-ea"/>
              </a:rPr>
              <a:t> 컬렉션</a:t>
            </a:r>
            <a:r>
              <a:rPr lang="en-US" altLang="ko-KR" sz="1600" b="1" i="0" dirty="0">
                <a:effectLst/>
                <a:latin typeface="+mn-ea"/>
              </a:rPr>
              <a:t>(GC)</a:t>
            </a:r>
            <a:r>
              <a:rPr lang="en-US" altLang="ko-KR" sz="1600" b="0" i="0" dirty="0">
                <a:effectLst/>
                <a:latin typeface="+mn-ea"/>
              </a:rPr>
              <a:t>: </a:t>
            </a:r>
            <a:r>
              <a:rPr lang="ko-KR" altLang="en-US" sz="1600" b="0" i="0" dirty="0" err="1">
                <a:effectLst/>
                <a:latin typeface="+mn-ea"/>
              </a:rPr>
              <a:t>언리얼</a:t>
            </a:r>
            <a:r>
              <a:rPr lang="ko-KR" altLang="en-US" sz="1600" b="0" i="0" dirty="0">
                <a:effectLst/>
                <a:latin typeface="+mn-ea"/>
              </a:rPr>
              <a:t> 엔진의 </a:t>
            </a:r>
            <a:r>
              <a:rPr lang="en-US" altLang="ko-KR" sz="1600" b="0" i="0" dirty="0" err="1">
                <a:effectLst/>
                <a:latin typeface="+mn-ea"/>
              </a:rPr>
              <a:t>UObject</a:t>
            </a:r>
            <a:r>
              <a:rPr lang="ko-KR" altLang="en-US" sz="1600" b="0" i="0" dirty="0">
                <a:effectLst/>
                <a:latin typeface="+mn-ea"/>
              </a:rPr>
              <a:t> 시스템처럼 자체적인 참조 </a:t>
            </a:r>
            <a:r>
              <a:rPr lang="ko-KR" altLang="en-US" sz="1600" b="0" i="0" dirty="0" err="1">
                <a:effectLst/>
                <a:latin typeface="+mn-ea"/>
              </a:rPr>
              <a:t>카운팅</a:t>
            </a:r>
            <a:r>
              <a:rPr lang="ko-KR" altLang="en-US" sz="1600" b="0" i="0" dirty="0">
                <a:effectLst/>
                <a:latin typeface="+mn-ea"/>
              </a:rPr>
              <a:t> 시스템을 통해 수명이 다한 객체를 자동으로 수거</a:t>
            </a:r>
            <a:r>
              <a:rPr lang="en-US" altLang="ko-KR" sz="1600" b="0" i="0" dirty="0">
                <a:effectLst/>
                <a:latin typeface="+mn-ea"/>
              </a:rPr>
              <a:t>.</a:t>
            </a:r>
          </a:p>
          <a:p>
            <a:pPr algn="l"/>
            <a:endParaRPr lang="en-US" altLang="ko-KR" sz="1600" b="1" i="0" dirty="0">
              <a:effectLst/>
              <a:latin typeface="+mn-ea"/>
            </a:endParaRPr>
          </a:p>
          <a:p>
            <a:pPr algn="l"/>
            <a:r>
              <a:rPr lang="ko-KR" altLang="en-US" sz="1600" b="1" i="0" dirty="0">
                <a:effectLst/>
                <a:latin typeface="+mn-ea"/>
              </a:rPr>
              <a:t>감시자</a:t>
            </a:r>
            <a:r>
              <a:rPr lang="en-US" altLang="ko-KR" sz="1600" b="1" i="0" dirty="0">
                <a:effectLst/>
                <a:latin typeface="+mn-ea"/>
              </a:rPr>
              <a:t>(Watcher) </a:t>
            </a:r>
            <a:r>
              <a:rPr lang="ko-KR" altLang="en-US" sz="1600" b="1" i="0" dirty="0">
                <a:effectLst/>
                <a:latin typeface="+mn-ea"/>
              </a:rPr>
              <a:t>패턴</a:t>
            </a:r>
            <a:r>
              <a:rPr lang="en-US" altLang="ko-KR" sz="1600" b="0" i="0" dirty="0">
                <a:effectLst/>
                <a:latin typeface="+mn-ea"/>
              </a:rPr>
              <a:t>: </a:t>
            </a:r>
            <a:r>
              <a:rPr lang="ko-KR" altLang="en-US" sz="1600" b="0" i="0" dirty="0">
                <a:effectLst/>
                <a:latin typeface="+mn-ea"/>
              </a:rPr>
              <a:t>객체가 파괴될 때 이를 참조하는 다른 객체들에게 알림을 보내 포인터를 정리</a:t>
            </a:r>
            <a:r>
              <a:rPr lang="en-US" altLang="ko-KR" sz="1600" b="0" i="0" dirty="0">
                <a:effectLst/>
                <a:latin typeface="+mn-ea"/>
              </a:rPr>
              <a:t>. </a:t>
            </a:r>
          </a:p>
          <a:p>
            <a:endParaRPr lang="en-US" altLang="ko-KR" sz="1600" b="1" dirty="0">
              <a:latin typeface="+mn-ea"/>
            </a:endParaRPr>
          </a:p>
          <a:p>
            <a:r>
              <a:rPr lang="ko-KR" altLang="en-US" sz="1600" b="1" dirty="0">
                <a:latin typeface="+mn-ea"/>
              </a:rPr>
              <a:t>스마트 포인터 사용</a:t>
            </a:r>
            <a:r>
              <a:rPr lang="en-US" altLang="ko-KR" sz="1600" dirty="0">
                <a:latin typeface="+mn-ea"/>
              </a:rPr>
              <a:t>:</a:t>
            </a:r>
          </a:p>
          <a:p>
            <a:r>
              <a:rPr lang="en-US" altLang="ko-KR" sz="1600" dirty="0">
                <a:latin typeface="+mn-ea"/>
              </a:rPr>
              <a:t>std::</a:t>
            </a:r>
            <a:r>
              <a:rPr lang="en-US" altLang="ko-KR" sz="1600" dirty="0" err="1">
                <a:latin typeface="+mn-ea"/>
              </a:rPr>
              <a:t>shared_ptr</a:t>
            </a:r>
            <a:r>
              <a:rPr lang="ko-KR" altLang="en-US" sz="1600" dirty="0">
                <a:latin typeface="+mn-ea"/>
              </a:rPr>
              <a:t> </a:t>
            </a:r>
            <a:r>
              <a:rPr lang="en-US" altLang="ko-KR" sz="1600" dirty="0">
                <a:latin typeface="+mn-ea"/>
              </a:rPr>
              <a:t>&amp; std::</a:t>
            </a:r>
            <a:r>
              <a:rPr lang="en-US" altLang="ko-KR" sz="1600" dirty="0" err="1">
                <a:latin typeface="+mn-ea"/>
              </a:rPr>
              <a:t>weak_ptr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객체의 소유권은 </a:t>
            </a:r>
            <a:r>
              <a:rPr lang="en-US" altLang="ko-KR" sz="1600" dirty="0" err="1">
                <a:latin typeface="+mn-ea"/>
              </a:rPr>
              <a:t>shared_ptr</a:t>
            </a:r>
            <a:r>
              <a:rPr lang="ko-KR" altLang="en-US" sz="1600" dirty="0">
                <a:latin typeface="+mn-ea"/>
              </a:rPr>
              <a:t>이 관리하고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참조만 필요한 경우 </a:t>
            </a:r>
            <a:r>
              <a:rPr lang="en-US" altLang="ko-KR" sz="1600" dirty="0" err="1">
                <a:latin typeface="+mn-ea"/>
              </a:rPr>
              <a:t>weak_ptr</a:t>
            </a:r>
            <a:r>
              <a:rPr lang="ko-KR" altLang="en-US" sz="1600" dirty="0">
                <a:latin typeface="+mn-ea"/>
              </a:rPr>
              <a:t>을 사용</a:t>
            </a:r>
            <a:endParaRPr lang="en-US" altLang="ko-KR" sz="1600" dirty="0">
              <a:latin typeface="+mn-ea"/>
            </a:endParaRPr>
          </a:p>
          <a:p>
            <a:r>
              <a:rPr lang="en-US" altLang="ko-KR" sz="1600" dirty="0" err="1">
                <a:latin typeface="+mn-ea"/>
              </a:rPr>
              <a:t>weak_ptr</a:t>
            </a:r>
            <a:r>
              <a:rPr lang="ko-KR" altLang="en-US" sz="1600" dirty="0">
                <a:latin typeface="+mn-ea"/>
              </a:rPr>
              <a:t>은 가리키는 객체가 사라졌는지 확인</a:t>
            </a:r>
            <a:r>
              <a:rPr lang="en-US" altLang="ko-KR" sz="1600" dirty="0">
                <a:latin typeface="+mn-ea"/>
              </a:rPr>
              <a:t>(expired())</a:t>
            </a:r>
            <a:r>
              <a:rPr lang="ko-KR" altLang="en-US" sz="1600" dirty="0">
                <a:latin typeface="+mn-ea"/>
              </a:rPr>
              <a:t>할 수 있어 허상 포인터 접근을 안전하게 차단한다</a:t>
            </a:r>
            <a:r>
              <a:rPr lang="en-US" altLang="ko-KR" sz="1600" dirty="0">
                <a:latin typeface="+mn-ea"/>
              </a:rPr>
              <a:t>.</a:t>
            </a:r>
            <a:endParaRPr lang="en-US" altLang="ko-KR" sz="1600" b="1" dirty="0">
              <a:latin typeface="+mn-ea"/>
            </a:endParaRPr>
          </a:p>
          <a:p>
            <a:r>
              <a:rPr lang="en-US" altLang="ko-KR" sz="1600" u="sng" dirty="0" err="1">
                <a:latin typeface="+mn-ea"/>
              </a:rPr>
              <a:t>weak_count</a:t>
            </a:r>
            <a:r>
              <a:rPr lang="en-US" altLang="ko-KR" sz="1600" u="sng" dirty="0">
                <a:latin typeface="+mn-ea"/>
              </a:rPr>
              <a:t>, </a:t>
            </a:r>
            <a:r>
              <a:rPr lang="en-US" altLang="ko-KR" sz="1600" u="sng" dirty="0" err="1">
                <a:latin typeface="+mn-ea"/>
              </a:rPr>
              <a:t>shared_count</a:t>
            </a:r>
            <a:r>
              <a:rPr lang="en-US" altLang="ko-KR" sz="1600" u="sng" dirty="0">
                <a:latin typeface="+mn-ea"/>
              </a:rPr>
              <a:t> , lock() </a:t>
            </a:r>
            <a:r>
              <a:rPr lang="ko-KR" altLang="en-US" sz="1600" u="sng" dirty="0">
                <a:latin typeface="+mn-ea"/>
              </a:rPr>
              <a:t>은 </a:t>
            </a:r>
            <a:r>
              <a:rPr lang="en-US" altLang="ko-KR" sz="1600" u="sng" dirty="0">
                <a:latin typeface="+mn-ea"/>
              </a:rPr>
              <a:t>atomic </a:t>
            </a:r>
            <a:r>
              <a:rPr lang="ko-KR" altLang="en-US" sz="1600" u="sng" dirty="0">
                <a:latin typeface="+mn-ea"/>
              </a:rPr>
              <a:t>연산을 사용하므로 </a:t>
            </a:r>
            <a:r>
              <a:rPr lang="ko-KR" altLang="en-US" sz="1600" u="sng" dirty="0" err="1">
                <a:latin typeface="+mn-ea"/>
              </a:rPr>
              <a:t>멀티쓰레드에서의</a:t>
            </a:r>
            <a:r>
              <a:rPr lang="ko-KR" altLang="en-US" sz="1600" u="sng" dirty="0">
                <a:latin typeface="+mn-ea"/>
              </a:rPr>
              <a:t> 사용은 안전하지만 비용이 발생한다</a:t>
            </a:r>
            <a:r>
              <a:rPr lang="en-US" altLang="ko-KR" sz="1600" u="sng" dirty="0">
                <a:latin typeface="+mn-ea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u="sng" dirty="0">
              <a:latin typeface="+mn-ea"/>
            </a:endParaRPr>
          </a:p>
          <a:p>
            <a:r>
              <a:rPr lang="en-US" altLang="ko-KR" sz="1600" u="sng" dirty="0">
                <a:latin typeface="+mn-ea"/>
                <a:hlinkClick r:id="rId2"/>
              </a:rPr>
              <a:t>https://blog.maplestory.nexon.com/Tech/Content/10?page=1&amp;selectType=All</a:t>
            </a:r>
            <a:endParaRPr lang="en-US" altLang="ko-KR" sz="1600" u="sng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18587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28929A-FAB5-C756-121B-4FCBFE6D2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SlotMap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C52169-F8D5-EF2A-8792-683B8729711D}"/>
              </a:ext>
            </a:extLst>
          </p:cNvPr>
          <p:cNvSpPr txBox="1"/>
          <p:nvPr/>
        </p:nvSpPr>
        <p:spPr>
          <a:xfrm>
            <a:off x="399656" y="1858783"/>
            <a:ext cx="98523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SlotMap</a:t>
            </a:r>
            <a:r>
              <a:rPr lang="ko-KR" altLang="en-US" dirty="0"/>
              <a:t>은 실제 데이터는 연속 배열에 저장하고</a:t>
            </a:r>
            <a:r>
              <a:rPr lang="en-US" altLang="ko-KR" dirty="0"/>
              <a:t>, </a:t>
            </a:r>
            <a:r>
              <a:rPr lang="ko-KR" altLang="en-US" dirty="0"/>
              <a:t>외부에서는 인덱스와 세대를 포함한 핸들로 </a:t>
            </a:r>
            <a:endParaRPr lang="en-US" altLang="ko-KR" dirty="0"/>
          </a:p>
          <a:p>
            <a:r>
              <a:rPr lang="ko-KR" altLang="en-US" dirty="0"/>
              <a:t>접근하여 객체의 수명과 참조 유효성을 안전하게 관리하는 핸들 기반 컨테이너이다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EB4DA9-349F-6AE8-F691-E27D2502A0BE}"/>
              </a:ext>
            </a:extLst>
          </p:cNvPr>
          <p:cNvSpPr txBox="1"/>
          <p:nvPr/>
        </p:nvSpPr>
        <p:spPr>
          <a:xfrm>
            <a:off x="318735" y="4571036"/>
            <a:ext cx="11293335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1600" dirty="0"/>
              <a:t>장점 </a:t>
            </a:r>
            <a:endParaRPr lang="en-US" altLang="ko-KR" sz="1600" dirty="0"/>
          </a:p>
          <a:p>
            <a:pPr>
              <a:buNone/>
            </a:pPr>
            <a:r>
              <a:rPr lang="en-US" altLang="ko-KR" sz="1600" dirty="0" err="1"/>
              <a:t>SlotMap</a:t>
            </a:r>
            <a:r>
              <a:rPr lang="ko-KR" altLang="en-US" sz="1600" dirty="0"/>
              <a:t>은 </a:t>
            </a:r>
            <a:r>
              <a:rPr lang="en-US" altLang="ko-KR" sz="1600" dirty="0"/>
              <a:t>dangling pointer</a:t>
            </a:r>
            <a:r>
              <a:rPr lang="ko-KR" altLang="en-US" sz="1600" dirty="0"/>
              <a:t>와 </a:t>
            </a:r>
            <a:r>
              <a:rPr lang="en-US" altLang="ko-KR" sz="1600" dirty="0"/>
              <a:t>use-after-free </a:t>
            </a:r>
            <a:r>
              <a:rPr lang="ko-KR" altLang="en-US" sz="1600" dirty="0"/>
              <a:t>문제를 구조적으로 방지하면서도</a:t>
            </a:r>
            <a:r>
              <a:rPr lang="en-US" altLang="ko-KR" sz="1600" dirty="0"/>
              <a:t>, O(1) </a:t>
            </a:r>
            <a:r>
              <a:rPr lang="ko-KR" altLang="en-US" sz="1600" dirty="0"/>
              <a:t>삽입</a:t>
            </a:r>
            <a:r>
              <a:rPr lang="en-US" altLang="ko-KR" sz="1600" dirty="0"/>
              <a:t>·</a:t>
            </a:r>
            <a:r>
              <a:rPr lang="ko-KR" altLang="en-US" sz="1600" dirty="0"/>
              <a:t>삭제</a:t>
            </a:r>
            <a:r>
              <a:rPr lang="en-US" altLang="ko-KR" sz="1600" dirty="0"/>
              <a:t>·</a:t>
            </a:r>
            <a:r>
              <a:rPr lang="ko-KR" altLang="en-US" sz="1600" dirty="0"/>
              <a:t>조회와 캐시 친화적인 연속 메모리 순회를 제공하여 실시간 시스템과 게임 엔진에 적합한 성능과 안전성을 동시에 만족한다</a:t>
            </a:r>
            <a:r>
              <a:rPr lang="en-US" altLang="ko-KR" sz="1600" dirty="0"/>
              <a:t>. </a:t>
            </a:r>
          </a:p>
          <a:p>
            <a:pPr>
              <a:buNone/>
            </a:pPr>
            <a:r>
              <a:rPr lang="en-US" altLang="ko-KR" sz="1600" dirty="0"/>
              <a:t> Handle</a:t>
            </a:r>
            <a:r>
              <a:rPr lang="ko-KR" altLang="en-US" sz="1600" dirty="0"/>
              <a:t>을 저장</a:t>
            </a:r>
            <a:r>
              <a:rPr lang="en-US" altLang="ko-KR" sz="1600" dirty="0"/>
              <a:t>/</a:t>
            </a:r>
            <a:r>
              <a:rPr lang="ko-KR" altLang="en-US" sz="1600" dirty="0"/>
              <a:t>복구 하면 연결관계도 </a:t>
            </a:r>
            <a:r>
              <a:rPr lang="ko-KR" altLang="en-US" sz="1600" dirty="0" err="1"/>
              <a:t>복구가능하다</a:t>
            </a:r>
            <a:r>
              <a:rPr lang="en-US" altLang="ko-KR" sz="1600" dirty="0"/>
              <a:t>.</a:t>
            </a:r>
          </a:p>
          <a:p>
            <a:pPr>
              <a:buNone/>
            </a:pPr>
            <a:endParaRPr lang="en-US" altLang="ko-KR" sz="1600" dirty="0"/>
          </a:p>
          <a:p>
            <a:pPr>
              <a:buNone/>
            </a:pPr>
            <a:r>
              <a:rPr lang="ko-KR" altLang="en-US" sz="1600" dirty="0"/>
              <a:t>단점 </a:t>
            </a:r>
            <a:endParaRPr lang="en-US" altLang="ko-KR" sz="1600" dirty="0"/>
          </a:p>
          <a:p>
            <a:pPr>
              <a:buNone/>
            </a:pPr>
            <a:r>
              <a:rPr lang="en-US" altLang="ko-KR" sz="1600" dirty="0" err="1"/>
              <a:t>SlotMap</a:t>
            </a:r>
            <a:r>
              <a:rPr lang="ko-KR" altLang="en-US" sz="1600" dirty="0"/>
              <a:t>은 추가적인 메타데이터로 인한 메모리 오버헤드와 간접 접근 비용이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슬롯 테이블이 줄어들지 않으며  </a:t>
            </a:r>
            <a:r>
              <a:rPr lang="ko-KR" altLang="en-US" sz="1600" dirty="0" err="1"/>
              <a:t>멀티스레드</a:t>
            </a:r>
            <a:r>
              <a:rPr lang="ko-KR" altLang="en-US" sz="1600" dirty="0"/>
              <a:t> 구현은 상대적으로 복잡하다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F242C7FD-A369-6CBD-63B5-4DBCB3105C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3621883"/>
              </p:ext>
            </p:extLst>
          </p:nvPr>
        </p:nvGraphicFramePr>
        <p:xfrm>
          <a:off x="3225798" y="2779825"/>
          <a:ext cx="812800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194637500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17386138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77522489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77599423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99628084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669159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T6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95326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68F992E5-94F2-C208-2A4D-6A0942BE2965}"/>
              </a:ext>
            </a:extLst>
          </p:cNvPr>
          <p:cNvSpPr txBox="1"/>
          <p:nvPr/>
        </p:nvSpPr>
        <p:spPr>
          <a:xfrm>
            <a:off x="147985" y="2792747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연속된 데이터 타입</a:t>
            </a:r>
            <a:r>
              <a:rPr lang="en-US" altLang="ko-KR" dirty="0"/>
              <a:t>(dense)</a:t>
            </a:r>
            <a:endParaRPr lang="ko-KR" altLang="en-US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084E9A67-778B-4FEC-8489-55CF4F377F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0702844"/>
              </p:ext>
            </p:extLst>
          </p:nvPr>
        </p:nvGraphicFramePr>
        <p:xfrm>
          <a:off x="3225798" y="3408831"/>
          <a:ext cx="812800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194637500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17386138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77522489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77599423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99628084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669159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Index=5</a:t>
                      </a:r>
                    </a:p>
                    <a:p>
                      <a:pPr latinLnBrk="1"/>
                      <a:r>
                        <a:rPr lang="en-US" altLang="ko-KR" sz="1400" dirty="0"/>
                        <a:t>Gen=2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Index=1</a:t>
                      </a:r>
                    </a:p>
                    <a:p>
                      <a:pPr latinLnBrk="1"/>
                      <a:r>
                        <a:rPr lang="en-US" altLang="ko-KR" sz="1400" dirty="0"/>
                        <a:t>Gen=0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Index=2</a:t>
                      </a:r>
                    </a:p>
                    <a:p>
                      <a:pPr latinLnBrk="1"/>
                      <a:r>
                        <a:rPr lang="en-US" altLang="ko-KR" sz="1400" dirty="0"/>
                        <a:t>Gen=1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Index=3</a:t>
                      </a:r>
                    </a:p>
                    <a:p>
                      <a:pPr latinLnBrk="1"/>
                      <a:r>
                        <a:rPr lang="en-US" altLang="ko-KR" sz="1400" dirty="0"/>
                        <a:t>Gen=3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Index=4</a:t>
                      </a:r>
                    </a:p>
                    <a:p>
                      <a:pPr latinLnBrk="1"/>
                      <a:r>
                        <a:rPr lang="en-US" altLang="ko-KR" sz="1400" dirty="0"/>
                        <a:t>Gen=2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Index=0</a:t>
                      </a:r>
                    </a:p>
                    <a:p>
                      <a:pPr latinLnBrk="1"/>
                      <a:r>
                        <a:rPr lang="en-US" altLang="ko-KR" sz="1400" dirty="0"/>
                        <a:t>Gen=0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95326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AABA0447-534D-4215-5542-149840FE3050}"/>
              </a:ext>
            </a:extLst>
          </p:cNvPr>
          <p:cNvSpPr txBox="1"/>
          <p:nvPr/>
        </p:nvSpPr>
        <p:spPr>
          <a:xfrm>
            <a:off x="0" y="3387278"/>
            <a:ext cx="3217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발급한 </a:t>
            </a:r>
            <a:r>
              <a:rPr lang="en-US" altLang="ko-KR" dirty="0"/>
              <a:t>Handle</a:t>
            </a:r>
            <a:r>
              <a:rPr lang="ko-KR" altLang="en-US" dirty="0"/>
              <a:t> 정보관리</a:t>
            </a:r>
            <a:r>
              <a:rPr lang="en-US" altLang="ko-KR" dirty="0"/>
              <a:t>(slot)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9CE6E0-8E05-37BF-7A4C-76D36196ED28}"/>
              </a:ext>
            </a:extLst>
          </p:cNvPr>
          <p:cNvSpPr txBox="1"/>
          <p:nvPr/>
        </p:nvSpPr>
        <p:spPr>
          <a:xfrm>
            <a:off x="161522" y="4122622"/>
            <a:ext cx="11868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Handle {  int </a:t>
            </a:r>
            <a:r>
              <a:rPr lang="en-US" altLang="ko-KR" dirty="0" err="1"/>
              <a:t>SlotIndex</a:t>
            </a:r>
            <a:r>
              <a:rPr lang="en-US" altLang="ko-KR" dirty="0"/>
              <a:t>, int Generation }    </a:t>
            </a:r>
            <a:r>
              <a:rPr lang="ko-KR" altLang="en-US" dirty="0"/>
              <a:t>슬롯이 같아도 세대가 다르면 유효하지 않은 핸들로 </a:t>
            </a:r>
            <a:r>
              <a:rPr lang="ko-KR" altLang="en-US" dirty="0" err="1"/>
              <a:t>해제된것을</a:t>
            </a:r>
            <a:r>
              <a:rPr lang="ko-KR" altLang="en-US" dirty="0"/>
              <a:t> 의미</a:t>
            </a:r>
            <a:r>
              <a:rPr lang="en-US" altLang="ko-KR" dirty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3428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571A12-9880-5B14-BBA2-A7881DAD2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Insert</a:t>
            </a:r>
            <a:endParaRPr lang="ko-KR" altLang="en-US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DC6EEEF7-2752-7C81-0760-CCD94914AD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740577"/>
              </p:ext>
            </p:extLst>
          </p:nvPr>
        </p:nvGraphicFramePr>
        <p:xfrm>
          <a:off x="3170629" y="3994102"/>
          <a:ext cx="135466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400381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DIndex=0</a:t>
                      </a:r>
                    </a:p>
                    <a:p>
                      <a:pPr latinLnBrk="1"/>
                      <a:r>
                        <a:rPr lang="en-US" altLang="ko-KR" sz="1400" dirty="0"/>
                        <a:t>Gen=0</a:t>
                      </a:r>
                    </a:p>
                    <a:p>
                      <a:pPr latinLnBrk="1"/>
                      <a:r>
                        <a:rPr lang="en-US" altLang="ko-KR" sz="1400" dirty="0"/>
                        <a:t>Alive = true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01962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CE3F09C-3877-21B3-55DD-E2A776E555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4630602"/>
              </p:ext>
            </p:extLst>
          </p:nvPr>
        </p:nvGraphicFramePr>
        <p:xfrm>
          <a:off x="3170629" y="2141292"/>
          <a:ext cx="135466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400381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0196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1B65732-DC5F-6BF1-FEE7-212843E4A16D}"/>
              </a:ext>
            </a:extLst>
          </p:cNvPr>
          <p:cNvSpPr txBox="1"/>
          <p:nvPr/>
        </p:nvSpPr>
        <p:spPr>
          <a:xfrm>
            <a:off x="505321" y="5746566"/>
            <a:ext cx="140134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Handle	{</a:t>
            </a:r>
          </a:p>
          <a:p>
            <a:r>
              <a:rPr lang="en-US" altLang="ko-KR" sz="1400" dirty="0"/>
              <a:t> int </a:t>
            </a:r>
            <a:r>
              <a:rPr lang="en-US" altLang="ko-KR" sz="1400" dirty="0" err="1"/>
              <a:t>Sindex</a:t>
            </a:r>
            <a:endParaRPr lang="en-US" altLang="ko-KR" sz="1400" dirty="0"/>
          </a:p>
          <a:p>
            <a:r>
              <a:rPr lang="en-US" altLang="ko-KR" sz="1400" dirty="0"/>
              <a:t> int generation</a:t>
            </a:r>
          </a:p>
          <a:p>
            <a:r>
              <a:rPr lang="en-US" altLang="ko-KR" sz="1400" dirty="0"/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DB72F8-DB4B-E504-735B-C0B6C7174BB0}"/>
              </a:ext>
            </a:extLst>
          </p:cNvPr>
          <p:cNvSpPr txBox="1"/>
          <p:nvPr/>
        </p:nvSpPr>
        <p:spPr>
          <a:xfrm>
            <a:off x="545014" y="2128357"/>
            <a:ext cx="1973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vector&lt;T&gt; dense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B56BD0-F8DA-078D-0B04-70F6B0AFBD42}"/>
              </a:ext>
            </a:extLst>
          </p:cNvPr>
          <p:cNvSpPr txBox="1"/>
          <p:nvPr/>
        </p:nvSpPr>
        <p:spPr>
          <a:xfrm>
            <a:off x="299106" y="4540956"/>
            <a:ext cx="2103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vector&lt;Slot&gt; slots</a:t>
            </a:r>
            <a:endParaRPr lang="ko-KR" altLang="en-US" dirty="0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76967D41-B467-884B-6E97-256F9FA4E204}"/>
              </a:ext>
            </a:extLst>
          </p:cNvPr>
          <p:cNvCxnSpPr>
            <a:cxnSpLocks/>
          </p:cNvCxnSpPr>
          <p:nvPr/>
        </p:nvCxnSpPr>
        <p:spPr>
          <a:xfrm flipV="1">
            <a:off x="1066650" y="2512132"/>
            <a:ext cx="0" cy="1295386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93332E9-A73D-0483-E444-2872538A1448}"/>
              </a:ext>
            </a:extLst>
          </p:cNvPr>
          <p:cNvSpPr txBox="1"/>
          <p:nvPr/>
        </p:nvSpPr>
        <p:spPr>
          <a:xfrm>
            <a:off x="338771" y="3465948"/>
            <a:ext cx="1873917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Slot 	{</a:t>
            </a:r>
          </a:p>
          <a:p>
            <a:r>
              <a:rPr lang="en-US" altLang="ko-KR" sz="1400" dirty="0"/>
              <a:t> int DIndex</a:t>
            </a:r>
          </a:p>
          <a:p>
            <a:r>
              <a:rPr lang="en-US" altLang="ko-KR" sz="1400" dirty="0"/>
              <a:t> int generation</a:t>
            </a:r>
          </a:p>
          <a:p>
            <a:r>
              <a:rPr lang="en-US" altLang="ko-KR" sz="1400" dirty="0"/>
              <a:t> bool alive </a:t>
            </a:r>
          </a:p>
          <a:p>
            <a:r>
              <a:rPr lang="en-US" altLang="ko-KR" sz="1400" dirty="0"/>
              <a:t>}</a:t>
            </a:r>
            <a:endParaRPr lang="ko-KR" altLang="en-US" sz="1400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7E01C02E-AA34-7FF3-859A-1ECA64EB7334}"/>
              </a:ext>
            </a:extLst>
          </p:cNvPr>
          <p:cNvCxnSpPr>
            <a:cxnSpLocks/>
          </p:cNvCxnSpPr>
          <p:nvPr/>
        </p:nvCxnSpPr>
        <p:spPr>
          <a:xfrm>
            <a:off x="1496286" y="3253954"/>
            <a:ext cx="410381" cy="1381545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97FE6AFE-FC55-1F9D-3C93-6BE4F57B68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6778734"/>
              </p:ext>
            </p:extLst>
          </p:nvPr>
        </p:nvGraphicFramePr>
        <p:xfrm>
          <a:off x="6345185" y="4013963"/>
          <a:ext cx="135466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400381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DIndex=1</a:t>
                      </a:r>
                    </a:p>
                    <a:p>
                      <a:pPr latinLnBrk="1"/>
                      <a:r>
                        <a:rPr lang="en-US" altLang="ko-KR" sz="1400" dirty="0"/>
                        <a:t>Gen=0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Alive = true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01962"/>
                  </a:ext>
                </a:extLst>
              </a:tr>
            </a:tbl>
          </a:graphicData>
        </a:graphic>
      </p:graphicFrame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3323A975-082C-C391-1CC4-4A12402CDF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8112638"/>
              </p:ext>
            </p:extLst>
          </p:nvPr>
        </p:nvGraphicFramePr>
        <p:xfrm>
          <a:off x="6345185" y="2161153"/>
          <a:ext cx="135466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400381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01962"/>
                  </a:ext>
                </a:extLst>
              </a:tr>
            </a:tbl>
          </a:graphicData>
        </a:graphic>
      </p:graphicFrame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868811FD-E2AB-F0CD-AA9E-95B4F1D8B2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1521524"/>
              </p:ext>
            </p:extLst>
          </p:nvPr>
        </p:nvGraphicFramePr>
        <p:xfrm>
          <a:off x="8789825" y="4023992"/>
          <a:ext cx="135466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400381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DIndex=2</a:t>
                      </a:r>
                    </a:p>
                    <a:p>
                      <a:pPr latinLnBrk="1"/>
                      <a:r>
                        <a:rPr lang="en-US" altLang="ko-KR" sz="1400" dirty="0"/>
                        <a:t>Gen=0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Alive = true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01962"/>
                  </a:ext>
                </a:extLst>
              </a:tr>
            </a:tbl>
          </a:graphicData>
        </a:graphic>
      </p:graphicFrame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B96042C2-F85E-9A02-A337-D91F39689B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4904648"/>
              </p:ext>
            </p:extLst>
          </p:nvPr>
        </p:nvGraphicFramePr>
        <p:xfrm>
          <a:off x="8789825" y="2171182"/>
          <a:ext cx="135466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400381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01962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A67E52D1-B7A5-E8CB-E3B6-085B8D22D302}"/>
              </a:ext>
            </a:extLst>
          </p:cNvPr>
          <p:cNvSpPr txBox="1"/>
          <p:nvPr/>
        </p:nvSpPr>
        <p:spPr>
          <a:xfrm>
            <a:off x="3080310" y="5995152"/>
            <a:ext cx="19046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/>
              <a:t>Handle.Sindex</a:t>
            </a:r>
            <a:r>
              <a:rPr lang="en-US" altLang="ko-KR" sz="1400" dirty="0"/>
              <a:t>=0</a:t>
            </a:r>
          </a:p>
          <a:p>
            <a:r>
              <a:rPr lang="en-US" altLang="ko-KR" sz="1400" dirty="0" err="1"/>
              <a:t>Handle.generation</a:t>
            </a:r>
            <a:r>
              <a:rPr lang="en-US" altLang="ko-KR" sz="1400" dirty="0"/>
              <a:t>=0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36F0BF6-C9D4-BF6F-C2D1-40885455FA6D}"/>
              </a:ext>
            </a:extLst>
          </p:cNvPr>
          <p:cNvSpPr txBox="1"/>
          <p:nvPr/>
        </p:nvSpPr>
        <p:spPr>
          <a:xfrm>
            <a:off x="342216" y="2958856"/>
            <a:ext cx="2531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vector&lt;int&gt; </a:t>
            </a:r>
            <a:r>
              <a:rPr lang="en-US" altLang="ko-KR" dirty="0" err="1"/>
              <a:t>denToSlot</a:t>
            </a:r>
            <a:endParaRPr lang="ko-KR" altLang="en-US" dirty="0"/>
          </a:p>
        </p:txBody>
      </p: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916C4EDB-4DC6-937A-9706-A59AC99CE1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9627510"/>
              </p:ext>
            </p:extLst>
          </p:nvPr>
        </p:nvGraphicFramePr>
        <p:xfrm>
          <a:off x="3170629" y="2957348"/>
          <a:ext cx="135466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400381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01962"/>
                  </a:ext>
                </a:extLst>
              </a:tr>
            </a:tbl>
          </a:graphicData>
        </a:graphic>
      </p:graphicFrame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4406C03F-AD1F-03A1-C1C5-F34D34E2FF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9255096"/>
              </p:ext>
            </p:extLst>
          </p:nvPr>
        </p:nvGraphicFramePr>
        <p:xfrm>
          <a:off x="6345185" y="2977209"/>
          <a:ext cx="135466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400381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01962"/>
                  </a:ext>
                </a:extLst>
              </a:tr>
            </a:tbl>
          </a:graphicData>
        </a:graphic>
      </p:graphicFrame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4DE27C4D-FB9D-158D-E541-D9149A6CE1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3665437"/>
              </p:ext>
            </p:extLst>
          </p:nvPr>
        </p:nvGraphicFramePr>
        <p:xfrm>
          <a:off x="8789825" y="2987238"/>
          <a:ext cx="135466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400381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01962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0C705A57-D767-D15E-4D42-198107383554}"/>
              </a:ext>
            </a:extLst>
          </p:cNvPr>
          <p:cNvSpPr txBox="1"/>
          <p:nvPr/>
        </p:nvSpPr>
        <p:spPr>
          <a:xfrm>
            <a:off x="6096000" y="5995152"/>
            <a:ext cx="19046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/>
              <a:t>Handle.Sindex</a:t>
            </a:r>
            <a:r>
              <a:rPr lang="en-US" altLang="ko-KR" sz="1400" dirty="0"/>
              <a:t>=1</a:t>
            </a:r>
          </a:p>
          <a:p>
            <a:r>
              <a:rPr lang="en-US" altLang="ko-KR" sz="1400" dirty="0" err="1"/>
              <a:t>Handle.generation</a:t>
            </a:r>
            <a:r>
              <a:rPr lang="en-US" altLang="ko-KR" sz="1400" dirty="0"/>
              <a:t>=0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5029F25-8B6A-4EB7-FF91-5C0470336766}"/>
              </a:ext>
            </a:extLst>
          </p:cNvPr>
          <p:cNvSpPr txBox="1"/>
          <p:nvPr/>
        </p:nvSpPr>
        <p:spPr>
          <a:xfrm>
            <a:off x="8648035" y="5995152"/>
            <a:ext cx="19046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/>
              <a:t>Handle.Sindex</a:t>
            </a:r>
            <a:r>
              <a:rPr lang="en-US" altLang="ko-KR" sz="1400" dirty="0"/>
              <a:t>=2</a:t>
            </a:r>
          </a:p>
          <a:p>
            <a:r>
              <a:rPr lang="en-US" altLang="ko-KR" sz="1400" dirty="0" err="1"/>
              <a:t>Handle.generation</a:t>
            </a:r>
            <a:r>
              <a:rPr lang="en-US" altLang="ko-KR" sz="1400" dirty="0"/>
              <a:t>=0</a:t>
            </a: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AC4245B8-09DC-BB0E-70E1-8F23BA3E39CB}"/>
              </a:ext>
            </a:extLst>
          </p:cNvPr>
          <p:cNvCxnSpPr>
            <a:cxnSpLocks/>
          </p:cNvCxnSpPr>
          <p:nvPr/>
        </p:nvCxnSpPr>
        <p:spPr>
          <a:xfrm flipV="1">
            <a:off x="1275729" y="4868972"/>
            <a:ext cx="553071" cy="1221092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688B08F6-4EE4-CFC7-C3C8-8CF0384B7BCB}"/>
              </a:ext>
            </a:extLst>
          </p:cNvPr>
          <p:cNvSpPr txBox="1"/>
          <p:nvPr/>
        </p:nvSpPr>
        <p:spPr>
          <a:xfrm>
            <a:off x="265777" y="5143761"/>
            <a:ext cx="2298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vector&lt;int&gt; </a:t>
            </a:r>
            <a:r>
              <a:rPr lang="en-US" altLang="ko-KR" dirty="0" err="1"/>
              <a:t>freeSlot</a:t>
            </a:r>
            <a:endParaRPr lang="ko-KR" alt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DA67849-7589-1E03-BFCE-3EBA34124DEF}"/>
              </a:ext>
            </a:extLst>
          </p:cNvPr>
          <p:cNvSpPr txBox="1"/>
          <p:nvPr/>
        </p:nvSpPr>
        <p:spPr>
          <a:xfrm>
            <a:off x="2838752" y="5226731"/>
            <a:ext cx="4224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ⓐ </a:t>
            </a:r>
            <a:r>
              <a:rPr lang="ko-KR" altLang="en-US" dirty="0" err="1"/>
              <a:t>프리슬롯을</a:t>
            </a:r>
            <a:r>
              <a:rPr lang="ko-KR" altLang="en-US" dirty="0"/>
              <a:t> 확인후 없으면  </a:t>
            </a:r>
            <a:r>
              <a:rPr lang="en-US" altLang="ko-KR" dirty="0"/>
              <a:t>Slot</a:t>
            </a:r>
            <a:r>
              <a:rPr lang="ko-KR" altLang="en-US" dirty="0"/>
              <a:t>추가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E45D6EF-6FEE-A10F-1E0F-9DC1DA5E9635}"/>
              </a:ext>
            </a:extLst>
          </p:cNvPr>
          <p:cNvSpPr txBox="1"/>
          <p:nvPr/>
        </p:nvSpPr>
        <p:spPr>
          <a:xfrm>
            <a:off x="3743200" y="1724856"/>
            <a:ext cx="4281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ⓑ </a:t>
            </a:r>
            <a:r>
              <a:rPr lang="en-US" altLang="ko-KR" dirty="0" err="1"/>
              <a:t>dense,denseToSlot</a:t>
            </a:r>
            <a:r>
              <a:rPr lang="ko-KR" altLang="en-US" dirty="0"/>
              <a:t>은 항상 뒤에 추가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D0431AE-35DC-B083-182A-4F0DB680E119}"/>
              </a:ext>
            </a:extLst>
          </p:cNvPr>
          <p:cNvSpPr txBox="1"/>
          <p:nvPr/>
        </p:nvSpPr>
        <p:spPr>
          <a:xfrm>
            <a:off x="3638004" y="3558882"/>
            <a:ext cx="40959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ⓒ 추가한 슬롯에 </a:t>
            </a:r>
            <a:r>
              <a:rPr lang="en-US" altLang="ko-KR" dirty="0" err="1"/>
              <a:t>Dindex</a:t>
            </a:r>
            <a:r>
              <a:rPr lang="en-US" altLang="ko-KR" dirty="0"/>
              <a:t>, </a:t>
            </a:r>
            <a:r>
              <a:rPr lang="ko-KR" altLang="en-US" dirty="0"/>
              <a:t>유효성 </a:t>
            </a:r>
            <a:r>
              <a:rPr lang="en-US" altLang="ko-KR" dirty="0"/>
              <a:t>true</a:t>
            </a:r>
            <a:endParaRPr lang="ko-KR" alt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D731889-CB3C-A87D-C1BE-557AED1933B5}"/>
              </a:ext>
            </a:extLst>
          </p:cNvPr>
          <p:cNvSpPr txBox="1"/>
          <p:nvPr/>
        </p:nvSpPr>
        <p:spPr>
          <a:xfrm>
            <a:off x="505321" y="1890807"/>
            <a:ext cx="23487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연속된 데이터를 저장하는 배열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375A7CF-EA6A-85B4-D24D-EAE249335524}"/>
              </a:ext>
            </a:extLst>
          </p:cNvPr>
          <p:cNvSpPr txBox="1"/>
          <p:nvPr/>
        </p:nvSpPr>
        <p:spPr>
          <a:xfrm>
            <a:off x="30303" y="2753593"/>
            <a:ext cx="25330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데이터가 사용하는 </a:t>
            </a:r>
            <a:r>
              <a:rPr lang="en-US" altLang="ko-KR" sz="1200" dirty="0" err="1"/>
              <a:t>SlotIndex</a:t>
            </a:r>
            <a:r>
              <a:rPr lang="en-US" altLang="ko-KR" sz="1200" dirty="0"/>
              <a:t> </a:t>
            </a:r>
            <a:r>
              <a:rPr lang="ko-KR" altLang="en-US" sz="1200" dirty="0"/>
              <a:t>저장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5DBF275-B45F-2924-C5FE-F9AE84E37FBB}"/>
              </a:ext>
            </a:extLst>
          </p:cNvPr>
          <p:cNvSpPr txBox="1"/>
          <p:nvPr/>
        </p:nvSpPr>
        <p:spPr>
          <a:xfrm>
            <a:off x="370940" y="4997457"/>
            <a:ext cx="21707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/>
              <a:t>사용하지않는</a:t>
            </a:r>
            <a:r>
              <a:rPr lang="ko-KR" altLang="en-US" sz="1200" dirty="0"/>
              <a:t> </a:t>
            </a:r>
            <a:r>
              <a:rPr lang="en-US" altLang="ko-KR" sz="1200" dirty="0" err="1"/>
              <a:t>SlotIndex</a:t>
            </a:r>
            <a:r>
              <a:rPr lang="en-US" altLang="ko-KR" sz="1200" dirty="0"/>
              <a:t> </a:t>
            </a:r>
            <a:r>
              <a:rPr lang="ko-KR" altLang="en-US" sz="1200" dirty="0"/>
              <a:t>저장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D958F2A-1EEF-4BEE-DFE4-600049594B37}"/>
              </a:ext>
            </a:extLst>
          </p:cNvPr>
          <p:cNvSpPr txBox="1"/>
          <p:nvPr/>
        </p:nvSpPr>
        <p:spPr>
          <a:xfrm>
            <a:off x="1341813" y="3690797"/>
            <a:ext cx="1595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슬롯과</a:t>
            </a:r>
            <a:r>
              <a:rPr lang="en-US" altLang="ko-KR" sz="1200" dirty="0"/>
              <a:t> </a:t>
            </a:r>
            <a:r>
              <a:rPr lang="ko-KR" altLang="en-US" sz="1200" dirty="0"/>
              <a:t>연결된 </a:t>
            </a:r>
            <a:r>
              <a:rPr lang="en-US" altLang="ko-KR" sz="1200" dirty="0"/>
              <a:t>Index</a:t>
            </a:r>
            <a:endParaRPr lang="ko-KR" altLang="en-US" sz="12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420EDA6-274B-F716-1FDB-EF09DE94138C}"/>
              </a:ext>
            </a:extLst>
          </p:cNvPr>
          <p:cNvSpPr txBox="1"/>
          <p:nvPr/>
        </p:nvSpPr>
        <p:spPr>
          <a:xfrm>
            <a:off x="1645900" y="3907780"/>
            <a:ext cx="13163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슬롯의 세대정보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3923327-D0D7-16A7-0C29-9E8ACD4C4C77}"/>
              </a:ext>
            </a:extLst>
          </p:cNvPr>
          <p:cNvSpPr txBox="1"/>
          <p:nvPr/>
        </p:nvSpPr>
        <p:spPr>
          <a:xfrm>
            <a:off x="1522366" y="4134601"/>
            <a:ext cx="15247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슬롯의 유효성 상태</a:t>
            </a:r>
          </a:p>
        </p:txBody>
      </p:sp>
    </p:spTree>
    <p:extLst>
      <p:ext uri="{BB962C8B-B14F-4D97-AF65-F5344CB8AC3E}">
        <p14:creationId xmlns:p14="http://schemas.microsoft.com/office/powerpoint/2010/main" val="3601348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7E4289-67A1-E416-F23F-B066D920F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Erase</a:t>
            </a:r>
            <a:endParaRPr lang="ko-KR" altLang="en-US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35F2495-7267-4609-F599-6A02DB2D0E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3149093"/>
              </p:ext>
            </p:extLst>
          </p:nvPr>
        </p:nvGraphicFramePr>
        <p:xfrm>
          <a:off x="2658097" y="3949501"/>
          <a:ext cx="135466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400381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DIndex=0</a:t>
                      </a:r>
                    </a:p>
                    <a:p>
                      <a:pPr latinLnBrk="1"/>
                      <a:r>
                        <a:rPr lang="en-US" altLang="ko-KR" sz="1400" dirty="0"/>
                        <a:t>Gen=0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Alive = true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01962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0EEDCA8-C991-E338-4274-76EBF88496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13190"/>
              </p:ext>
            </p:extLst>
          </p:nvPr>
        </p:nvGraphicFramePr>
        <p:xfrm>
          <a:off x="2619539" y="2793400"/>
          <a:ext cx="135466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400381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01962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12C76DC-7B71-0FC3-88D1-8C9AC699D5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105236"/>
              </p:ext>
            </p:extLst>
          </p:nvPr>
        </p:nvGraphicFramePr>
        <p:xfrm>
          <a:off x="4055990" y="3949502"/>
          <a:ext cx="135466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400381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DIndex=1</a:t>
                      </a:r>
                    </a:p>
                    <a:p>
                      <a:pPr latinLnBrk="1"/>
                      <a:r>
                        <a:rPr lang="en-US" altLang="ko-KR" sz="1400" dirty="0"/>
                        <a:t>Gen=0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Alive = true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01962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B4853499-119E-4340-990A-F97E49D54C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2544664"/>
              </p:ext>
            </p:extLst>
          </p:nvPr>
        </p:nvGraphicFramePr>
        <p:xfrm>
          <a:off x="4017432" y="2793401"/>
          <a:ext cx="135466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400381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01962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C6742AB-7BAA-2690-7F37-AE9F856A9F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6545218"/>
              </p:ext>
            </p:extLst>
          </p:nvPr>
        </p:nvGraphicFramePr>
        <p:xfrm>
          <a:off x="5453883" y="3949501"/>
          <a:ext cx="135466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400381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DIndex=2</a:t>
                      </a:r>
                    </a:p>
                    <a:p>
                      <a:pPr latinLnBrk="1"/>
                      <a:r>
                        <a:rPr lang="en-US" altLang="ko-KR" sz="1400" dirty="0"/>
                        <a:t>Gen=0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Alive = true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01962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7AB6A5E1-6E06-1E1E-E502-54E90D5F5C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6803237"/>
              </p:ext>
            </p:extLst>
          </p:nvPr>
        </p:nvGraphicFramePr>
        <p:xfrm>
          <a:off x="5415325" y="2793400"/>
          <a:ext cx="135466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400381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01962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660F8C77-3ADB-C01E-A7CE-74D4D2673E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0839234"/>
              </p:ext>
            </p:extLst>
          </p:nvPr>
        </p:nvGraphicFramePr>
        <p:xfrm>
          <a:off x="7350982" y="3909582"/>
          <a:ext cx="135466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400381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DIndex=0</a:t>
                      </a: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Gen=1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Alive = false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01962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25009FF-B0D0-2884-B8A9-58772AC912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4211323"/>
              </p:ext>
            </p:extLst>
          </p:nvPr>
        </p:nvGraphicFramePr>
        <p:xfrm>
          <a:off x="7312424" y="2753481"/>
          <a:ext cx="135466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400381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01962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F1A17077-E5E0-0CA7-8C45-4BC7AC6FB1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2422540"/>
              </p:ext>
            </p:extLst>
          </p:nvPr>
        </p:nvGraphicFramePr>
        <p:xfrm>
          <a:off x="8748875" y="3909582"/>
          <a:ext cx="135466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400381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DIndex=1</a:t>
                      </a:r>
                    </a:p>
                    <a:p>
                      <a:pPr latinLnBrk="1"/>
                      <a:r>
                        <a:rPr lang="en-US" altLang="ko-KR" sz="1400" dirty="0"/>
                        <a:t>Gen=0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Alive = true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01962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EB3E7FA5-2739-58B5-416E-5FF925CFD4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0211233"/>
              </p:ext>
            </p:extLst>
          </p:nvPr>
        </p:nvGraphicFramePr>
        <p:xfrm>
          <a:off x="8710317" y="2753482"/>
          <a:ext cx="135466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400381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01962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CBCEE537-2B09-DDF6-5282-8D43116683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6398157"/>
              </p:ext>
            </p:extLst>
          </p:nvPr>
        </p:nvGraphicFramePr>
        <p:xfrm>
          <a:off x="10146768" y="3909582"/>
          <a:ext cx="135466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400381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>
                          <a:solidFill>
                            <a:srgbClr val="FF0000"/>
                          </a:solidFill>
                        </a:rPr>
                        <a:t>DIndex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=0</a:t>
                      </a:r>
                    </a:p>
                    <a:p>
                      <a:pPr latinLnBrk="1"/>
                      <a:r>
                        <a:rPr lang="en-US" altLang="ko-KR" sz="1400" dirty="0"/>
                        <a:t>Gen=0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Alive = true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01962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AABE6434-50AC-ECAA-AC73-A92A91719A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737019"/>
              </p:ext>
            </p:extLst>
          </p:nvPr>
        </p:nvGraphicFramePr>
        <p:xfrm>
          <a:off x="10108210" y="2753481"/>
          <a:ext cx="135466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400381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T3</a:t>
                      </a:r>
                      <a:endParaRPr lang="ko-KR" altLang="en-US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01962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396CBE57-3F5B-76CB-049F-47CE80B990FD}"/>
              </a:ext>
            </a:extLst>
          </p:cNvPr>
          <p:cNvSpPr txBox="1"/>
          <p:nvPr/>
        </p:nvSpPr>
        <p:spPr>
          <a:xfrm>
            <a:off x="2531206" y="1732249"/>
            <a:ext cx="19046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/>
              <a:t>Handle.Sindex</a:t>
            </a:r>
            <a:r>
              <a:rPr lang="en-US" altLang="ko-KR" sz="1400" dirty="0"/>
              <a:t>=0</a:t>
            </a:r>
          </a:p>
          <a:p>
            <a:r>
              <a:rPr lang="en-US" altLang="ko-KR" sz="1400" dirty="0" err="1"/>
              <a:t>Handle.generation</a:t>
            </a:r>
            <a:r>
              <a:rPr lang="en-US" altLang="ko-KR" sz="1400" dirty="0"/>
              <a:t>=0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3FF46F-6EBC-5BB3-C42E-8B0ACF9BBECB}"/>
              </a:ext>
            </a:extLst>
          </p:cNvPr>
          <p:cNvSpPr txBox="1"/>
          <p:nvPr/>
        </p:nvSpPr>
        <p:spPr>
          <a:xfrm>
            <a:off x="10534211" y="2384149"/>
            <a:ext cx="1387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pop_back</a:t>
            </a:r>
            <a:r>
              <a:rPr lang="en-US" altLang="ko-K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  <a:endParaRPr lang="ko-KR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" name="원호 20">
            <a:extLst>
              <a:ext uri="{FF2B5EF4-FFF2-40B4-BE49-F238E27FC236}">
                <a16:creationId xmlns:a16="http://schemas.microsoft.com/office/drawing/2014/main" id="{1E13601D-7681-179E-01C2-E8A7F4C3E0B8}"/>
              </a:ext>
            </a:extLst>
          </p:cNvPr>
          <p:cNvSpPr/>
          <p:nvPr/>
        </p:nvSpPr>
        <p:spPr>
          <a:xfrm rot="19542488">
            <a:off x="8252855" y="2451096"/>
            <a:ext cx="2048749" cy="1842984"/>
          </a:xfrm>
          <a:prstGeom prst="arc">
            <a:avLst>
              <a:gd name="adj1" fmla="val 14967625"/>
              <a:gd name="adj2" fmla="val 240241"/>
            </a:avLst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1F97233F-2785-FA9F-A000-5C336437A7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246306"/>
              </p:ext>
            </p:extLst>
          </p:nvPr>
        </p:nvGraphicFramePr>
        <p:xfrm>
          <a:off x="7312424" y="3433308"/>
          <a:ext cx="135466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400381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01962"/>
                  </a:ext>
                </a:extLst>
              </a:tr>
            </a:tbl>
          </a:graphicData>
        </a:graphic>
      </p:graphicFrame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E5B8EB2E-4CB7-2E5A-8581-C9962BA0D4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8665297"/>
              </p:ext>
            </p:extLst>
          </p:nvPr>
        </p:nvGraphicFramePr>
        <p:xfrm>
          <a:off x="8710317" y="3402939"/>
          <a:ext cx="1354667" cy="391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400381114"/>
                    </a:ext>
                  </a:extLst>
                </a:gridCol>
              </a:tblGrid>
              <a:tr h="3911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01962"/>
                  </a:ext>
                </a:extLst>
              </a:tr>
            </a:tbl>
          </a:graphicData>
        </a:graphic>
      </p:graphicFrame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FE5A743B-948B-F0DA-448D-FE40B6F9B3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3982583"/>
              </p:ext>
            </p:extLst>
          </p:nvPr>
        </p:nvGraphicFramePr>
        <p:xfrm>
          <a:off x="10108210" y="3433308"/>
          <a:ext cx="135466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400381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01962"/>
                  </a:ext>
                </a:extLst>
              </a:tr>
            </a:tbl>
          </a:graphicData>
        </a:graphic>
      </p:graphicFrame>
      <p:sp>
        <p:nvSpPr>
          <p:cNvPr id="25" name="원호 24">
            <a:extLst>
              <a:ext uri="{FF2B5EF4-FFF2-40B4-BE49-F238E27FC236}">
                <a16:creationId xmlns:a16="http://schemas.microsoft.com/office/drawing/2014/main" id="{B8974D2D-8645-5E83-171A-78A0702BD0B0}"/>
              </a:ext>
            </a:extLst>
          </p:cNvPr>
          <p:cNvSpPr/>
          <p:nvPr/>
        </p:nvSpPr>
        <p:spPr>
          <a:xfrm rot="19577638">
            <a:off x="8302320" y="3164358"/>
            <a:ext cx="2073833" cy="2052718"/>
          </a:xfrm>
          <a:prstGeom prst="arc">
            <a:avLst>
              <a:gd name="adj1" fmla="val 14967625"/>
              <a:gd name="adj2" fmla="val 0"/>
            </a:avLst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95FC0437-6FCF-8F6E-B3BD-63D7478F23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9576616"/>
              </p:ext>
            </p:extLst>
          </p:nvPr>
        </p:nvGraphicFramePr>
        <p:xfrm>
          <a:off x="2619539" y="3433308"/>
          <a:ext cx="135466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400381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01962"/>
                  </a:ext>
                </a:extLst>
              </a:tr>
            </a:tbl>
          </a:graphicData>
        </a:graphic>
      </p:graphicFrame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71A83E58-08B7-F90F-394D-A9AB14BDBE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5458317"/>
              </p:ext>
            </p:extLst>
          </p:nvPr>
        </p:nvGraphicFramePr>
        <p:xfrm>
          <a:off x="4012764" y="3437286"/>
          <a:ext cx="135466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400381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01962"/>
                  </a:ext>
                </a:extLst>
              </a:tr>
            </a:tbl>
          </a:graphicData>
        </a:graphic>
      </p:graphicFrame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C106442E-8600-C387-0043-5A6FAF8423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3140980"/>
              </p:ext>
            </p:extLst>
          </p:nvPr>
        </p:nvGraphicFramePr>
        <p:xfrm>
          <a:off x="5415325" y="3433308"/>
          <a:ext cx="135466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400381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01962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83B2B0B9-01C8-95C2-7B4F-E9A10454FEE1}"/>
              </a:ext>
            </a:extLst>
          </p:cNvPr>
          <p:cNvSpPr txBox="1"/>
          <p:nvPr/>
        </p:nvSpPr>
        <p:spPr>
          <a:xfrm>
            <a:off x="176434" y="2700085"/>
            <a:ext cx="1973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vector&lt;T&gt; dense</a:t>
            </a:r>
            <a:endParaRPr lang="ko-KR" alt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F5BAD15-C39F-385C-8B06-5EEF5EF63C70}"/>
              </a:ext>
            </a:extLst>
          </p:cNvPr>
          <p:cNvSpPr txBox="1"/>
          <p:nvPr/>
        </p:nvSpPr>
        <p:spPr>
          <a:xfrm>
            <a:off x="111513" y="3978931"/>
            <a:ext cx="2103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vector&lt;Slot&gt; slots</a:t>
            </a:r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B7B2447-56A7-C2CC-8C25-0AB31359AC78}"/>
              </a:ext>
            </a:extLst>
          </p:cNvPr>
          <p:cNvSpPr txBox="1"/>
          <p:nvPr/>
        </p:nvSpPr>
        <p:spPr>
          <a:xfrm>
            <a:off x="0" y="3372588"/>
            <a:ext cx="2531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vector&lt;int&gt; </a:t>
            </a:r>
            <a:r>
              <a:rPr lang="en-US" altLang="ko-KR" dirty="0" err="1"/>
              <a:t>denToSlot</a:t>
            </a:r>
            <a:endParaRPr lang="ko-KR" alt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B1CEC47-1E9F-7486-3C2A-8EBEB7750B6E}"/>
              </a:ext>
            </a:extLst>
          </p:cNvPr>
          <p:cNvSpPr txBox="1"/>
          <p:nvPr/>
        </p:nvSpPr>
        <p:spPr>
          <a:xfrm>
            <a:off x="111513" y="5071540"/>
            <a:ext cx="2298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vector&lt;int&gt; </a:t>
            </a:r>
            <a:r>
              <a:rPr lang="en-US" altLang="ko-KR" dirty="0" err="1"/>
              <a:t>freeSlot</a:t>
            </a:r>
            <a:endParaRPr lang="ko-KR" altLang="en-US" dirty="0"/>
          </a:p>
        </p:txBody>
      </p:sp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C5945722-6FB3-4989-AE56-862DAB8F6D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6854134"/>
              </p:ext>
            </p:extLst>
          </p:nvPr>
        </p:nvGraphicFramePr>
        <p:xfrm>
          <a:off x="7360228" y="5069986"/>
          <a:ext cx="135466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400381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01962"/>
                  </a:ext>
                </a:extLst>
              </a:tr>
            </a:tbl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D72B4338-013B-1001-F5E7-A6F7895D23C0}"/>
              </a:ext>
            </a:extLst>
          </p:cNvPr>
          <p:cNvSpPr txBox="1"/>
          <p:nvPr/>
        </p:nvSpPr>
        <p:spPr>
          <a:xfrm>
            <a:off x="2726342" y="5859154"/>
            <a:ext cx="8626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슬롯은 </a:t>
            </a:r>
            <a:r>
              <a:rPr lang="en-US" altLang="ko-KR" dirty="0">
                <a:solidFill>
                  <a:srgbClr val="FF0000"/>
                </a:solidFill>
              </a:rPr>
              <a:t>3</a:t>
            </a:r>
            <a:r>
              <a:rPr lang="ko-KR" altLang="en-US" dirty="0">
                <a:solidFill>
                  <a:srgbClr val="FF0000"/>
                </a:solidFill>
              </a:rPr>
              <a:t>개지만 </a:t>
            </a:r>
            <a:r>
              <a:rPr lang="en-US" altLang="ko-KR" dirty="0">
                <a:solidFill>
                  <a:srgbClr val="FF0000"/>
                </a:solidFill>
              </a:rPr>
              <a:t>0</a:t>
            </a:r>
            <a:r>
              <a:rPr lang="ko-KR" altLang="en-US" dirty="0">
                <a:solidFill>
                  <a:srgbClr val="FF0000"/>
                </a:solidFill>
              </a:rPr>
              <a:t>번이 </a:t>
            </a:r>
            <a:r>
              <a:rPr lang="ko-KR" altLang="en-US" dirty="0" err="1">
                <a:solidFill>
                  <a:srgbClr val="FF0000"/>
                </a:solidFill>
              </a:rPr>
              <a:t>유효하지않음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지운 후 같은 핸들로 접근 하면 세대가 다름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5B04F4B-1C21-08D8-049F-64D56C8066CD}"/>
              </a:ext>
            </a:extLst>
          </p:cNvPr>
          <p:cNvSpPr txBox="1"/>
          <p:nvPr/>
        </p:nvSpPr>
        <p:spPr>
          <a:xfrm>
            <a:off x="10508346" y="3077499"/>
            <a:ext cx="1387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pop_back</a:t>
            </a:r>
            <a:r>
              <a:rPr lang="en-US" altLang="ko-K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  <a:endParaRPr lang="ko-KR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8C3C836-5A76-B5C0-D619-752274391A7C}"/>
              </a:ext>
            </a:extLst>
          </p:cNvPr>
          <p:cNvSpPr txBox="1"/>
          <p:nvPr/>
        </p:nvSpPr>
        <p:spPr>
          <a:xfrm>
            <a:off x="4408095" y="1772159"/>
            <a:ext cx="1526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ⓐ 유효한가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971B0A-4FA2-A7ED-3C47-5DD8508A5878}"/>
              </a:ext>
            </a:extLst>
          </p:cNvPr>
          <p:cNvSpPr txBox="1"/>
          <p:nvPr/>
        </p:nvSpPr>
        <p:spPr>
          <a:xfrm>
            <a:off x="9245023" y="1956825"/>
            <a:ext cx="28504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ⓑ </a:t>
            </a:r>
            <a:r>
              <a:rPr lang="en-US" altLang="ko-KR" dirty="0"/>
              <a:t>swap-pop</a:t>
            </a:r>
            <a:r>
              <a:rPr lang="ko-KR" altLang="en-US" dirty="0"/>
              <a:t> 방식 지우기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91E43B6-9033-D6D8-F388-7502590AA479}"/>
              </a:ext>
            </a:extLst>
          </p:cNvPr>
          <p:cNvSpPr txBox="1"/>
          <p:nvPr/>
        </p:nvSpPr>
        <p:spPr>
          <a:xfrm>
            <a:off x="7683751" y="4602919"/>
            <a:ext cx="3748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ⓑ </a:t>
            </a:r>
            <a:r>
              <a:rPr lang="en-US" altLang="ko-KR" dirty="0"/>
              <a:t>slot </a:t>
            </a:r>
            <a:r>
              <a:rPr lang="ko-KR" altLang="en-US" dirty="0"/>
              <a:t>의 세대증가와 유효성 </a:t>
            </a:r>
            <a:r>
              <a:rPr lang="en-US" altLang="ko-KR" dirty="0"/>
              <a:t>false</a:t>
            </a:r>
            <a:endParaRPr lang="ko-KR" alt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F4622E8-996E-DDC4-24E3-287DDA84E05E}"/>
              </a:ext>
            </a:extLst>
          </p:cNvPr>
          <p:cNvSpPr txBox="1"/>
          <p:nvPr/>
        </p:nvSpPr>
        <p:spPr>
          <a:xfrm>
            <a:off x="7989757" y="5484161"/>
            <a:ext cx="35942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ⓒ 재활용 가능한 슬롯 목록 추가</a:t>
            </a:r>
          </a:p>
        </p:txBody>
      </p:sp>
    </p:spTree>
    <p:extLst>
      <p:ext uri="{BB962C8B-B14F-4D97-AF65-F5344CB8AC3E}">
        <p14:creationId xmlns:p14="http://schemas.microsoft.com/office/powerpoint/2010/main" val="2713851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A5FAE7-3C2D-D21C-C5DA-51D3E8DC5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FreeSlot</a:t>
            </a:r>
            <a:r>
              <a:rPr lang="ko-KR" altLang="en-US" dirty="0"/>
              <a:t> 재활용하는 </a:t>
            </a:r>
            <a:r>
              <a:rPr lang="en-US" altLang="ko-KR" dirty="0"/>
              <a:t>Insert</a:t>
            </a:r>
            <a:endParaRPr lang="ko-KR" altLang="en-US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D6045DF-BCC4-20BD-3061-8D02E25C4B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2720672"/>
              </p:ext>
            </p:extLst>
          </p:nvPr>
        </p:nvGraphicFramePr>
        <p:xfrm>
          <a:off x="2749669" y="3500412"/>
          <a:ext cx="135466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400381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DIndex=0</a:t>
                      </a: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chemeClr val="bg1"/>
                          </a:solidFill>
                        </a:rPr>
                        <a:t>Gen=1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bg1"/>
                          </a:solidFill>
                        </a:rPr>
                        <a:t>Alive = false</a:t>
                      </a:r>
                      <a:endParaRPr lang="ko-KR" alt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01962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4B6F5FB-9886-5438-D405-7F5C44D12F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8307825"/>
              </p:ext>
            </p:extLst>
          </p:nvPr>
        </p:nvGraphicFramePr>
        <p:xfrm>
          <a:off x="2749669" y="2226747"/>
          <a:ext cx="135466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400381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01962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0A62D38-3CE1-B687-7BD7-777FAEA459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2760650"/>
              </p:ext>
            </p:extLst>
          </p:nvPr>
        </p:nvGraphicFramePr>
        <p:xfrm>
          <a:off x="4147562" y="3500412"/>
          <a:ext cx="135466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400381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DIndex=1</a:t>
                      </a:r>
                    </a:p>
                    <a:p>
                      <a:pPr latinLnBrk="1"/>
                      <a:r>
                        <a:rPr lang="en-US" altLang="ko-KR" sz="1400" dirty="0"/>
                        <a:t>Gen=0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Alive = true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01962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72068E5-B875-834B-87C3-F4E93D154D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3829163"/>
              </p:ext>
            </p:extLst>
          </p:nvPr>
        </p:nvGraphicFramePr>
        <p:xfrm>
          <a:off x="4147562" y="2226748"/>
          <a:ext cx="135466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400381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01962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B54DD6E9-D5A4-5688-6B98-B3215B5AA2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215207"/>
              </p:ext>
            </p:extLst>
          </p:nvPr>
        </p:nvGraphicFramePr>
        <p:xfrm>
          <a:off x="5545455" y="3500412"/>
          <a:ext cx="135466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400381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DIndex=2</a:t>
                      </a:r>
                    </a:p>
                    <a:p>
                      <a:pPr latinLnBrk="1"/>
                      <a:r>
                        <a:rPr lang="en-US" altLang="ko-KR" sz="1400" dirty="0"/>
                        <a:t>Gen=0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Alive = true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01962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E48D0BF4-465D-9991-8D46-BD2EFEE237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4525859"/>
              </p:ext>
            </p:extLst>
          </p:nvPr>
        </p:nvGraphicFramePr>
        <p:xfrm>
          <a:off x="5545455" y="2226747"/>
          <a:ext cx="135466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400381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T3</a:t>
                      </a:r>
                      <a:endParaRPr lang="ko-KR" altLang="en-US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01962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2A642C04-FF15-3DA6-9446-9D765C5E03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8916645"/>
              </p:ext>
            </p:extLst>
          </p:nvPr>
        </p:nvGraphicFramePr>
        <p:xfrm>
          <a:off x="2756854" y="2752234"/>
          <a:ext cx="135466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400381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01962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B258293A-FEBA-D8E4-B75B-5F9CE5228C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328970"/>
              </p:ext>
            </p:extLst>
          </p:nvPr>
        </p:nvGraphicFramePr>
        <p:xfrm>
          <a:off x="4154747" y="2721865"/>
          <a:ext cx="1354667" cy="391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400381114"/>
                    </a:ext>
                  </a:extLst>
                </a:gridCol>
              </a:tblGrid>
              <a:tr h="3911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01962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7AA10AD4-4683-5B5D-FBA5-7FD2576FBA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865987"/>
              </p:ext>
            </p:extLst>
          </p:nvPr>
        </p:nvGraphicFramePr>
        <p:xfrm>
          <a:off x="5552640" y="2752234"/>
          <a:ext cx="135466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400381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0196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3A8A9316-B789-A457-B6D0-E4070899A3B0}"/>
              </a:ext>
            </a:extLst>
          </p:cNvPr>
          <p:cNvSpPr txBox="1"/>
          <p:nvPr/>
        </p:nvSpPr>
        <p:spPr>
          <a:xfrm>
            <a:off x="128676" y="2187435"/>
            <a:ext cx="1973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vector&lt;T&gt; dense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B78557-E27D-9B10-073B-AAE22265566F}"/>
              </a:ext>
            </a:extLst>
          </p:cNvPr>
          <p:cNvSpPr txBox="1"/>
          <p:nvPr/>
        </p:nvSpPr>
        <p:spPr>
          <a:xfrm>
            <a:off x="179304" y="3546620"/>
            <a:ext cx="2103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vector&lt;Slot&gt; slots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E21C18-3D70-5DEE-E84A-54011C52A5A8}"/>
              </a:ext>
            </a:extLst>
          </p:cNvPr>
          <p:cNvSpPr txBox="1"/>
          <p:nvPr/>
        </p:nvSpPr>
        <p:spPr>
          <a:xfrm>
            <a:off x="-19151" y="2802708"/>
            <a:ext cx="2531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vector&lt;int&gt; </a:t>
            </a:r>
            <a:r>
              <a:rPr lang="en-US" altLang="ko-KR" dirty="0" err="1"/>
              <a:t>denToSlot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78250A-4BA1-784F-82AE-F08AC38F149F}"/>
              </a:ext>
            </a:extLst>
          </p:cNvPr>
          <p:cNvSpPr txBox="1"/>
          <p:nvPr/>
        </p:nvSpPr>
        <p:spPr>
          <a:xfrm>
            <a:off x="213284" y="4923153"/>
            <a:ext cx="2298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vector&lt;int&gt; </a:t>
            </a:r>
            <a:r>
              <a:rPr lang="en-US" altLang="ko-KR" dirty="0" err="1"/>
              <a:t>freeSlot</a:t>
            </a:r>
            <a:endParaRPr lang="ko-KR" altLang="en-US" dirty="0"/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33AE81D9-DE4F-57D1-A7BA-855AF3A150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6003264"/>
              </p:ext>
            </p:extLst>
          </p:nvPr>
        </p:nvGraphicFramePr>
        <p:xfrm>
          <a:off x="2792895" y="4944740"/>
          <a:ext cx="135466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400381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01962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7936516E-71B8-F354-CB6F-5A62EA6044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7334275"/>
              </p:ext>
            </p:extLst>
          </p:nvPr>
        </p:nvGraphicFramePr>
        <p:xfrm>
          <a:off x="7619726" y="3495816"/>
          <a:ext cx="135466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400381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DIndex=2</a:t>
                      </a: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chemeClr val="bg1"/>
                          </a:solidFill>
                        </a:rPr>
                        <a:t>Gen=1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Alive = true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01962"/>
                  </a:ext>
                </a:extLst>
              </a:tr>
            </a:tbl>
          </a:graphicData>
        </a:graphic>
      </p:graphicFrame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8ECC55E9-B90E-F8A3-F003-480D56775E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7218638"/>
              </p:ext>
            </p:extLst>
          </p:nvPr>
        </p:nvGraphicFramePr>
        <p:xfrm>
          <a:off x="7619726" y="2222151"/>
          <a:ext cx="135466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400381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01962"/>
                  </a:ext>
                </a:extLst>
              </a:tr>
            </a:tbl>
          </a:graphicData>
        </a:graphic>
      </p:graphicFrame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C6D6A101-83A4-6D12-5066-335D68618A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5255287"/>
              </p:ext>
            </p:extLst>
          </p:nvPr>
        </p:nvGraphicFramePr>
        <p:xfrm>
          <a:off x="9017619" y="3495816"/>
          <a:ext cx="135466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400381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DIndex=1</a:t>
                      </a:r>
                    </a:p>
                    <a:p>
                      <a:pPr latinLnBrk="1"/>
                      <a:r>
                        <a:rPr lang="en-US" altLang="ko-KR" sz="1400" dirty="0"/>
                        <a:t>Gen=0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Alive = true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01962"/>
                  </a:ext>
                </a:extLst>
              </a:tr>
            </a:tbl>
          </a:graphicData>
        </a:graphic>
      </p:graphicFrame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14DFABC3-AF5D-6B84-F576-FBC3096961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6644881"/>
              </p:ext>
            </p:extLst>
          </p:nvPr>
        </p:nvGraphicFramePr>
        <p:xfrm>
          <a:off x="9017619" y="2222152"/>
          <a:ext cx="135466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400381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01962"/>
                  </a:ext>
                </a:extLst>
              </a:tr>
            </a:tbl>
          </a:graphicData>
        </a:graphic>
      </p:graphicFrame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2735D0A6-54AF-181A-29C0-4174628268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688984"/>
              </p:ext>
            </p:extLst>
          </p:nvPr>
        </p:nvGraphicFramePr>
        <p:xfrm>
          <a:off x="10415512" y="3495816"/>
          <a:ext cx="135466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400381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/>
                        <a:t>DIndex</a:t>
                      </a:r>
                      <a:r>
                        <a:rPr lang="en-US" altLang="ko-KR" sz="1400" dirty="0"/>
                        <a:t>=0</a:t>
                      </a:r>
                    </a:p>
                    <a:p>
                      <a:pPr latinLnBrk="1"/>
                      <a:r>
                        <a:rPr lang="en-US" altLang="ko-KR" sz="1400" dirty="0"/>
                        <a:t>Gen=0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Alive = true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01962"/>
                  </a:ext>
                </a:extLst>
              </a:tr>
            </a:tbl>
          </a:graphicData>
        </a:graphic>
      </p:graphicFrame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E72721BB-538B-0419-018E-BAB3DD9C92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6267413"/>
              </p:ext>
            </p:extLst>
          </p:nvPr>
        </p:nvGraphicFramePr>
        <p:xfrm>
          <a:off x="10415512" y="2222151"/>
          <a:ext cx="135466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400381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rgbClr val="FF0000"/>
                          </a:solidFill>
                        </a:rPr>
                        <a:t>T4</a:t>
                      </a:r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01962"/>
                  </a:ext>
                </a:extLst>
              </a:tr>
            </a:tbl>
          </a:graphicData>
        </a:graphic>
      </p:graphicFrame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DE2B09F5-70D7-C391-C278-607984DC4C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4256205"/>
              </p:ext>
            </p:extLst>
          </p:nvPr>
        </p:nvGraphicFramePr>
        <p:xfrm>
          <a:off x="7626911" y="2747638"/>
          <a:ext cx="135466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400381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01962"/>
                  </a:ext>
                </a:extLst>
              </a:tr>
            </a:tbl>
          </a:graphicData>
        </a:graphic>
      </p:graphicFrame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C1EABBD5-1910-FEE6-C3B9-7262724D5E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0160131"/>
              </p:ext>
            </p:extLst>
          </p:nvPr>
        </p:nvGraphicFramePr>
        <p:xfrm>
          <a:off x="9024804" y="2717269"/>
          <a:ext cx="1354667" cy="391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400381114"/>
                    </a:ext>
                  </a:extLst>
                </a:gridCol>
              </a:tblGrid>
              <a:tr h="3911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01962"/>
                  </a:ext>
                </a:extLst>
              </a:tr>
            </a:tbl>
          </a:graphicData>
        </a:graphic>
      </p:graphicFrame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B4604A1A-A767-C75B-EF42-D914FC0123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6179134"/>
              </p:ext>
            </p:extLst>
          </p:nvPr>
        </p:nvGraphicFramePr>
        <p:xfrm>
          <a:off x="10422697" y="2747638"/>
          <a:ext cx="135466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400381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01962"/>
                  </a:ext>
                </a:extLst>
              </a:tr>
            </a:tbl>
          </a:graphicData>
        </a:graphic>
      </p:graphicFrame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9800FF6F-1E73-7D9E-C678-CD764ABB86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975798"/>
              </p:ext>
            </p:extLst>
          </p:nvPr>
        </p:nvGraphicFramePr>
        <p:xfrm>
          <a:off x="7662952" y="4940144"/>
          <a:ext cx="135466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400381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01962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5741636C-7360-F37D-989A-6DE6F8336F42}"/>
              </a:ext>
            </a:extLst>
          </p:cNvPr>
          <p:cNvSpPr txBox="1"/>
          <p:nvPr/>
        </p:nvSpPr>
        <p:spPr>
          <a:xfrm>
            <a:off x="8125115" y="4560783"/>
            <a:ext cx="1387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pop_back</a:t>
            </a:r>
            <a:r>
              <a:rPr lang="en-US" altLang="ko-K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  <a:endParaRPr lang="ko-KR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6A46680-EA99-35BA-F79D-F7E63D3AB210}"/>
              </a:ext>
            </a:extLst>
          </p:cNvPr>
          <p:cNvSpPr txBox="1"/>
          <p:nvPr/>
        </p:nvSpPr>
        <p:spPr>
          <a:xfrm>
            <a:off x="3089094" y="5460197"/>
            <a:ext cx="5142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ⓐ </a:t>
            </a:r>
            <a:r>
              <a:rPr lang="ko-KR" altLang="en-US" dirty="0" err="1"/>
              <a:t>프리슬롯에</a:t>
            </a:r>
            <a:r>
              <a:rPr lang="ko-KR" altLang="en-US" dirty="0"/>
              <a:t> 재활용 가능한 슬롯 인덱스 확인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86A8797-A6D8-FA6A-EBDE-99E2BFF0E618}"/>
              </a:ext>
            </a:extLst>
          </p:cNvPr>
          <p:cNvSpPr txBox="1"/>
          <p:nvPr/>
        </p:nvSpPr>
        <p:spPr>
          <a:xfrm>
            <a:off x="7465536" y="1649980"/>
            <a:ext cx="350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ⓑ </a:t>
            </a:r>
            <a:r>
              <a:rPr lang="en-US" altLang="ko-KR" dirty="0" err="1"/>
              <a:t>dense,denseToSlot</a:t>
            </a:r>
            <a:r>
              <a:rPr lang="en-US" altLang="ko-KR" dirty="0"/>
              <a:t> </a:t>
            </a:r>
            <a:r>
              <a:rPr lang="ko-KR" altLang="en-US" dirty="0"/>
              <a:t>뒤에 추가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D54C9BB-C6E8-E9D6-85DF-7863FD7FB261}"/>
              </a:ext>
            </a:extLst>
          </p:cNvPr>
          <p:cNvSpPr txBox="1"/>
          <p:nvPr/>
        </p:nvSpPr>
        <p:spPr>
          <a:xfrm>
            <a:off x="7948323" y="3161937"/>
            <a:ext cx="2045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ⓒ 슬롯 정보 변경</a:t>
            </a:r>
          </a:p>
        </p:txBody>
      </p:sp>
    </p:spTree>
    <p:extLst>
      <p:ext uri="{BB962C8B-B14F-4D97-AF65-F5344CB8AC3E}">
        <p14:creationId xmlns:p14="http://schemas.microsoft.com/office/powerpoint/2010/main" val="603749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35563A-1EEB-38AC-42BD-82606754C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1AE0D1-3D4D-7F8B-A0D2-A6595C2DD372}"/>
              </a:ext>
            </a:extLst>
          </p:cNvPr>
          <p:cNvSpPr txBox="1"/>
          <p:nvPr/>
        </p:nvSpPr>
        <p:spPr>
          <a:xfrm>
            <a:off x="571500" y="1690688"/>
            <a:ext cx="856615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b="1" dirty="0"/>
              <a:t>핸들 기반 접근</a:t>
            </a:r>
            <a:endParaRPr lang="ko-KR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 포인터 대신 핸들</a:t>
            </a:r>
            <a:r>
              <a:rPr lang="en-US" altLang="ko-KR" dirty="0"/>
              <a:t>(</a:t>
            </a:r>
            <a:r>
              <a:rPr lang="ko-KR" altLang="en-US" dirty="0"/>
              <a:t>인덱스 </a:t>
            </a:r>
            <a:r>
              <a:rPr lang="en-US" altLang="ko-KR" dirty="0"/>
              <a:t>+ </a:t>
            </a:r>
            <a:r>
              <a:rPr lang="ko-KR" altLang="en-US" dirty="0"/>
              <a:t>세대 번호</a:t>
            </a:r>
            <a:r>
              <a:rPr lang="en-US" altLang="ko-KR" dirty="0"/>
              <a:t>)</a:t>
            </a:r>
            <a:r>
              <a:rPr lang="ko-KR" altLang="en-US" dirty="0"/>
              <a:t>을 사용해서 객체를 참조합니다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 핸들은 </a:t>
            </a:r>
            <a:r>
              <a:rPr lang="en-US" altLang="ko-KR" dirty="0"/>
              <a:t>{index, generation} </a:t>
            </a:r>
            <a:r>
              <a:rPr lang="ko-KR" altLang="en-US" dirty="0"/>
              <a:t>쌍으로 구성됩니다</a:t>
            </a:r>
          </a:p>
          <a:p>
            <a:pPr>
              <a:buNone/>
            </a:pPr>
            <a:endParaRPr lang="en-US" altLang="ko-KR" b="1" dirty="0"/>
          </a:p>
          <a:p>
            <a:pPr>
              <a:buNone/>
            </a:pPr>
            <a:r>
              <a:rPr lang="ko-KR" altLang="en-US" b="1" dirty="0" err="1"/>
              <a:t>댕글링</a:t>
            </a:r>
            <a:r>
              <a:rPr lang="ko-KR" altLang="en-US" b="1" dirty="0"/>
              <a:t> 포인터 방지</a:t>
            </a:r>
            <a:endParaRPr lang="ko-KR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 객체가 삭제되면 해당 슬롯의 </a:t>
            </a:r>
            <a:r>
              <a:rPr lang="en-US" altLang="ko-KR" dirty="0"/>
              <a:t>generation </a:t>
            </a:r>
            <a:r>
              <a:rPr lang="ko-KR" altLang="en-US" dirty="0"/>
              <a:t>카운터가 증가합니다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 이전 핸들로 접근하면 </a:t>
            </a:r>
            <a:r>
              <a:rPr lang="en-US" altLang="ko-KR" dirty="0"/>
              <a:t>generation </a:t>
            </a:r>
            <a:r>
              <a:rPr lang="ko-KR" altLang="en-US" dirty="0"/>
              <a:t>불일치로 감지되어 안전하게 실패합니다</a:t>
            </a:r>
          </a:p>
          <a:p>
            <a:pPr>
              <a:buNone/>
            </a:pPr>
            <a:endParaRPr lang="en-US" altLang="ko-KR" b="1" dirty="0"/>
          </a:p>
          <a:p>
            <a:pPr>
              <a:buNone/>
            </a:pPr>
            <a:r>
              <a:rPr lang="ko-KR" altLang="en-US" b="1" dirty="0"/>
              <a:t>메모리 효율성</a:t>
            </a:r>
            <a:endParaRPr lang="ko-KR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 데이터가 연속된 배열에 저장되어 캐시 친화적입니다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 삭제된 슬롯은 재사용됩니다</a:t>
            </a:r>
          </a:p>
          <a:p>
            <a:pPr>
              <a:buNone/>
            </a:pPr>
            <a:endParaRPr lang="en-US" altLang="ko-KR" b="1" dirty="0"/>
          </a:p>
          <a:p>
            <a:pPr>
              <a:buNone/>
            </a:pPr>
            <a:r>
              <a:rPr lang="ko-KR" altLang="en-US" b="1" dirty="0"/>
              <a:t>게임 엔진에서의 활용</a:t>
            </a:r>
          </a:p>
          <a:p>
            <a:pPr>
              <a:buNone/>
            </a:pPr>
            <a:r>
              <a:rPr lang="ko-KR" altLang="en-US" dirty="0"/>
              <a:t>게임 엔진에서 </a:t>
            </a:r>
            <a:r>
              <a:rPr lang="en-US" altLang="ko-KR" dirty="0"/>
              <a:t>Entity, </a:t>
            </a:r>
            <a:r>
              <a:rPr lang="en-US" altLang="ko-KR" dirty="0" err="1"/>
              <a:t>GameObject</a:t>
            </a:r>
            <a:r>
              <a:rPr lang="en-US" altLang="ko-KR" dirty="0"/>
              <a:t>, Component </a:t>
            </a:r>
            <a:r>
              <a:rPr lang="ko-KR" altLang="en-US" dirty="0"/>
              <a:t>등을 관리할 때 유용합니다</a:t>
            </a:r>
            <a:r>
              <a:rPr lang="en-US" altLang="ko-KR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 Entity</a:t>
            </a:r>
            <a:r>
              <a:rPr lang="ko-KR" altLang="en-US" dirty="0"/>
              <a:t>가 삭제되어도 다른 시스템이 가진 핸들이 안전하게 무효화됩니다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 포인터처럼 메모리 주소가 변하지 않아도 되므로 안정적입니다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 직렬화</a:t>
            </a:r>
            <a:r>
              <a:rPr lang="en-US" altLang="ko-KR" dirty="0"/>
              <a:t>/</a:t>
            </a:r>
            <a:r>
              <a:rPr lang="ko-KR" altLang="en-US" dirty="0"/>
              <a:t>역직렬화가 쉽습니다 </a:t>
            </a:r>
            <a:r>
              <a:rPr lang="en-US" altLang="ko-KR" dirty="0"/>
              <a:t>(</a:t>
            </a:r>
            <a:r>
              <a:rPr lang="ko-KR" altLang="en-US" dirty="0"/>
              <a:t>인덱스와 세대 번호만 저장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03981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3750</TotalTime>
  <Words>895</Words>
  <Application>Microsoft Office PowerPoint</Application>
  <PresentationFormat>와이드스크린</PresentationFormat>
  <Paragraphs>194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맑은 고딕</vt:lpstr>
      <vt:lpstr>Arial</vt:lpstr>
      <vt:lpstr>Courier New</vt:lpstr>
      <vt:lpstr>Office 테마</vt:lpstr>
      <vt:lpstr>SlotMap</vt:lpstr>
      <vt:lpstr>Dangling Pointer(허상 포인터) 문제</vt:lpstr>
      <vt:lpstr>SlotMap</vt:lpstr>
      <vt:lpstr>Insert</vt:lpstr>
      <vt:lpstr>Erase</vt:lpstr>
      <vt:lpstr>FreeSlot 재활용하는 Insert</vt:lpstr>
      <vt:lpstr>결론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BoundingVolumeHierarchy</dc:title>
  <dc:creator>Dongwon Lee</dc:creator>
  <cp:lastModifiedBy>User</cp:lastModifiedBy>
  <cp:revision>837</cp:revision>
  <dcterms:created xsi:type="dcterms:W3CDTF">2025-11-04T12:33:20Z</dcterms:created>
  <dcterms:modified xsi:type="dcterms:W3CDTF">2026-01-08T02:08:31Z</dcterms:modified>
</cp:coreProperties>
</file>