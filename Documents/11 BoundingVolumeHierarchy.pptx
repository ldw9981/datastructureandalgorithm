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9" r:id="rId4"/>
    <p:sldId id="268" r:id="rId5"/>
    <p:sldId id="269" r:id="rId6"/>
    <p:sldId id="271" r:id="rId7"/>
    <p:sldId id="260" r:id="rId8"/>
    <p:sldId id="261" r:id="rId9"/>
    <p:sldId id="262" r:id="rId10"/>
    <p:sldId id="267" r:id="rId11"/>
    <p:sldId id="263" r:id="rId12"/>
    <p:sldId id="270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80" y="7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E314A-159A-5306-E914-204E45A734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DEF67D-9DF2-500F-A93B-59E05EE64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85FF00-48CE-5AA2-325E-1F2C5C631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64B257-33C6-50C8-E693-E0F3CCAF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6F710E-09E2-E843-AB67-97ED85FB0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73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532A5F-80DF-13ED-77B5-B447CE6D2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33CC81-25DF-740C-E3EF-21360711F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B946FC-8CD2-3683-553C-9817E078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C3B94-407B-B3B0-2735-69E570939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29FCB8-F17A-F552-41B3-86679A423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066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42C32-9331-95D9-2325-2F40F29F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09C866-8F34-4879-DBB1-22F0C054D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B2B45-0D3F-9A73-A18E-D195D3EFF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06E52F-B9E6-ECEF-F3BD-E93C65761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55EF57-DAD2-9BB8-7A01-7CA16694D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328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6C4B74-E066-6824-8DDD-C93261CE7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9982F0-E099-69B1-8C7E-1D4CC162D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AE67CD9-810A-39AA-F1F7-9D12C81F8A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CA120C-38C7-1BA9-9495-55D850C06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F05EE4-78B6-6981-F99F-B3C88E8EA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A9A2B6-1D9E-33F4-6865-E8540CD11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28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CD2EAD-42AB-654C-7A64-2C37F20BB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BA585D-B83F-6DD4-72F7-5C8578113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4681B13-25CA-7B2B-D57D-D5A0E2D89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1CC30F-9266-AFC3-2DE7-410B20179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34DF90-B7E2-B00D-E7E0-2EFBF65523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3841F6B-6786-1673-BD8B-3EE7BF93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A873D53-B889-1CE2-3C59-EA4269410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4F89520-35A9-4C1D-144F-C6F7BFD3A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48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899D77-FA13-D4F7-7FCF-8F3FDF976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9259129-70AF-DA6A-0D49-8DF54B05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566D17-2C02-61CE-1FBD-CAA74D31C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22C608-566C-F518-0D18-E2B6B31E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161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13C27C-E8DA-CA3F-1F20-13B118476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D34BECB-E9B0-13BD-7F22-65428BE3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4888A-AC47-57E2-2014-A01E03359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722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744D2-A265-3C02-364A-B8E8C2C0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018D1D-A257-477A-7565-D0658849D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449A78-781F-E180-267F-17AD62621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F19700-FEDD-2049-C3B5-C295EEA9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76578E-1B00-8040-0594-580D0EB0F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1830800-A835-9CA7-D7B6-D38520F70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33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08298B-D618-1ABA-FC38-417E80CFC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D05A9B-785E-AE73-CF04-0E8B8DC170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20B5D5-B638-152E-90AB-2C7EDCB7D6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503B65-9552-8557-97DF-2F3498A3D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FA6549-2752-612C-5542-1D09A79B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CD1272-B0D8-A2D2-B63B-16A0E9A5B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570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8B087-8A1E-8545-387C-46CFC828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B1B64C-F77D-00B9-7857-3DC0EC732C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3296B6-091E-13F6-5673-61458602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0F964C-3FA5-D71B-EE6C-116AD845A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3FD343-11FD-15E9-EDE5-ED2C13382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750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EEF779-B55C-2DA8-701D-C9187E1B32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198DE32-FC5B-EE67-A05C-EDE89CB9BA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5BA089-C06B-937D-64EF-A78823090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9F748B-941D-ED90-BA5E-50BA1BCC4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5BCEAE-90AD-99D3-5995-AF75F06E0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500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106B79-E96A-8F8D-819F-056D304D9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295A23-C37B-F250-05AF-3C04E0D98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9CFA5C-C0BE-F93E-F4FE-B7F4FE6B4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53306-E5C8-73FD-FE10-A5E7D3F86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AEC1E0-68BE-F6EB-DCDC-076AB71653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572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piro.github.io/DynamicBVH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42201-CAE5-359D-F9EF-C7068A617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9829" y="1122363"/>
            <a:ext cx="9753599" cy="238760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BoundingVolumeHierarchy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73587FF-5D7F-833D-4635-71A2BA3685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AABB </a:t>
            </a:r>
            <a:r>
              <a:rPr lang="ko-KR" altLang="en-US" dirty="0"/>
              <a:t>트리를 이용한 교차 테스트 가속 및 </a:t>
            </a:r>
            <a:r>
              <a:rPr lang="ko-KR" altLang="en-US" dirty="0" err="1"/>
              <a:t>컬링</a:t>
            </a:r>
            <a:r>
              <a:rPr lang="ko-KR" altLang="en-US" dirty="0"/>
              <a:t> 최적화</a:t>
            </a:r>
          </a:p>
        </p:txBody>
      </p:sp>
    </p:spTree>
    <p:extLst>
      <p:ext uri="{BB962C8B-B14F-4D97-AF65-F5344CB8AC3E}">
        <p14:creationId xmlns:p14="http://schemas.microsoft.com/office/powerpoint/2010/main" val="90914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C992E-CB49-BE35-5C5A-E8EE8D288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6EED75-EB05-CC00-60B6-4933114BC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QuadTree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9E856-0EC6-E65C-85B8-C696948F3F2A}"/>
              </a:ext>
            </a:extLst>
          </p:cNvPr>
          <p:cNvSpPr txBox="1"/>
          <p:nvPr/>
        </p:nvSpPr>
        <p:spPr>
          <a:xfrm>
            <a:off x="333827" y="5042118"/>
            <a:ext cx="566782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struct Object { AABB bound;  }</a:t>
            </a:r>
          </a:p>
          <a:p>
            <a:endParaRPr lang="en-US" altLang="ko-KR" sz="1400" dirty="0"/>
          </a:p>
          <a:p>
            <a:r>
              <a:rPr lang="ko-KR" altLang="en-US" sz="1400" dirty="0" err="1"/>
              <a:t>struct</a:t>
            </a:r>
            <a:r>
              <a:rPr lang="ko-KR" altLang="en-US" sz="1400" dirty="0"/>
              <a:t> </a:t>
            </a:r>
            <a:r>
              <a:rPr lang="ko-KR" altLang="en-US" sz="1400" dirty="0" err="1"/>
              <a:t>QuadNode</a:t>
            </a:r>
            <a:endParaRPr lang="ko-KR" altLang="en-US" sz="1400" dirty="0"/>
          </a:p>
          <a:p>
            <a:r>
              <a:rPr lang="ko-KR" altLang="en-US" sz="1400" dirty="0"/>
              <a:t>{</a:t>
            </a:r>
          </a:p>
          <a:p>
            <a:r>
              <a:rPr lang="ko-KR" altLang="en-US" sz="1400" dirty="0"/>
              <a:t>    AABB </a:t>
            </a:r>
            <a:r>
              <a:rPr lang="ko-KR" altLang="en-US" sz="1400" dirty="0" err="1"/>
              <a:t>bounds</a:t>
            </a:r>
            <a:r>
              <a:rPr lang="ko-KR" altLang="en-US" sz="1400" dirty="0"/>
              <a:t>;          </a:t>
            </a:r>
            <a:r>
              <a:rPr lang="en-US" altLang="ko-KR" sz="1400" dirty="0"/>
              <a:t>	</a:t>
            </a:r>
            <a:r>
              <a:rPr lang="ko-KR" altLang="en-US" sz="1400" dirty="0"/>
              <a:t>// 노드가 담당하는 영역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std</a:t>
            </a:r>
            <a:r>
              <a:rPr lang="ko-KR" altLang="en-US" sz="1400" dirty="0"/>
              <a:t>::</a:t>
            </a:r>
            <a:r>
              <a:rPr lang="ko-KR" altLang="en-US" sz="1400" dirty="0" err="1"/>
              <a:t>vector</a:t>
            </a:r>
            <a:r>
              <a:rPr lang="ko-KR" altLang="en-US" sz="1400" dirty="0"/>
              <a:t>&lt;</a:t>
            </a:r>
            <a:r>
              <a:rPr lang="ko-KR" altLang="en-US" sz="1400" dirty="0" err="1"/>
              <a:t>Object</a:t>
            </a:r>
            <a:r>
              <a:rPr lang="ko-KR" altLang="en-US" sz="1400" dirty="0"/>
              <a:t>*&gt; </a:t>
            </a:r>
            <a:r>
              <a:rPr lang="ko-KR" altLang="en-US" sz="1400" dirty="0" err="1"/>
              <a:t>objects</a:t>
            </a:r>
            <a:r>
              <a:rPr lang="ko-KR" altLang="en-US" sz="1400" dirty="0"/>
              <a:t>; </a:t>
            </a:r>
            <a:r>
              <a:rPr lang="en-US" altLang="ko-KR" sz="1400" dirty="0"/>
              <a:t>	</a:t>
            </a:r>
            <a:r>
              <a:rPr lang="ko-KR" altLang="en-US" sz="1400" dirty="0"/>
              <a:t>// 여기에 포함된 오브젝트들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QuadNode</a:t>
            </a:r>
            <a:r>
              <a:rPr lang="ko-KR" altLang="en-US" sz="1400" dirty="0"/>
              <a:t>* </a:t>
            </a:r>
            <a:r>
              <a:rPr lang="ko-KR" altLang="en-US" sz="1400" dirty="0" err="1"/>
              <a:t>children</a:t>
            </a:r>
            <a:r>
              <a:rPr lang="ko-KR" altLang="en-US" sz="1400" dirty="0"/>
              <a:t>[4]; </a:t>
            </a:r>
            <a:r>
              <a:rPr lang="en-US" altLang="ko-KR" sz="1400" dirty="0"/>
              <a:t>	</a:t>
            </a:r>
            <a:r>
              <a:rPr lang="ko-KR" altLang="en-US" sz="1400" dirty="0"/>
              <a:t>// 4개의 자식 (NW, NE, SW, SE)</a:t>
            </a:r>
          </a:p>
          <a:p>
            <a:r>
              <a:rPr lang="ko-KR" altLang="en-US" sz="1400" dirty="0"/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6812C-22EA-BCE3-A92C-74E53C58AC28}"/>
              </a:ext>
            </a:extLst>
          </p:cNvPr>
          <p:cNvSpPr txBox="1"/>
          <p:nvPr/>
        </p:nvSpPr>
        <p:spPr>
          <a:xfrm>
            <a:off x="99061" y="1628170"/>
            <a:ext cx="120015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 공간을 미리 구분해놓고 오브젝트의 위치와 크기 맞는 노드에 삽입 하는 공간 분할 트리 구조 이다</a:t>
            </a:r>
            <a:r>
              <a:rPr lang="en-US" altLang="ko-KR" dirty="0"/>
              <a:t>.  </a:t>
            </a:r>
            <a:r>
              <a:rPr lang="ko-KR" altLang="en-US" dirty="0"/>
              <a:t>부모 노드의 </a:t>
            </a:r>
            <a:r>
              <a:rPr lang="en-US" altLang="ko-KR" dirty="0"/>
              <a:t>AABB</a:t>
            </a:r>
            <a:r>
              <a:rPr lang="ko-KR" altLang="en-US" dirty="0"/>
              <a:t>와 교차검사를 하여 교차 여부에 따라 자식 노드 가지 치기</a:t>
            </a:r>
            <a:r>
              <a:rPr lang="en-US" altLang="ko-KR" dirty="0"/>
              <a:t>(pruning)</a:t>
            </a:r>
            <a:r>
              <a:rPr lang="ko-KR" altLang="en-US" dirty="0"/>
              <a:t>를 할 수 있다</a:t>
            </a:r>
            <a:r>
              <a:rPr lang="en-US" altLang="ko-KR" dirty="0"/>
              <a:t>. </a:t>
            </a:r>
            <a:r>
              <a:rPr lang="ko-KR" altLang="en-US" dirty="0"/>
              <a:t>즉 해당 노드에 </a:t>
            </a:r>
            <a:r>
              <a:rPr lang="en-US" altLang="ko-KR" dirty="0"/>
              <a:t> </a:t>
            </a:r>
            <a:r>
              <a:rPr lang="ko-KR" altLang="en-US" dirty="0"/>
              <a:t>오브젝트가 없어도  서브 트리에 오브젝트가 </a:t>
            </a:r>
            <a:r>
              <a:rPr lang="ko-KR" altLang="en-US" dirty="0" err="1"/>
              <a:t>어딘가에</a:t>
            </a:r>
            <a:r>
              <a:rPr lang="ko-KR" altLang="en-US" dirty="0"/>
              <a:t> 있다면 해당 서브 트리 전체에 대해 교차 검사를 </a:t>
            </a:r>
            <a:r>
              <a:rPr lang="ko-KR" altLang="en-US" dirty="0" err="1"/>
              <a:t>해야한다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넓은 공간에 균일하게 퍼져 있는 경우 효율이 좋고 좁은 공간에 몰려 있는 경우 트리가 한쪽으로 깊어지고 비어 있는 노드가 많아져 공간</a:t>
            </a:r>
            <a:r>
              <a:rPr lang="en-US" altLang="ko-KR" dirty="0"/>
              <a:t>(</a:t>
            </a:r>
            <a:r>
              <a:rPr lang="ko-KR" altLang="en-US" dirty="0"/>
              <a:t>메모리</a:t>
            </a:r>
            <a:r>
              <a:rPr lang="en-US" altLang="ko-KR" dirty="0"/>
              <a:t>)·</a:t>
            </a:r>
            <a:r>
              <a:rPr lang="ko-KR" altLang="en-US" dirty="0"/>
              <a:t>시간</a:t>
            </a:r>
            <a:r>
              <a:rPr lang="en-US" altLang="ko-KR" dirty="0"/>
              <a:t>(</a:t>
            </a:r>
            <a:r>
              <a:rPr lang="ko-KR" altLang="en-US" dirty="0"/>
              <a:t>비교회수</a:t>
            </a:r>
            <a:r>
              <a:rPr lang="en-US" altLang="ko-KR" dirty="0"/>
              <a:t>)</a:t>
            </a:r>
            <a:r>
              <a:rPr lang="ko-KR" altLang="en-US" dirty="0"/>
              <a:t> 효율이 떨어진다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5E150B5-91D3-4D80-2B56-BC94B305A7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031" y="3105498"/>
            <a:ext cx="3206271" cy="1936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1A2B73C-A759-2EFB-77D8-BDAAF05C71E8}"/>
              </a:ext>
            </a:extLst>
          </p:cNvPr>
          <p:cNvSpPr txBox="1"/>
          <p:nvPr/>
        </p:nvSpPr>
        <p:spPr>
          <a:xfrm>
            <a:off x="6502765" y="3333958"/>
            <a:ext cx="529219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/>
              <a:t>void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CullNode</a:t>
            </a:r>
            <a:r>
              <a:rPr lang="ko-KR" altLang="en-US" sz="1200" dirty="0"/>
              <a:t>(</a:t>
            </a:r>
            <a:r>
              <a:rPr lang="ko-KR" altLang="en-US" sz="1200" dirty="0" err="1"/>
              <a:t>QuadNode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const</a:t>
            </a:r>
            <a:r>
              <a:rPr lang="ko-KR" altLang="en-US" sz="1200" dirty="0"/>
              <a:t> </a:t>
            </a:r>
            <a:r>
              <a:rPr lang="ko-KR" altLang="en-US" sz="1200" dirty="0" err="1"/>
              <a:t>Frustum</a:t>
            </a:r>
            <a:r>
              <a:rPr lang="ko-KR" altLang="en-US" sz="1200" dirty="0"/>
              <a:t>&amp;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)</a:t>
            </a:r>
          </a:p>
          <a:p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n</a:t>
            </a:r>
            <a:r>
              <a:rPr lang="ko-KR" altLang="en-US" sz="1200" dirty="0"/>
              <a:t>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0) </a:t>
            </a:r>
            <a:r>
              <a:rPr lang="ko-KR" altLang="en-US" sz="1200" dirty="0" err="1"/>
              <a:t>서브트리에</a:t>
            </a:r>
            <a:r>
              <a:rPr lang="ko-KR" altLang="en-US" sz="1200" dirty="0"/>
              <a:t> 오브젝트가 하나도 없으면 바로 리턴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subtreeCount</a:t>
            </a:r>
            <a:r>
              <a:rPr lang="ko-KR" altLang="en-US" sz="1200" dirty="0"/>
              <a:t> == 0)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1) 부모 노드 AABB </a:t>
            </a:r>
            <a:r>
              <a:rPr lang="ko-KR" altLang="en-US" sz="1200" dirty="0" err="1"/>
              <a:t>vs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프러스텀</a:t>
            </a:r>
            <a:r>
              <a:rPr lang="ko-KR" altLang="en-US" sz="1200" dirty="0"/>
              <a:t>: 교차 안 하면 </a:t>
            </a:r>
            <a:r>
              <a:rPr lang="ko-KR" altLang="en-US" sz="1200" dirty="0" err="1"/>
              <a:t>서브트리</a:t>
            </a:r>
            <a:r>
              <a:rPr lang="ko-KR" altLang="en-US" sz="1200" dirty="0"/>
              <a:t> 통째로 </a:t>
            </a:r>
            <a:r>
              <a:rPr lang="ko-KR" altLang="en-US" sz="1200" dirty="0" err="1"/>
              <a:t>스킵</a:t>
            </a:r>
            <a:r>
              <a:rPr lang="ko-KR" altLang="en-US" sz="1200" dirty="0"/>
              <a:t>!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Intersects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bounds</a:t>
            </a:r>
            <a:r>
              <a:rPr lang="ko-KR" altLang="en-US" sz="1200" dirty="0"/>
              <a:t>))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2) 이 노드에 직속된 오브젝트 검사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for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auto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obj</a:t>
            </a:r>
            <a:r>
              <a:rPr lang="ko-KR" altLang="en-US" sz="1200" dirty="0"/>
              <a:t> :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objects</a:t>
            </a:r>
            <a:r>
              <a:rPr lang="ko-KR" altLang="en-US" sz="1200" dirty="0"/>
              <a:t>)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Intersects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obj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aabb</a:t>
            </a:r>
            <a:r>
              <a:rPr lang="ko-KR" altLang="en-US" sz="1200" dirty="0"/>
              <a:t>)) </a:t>
            </a:r>
            <a:r>
              <a:rPr lang="ko-KR" altLang="en-US" sz="1200" dirty="0" err="1"/>
              <a:t>visible.push_back</a:t>
            </a:r>
            <a:r>
              <a:rPr lang="ko-KR" altLang="en-US" sz="1200" dirty="0"/>
              <a:t>(</a:t>
            </a:r>
            <a:r>
              <a:rPr lang="ko-KR" altLang="en-US" sz="1200" dirty="0" err="1"/>
              <a:t>obj</a:t>
            </a:r>
            <a:r>
              <a:rPr lang="ko-KR" altLang="en-US" sz="1200" dirty="0"/>
              <a:t>);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3) 자식 재귀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for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auto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child</a:t>
            </a:r>
            <a:r>
              <a:rPr lang="ko-KR" altLang="en-US" sz="1200" dirty="0"/>
              <a:t> :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children</a:t>
            </a:r>
            <a:r>
              <a:rPr lang="ko-KR" altLang="en-US" sz="1200" dirty="0"/>
              <a:t>)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CullNode</a:t>
            </a:r>
            <a:r>
              <a:rPr lang="ko-KR" altLang="en-US" sz="1200" dirty="0"/>
              <a:t>(</a:t>
            </a:r>
            <a:r>
              <a:rPr lang="ko-KR" altLang="en-US" sz="1200" dirty="0" err="1"/>
              <a:t>child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06C860-0253-1434-CC38-1CB22B04F567}"/>
              </a:ext>
            </a:extLst>
          </p:cNvPr>
          <p:cNvSpPr txBox="1"/>
          <p:nvPr/>
        </p:nvSpPr>
        <p:spPr>
          <a:xfrm>
            <a:off x="6556105" y="3007479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i="1" dirty="0"/>
              <a:t>의사 코드</a:t>
            </a:r>
          </a:p>
        </p:txBody>
      </p:sp>
    </p:spTree>
    <p:extLst>
      <p:ext uri="{BB962C8B-B14F-4D97-AF65-F5344CB8AC3E}">
        <p14:creationId xmlns:p14="http://schemas.microsoft.com/office/powerpoint/2010/main" val="2504806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A9A6A6-E7A3-1D99-23BE-FAF223D67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BVH (</a:t>
            </a:r>
            <a:r>
              <a:rPr lang="en-US" altLang="ko-KR" dirty="0" err="1"/>
              <a:t>BoundingVolumeHierarchy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9C1021-6512-E229-CE69-F78AE64ABD4E}"/>
              </a:ext>
            </a:extLst>
          </p:cNvPr>
          <p:cNvSpPr txBox="1"/>
          <p:nvPr/>
        </p:nvSpPr>
        <p:spPr>
          <a:xfrm>
            <a:off x="-98010" y="4198958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 공간이 아니라 오브젝트</a:t>
            </a:r>
            <a:r>
              <a:rPr lang="en-US" altLang="ko-KR" dirty="0"/>
              <a:t>(</a:t>
            </a:r>
            <a:r>
              <a:rPr lang="ko-KR" altLang="en-US" dirty="0"/>
              <a:t>또는 </a:t>
            </a:r>
            <a:r>
              <a:rPr lang="ko-KR" altLang="en-US" dirty="0" err="1"/>
              <a:t>프리미티브</a:t>
            </a:r>
            <a:r>
              <a:rPr lang="en-US" altLang="ko-KR" dirty="0"/>
              <a:t>)</a:t>
            </a:r>
            <a:r>
              <a:rPr lang="ko-KR" altLang="en-US" dirty="0"/>
              <a:t>를 기준으로 노드를 생성하고</a:t>
            </a:r>
            <a:r>
              <a:rPr lang="en-US" altLang="ko-KR" dirty="0"/>
              <a:t>,</a:t>
            </a:r>
            <a:r>
              <a:rPr lang="ko-KR" altLang="en-US" dirty="0"/>
              <a:t> 계층적으로 묶어 트리를 구성하는 구조다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* </a:t>
            </a:r>
            <a:r>
              <a:rPr lang="ko-KR" altLang="en-US" dirty="0"/>
              <a:t>각 </a:t>
            </a:r>
            <a:r>
              <a:rPr lang="ko-KR" altLang="en-US" b="1" dirty="0"/>
              <a:t>리프</a:t>
            </a:r>
            <a:r>
              <a:rPr lang="en-US" altLang="ko-KR" b="1" dirty="0"/>
              <a:t>(Leaf) </a:t>
            </a:r>
            <a:r>
              <a:rPr lang="ko-KR" altLang="en-US" b="1" dirty="0"/>
              <a:t>노드</a:t>
            </a:r>
            <a:r>
              <a:rPr lang="ko-KR" altLang="en-US" dirty="0"/>
              <a:t>는 실제 </a:t>
            </a:r>
            <a:r>
              <a:rPr lang="ko-KR" altLang="en-US" b="1" dirty="0"/>
              <a:t>오브젝트의 </a:t>
            </a:r>
            <a:r>
              <a:rPr lang="en-US" altLang="ko-KR" b="1" dirty="0"/>
              <a:t>AABB</a:t>
            </a:r>
            <a:r>
              <a:rPr lang="ko-KR" altLang="en-US" dirty="0"/>
              <a:t>를 포함한다</a:t>
            </a:r>
            <a:r>
              <a:rPr lang="en-US" altLang="ko-KR" dirty="0"/>
              <a:t>. </a:t>
            </a:r>
            <a:r>
              <a:rPr lang="ko-KR" altLang="en-US" dirty="0"/>
              <a:t>이</a:t>
            </a:r>
            <a:r>
              <a:rPr lang="en-US" altLang="ko-KR" dirty="0"/>
              <a:t> </a:t>
            </a:r>
            <a:r>
              <a:rPr lang="ko-KR" altLang="en-US" dirty="0"/>
              <a:t>오브젝트 수는 최대 자식 노드 수와 같지 않아도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* </a:t>
            </a:r>
            <a:r>
              <a:rPr lang="ko-KR" altLang="en-US" dirty="0"/>
              <a:t>각 </a:t>
            </a:r>
            <a:r>
              <a:rPr lang="ko-KR" altLang="en-US" b="1" dirty="0"/>
              <a:t>부모 노드의 </a:t>
            </a:r>
            <a:r>
              <a:rPr lang="en-US" altLang="ko-KR" b="1" dirty="0"/>
              <a:t>AABB</a:t>
            </a:r>
            <a:r>
              <a:rPr lang="ko-KR" altLang="en-US" dirty="0"/>
              <a:t>는 </a:t>
            </a:r>
            <a:r>
              <a:rPr lang="ko-KR" altLang="en-US" b="1" dirty="0"/>
              <a:t>자식 노드 </a:t>
            </a:r>
            <a:r>
              <a:rPr lang="en-US" altLang="ko-KR" b="1" dirty="0"/>
              <a:t>AABB</a:t>
            </a:r>
            <a:r>
              <a:rPr lang="ko-KR" altLang="en-US" b="1" dirty="0"/>
              <a:t>들의 합집합</a:t>
            </a:r>
            <a:r>
              <a:rPr lang="en-US" altLang="ko-KR" b="1" dirty="0"/>
              <a:t>(Union)</a:t>
            </a:r>
            <a:r>
              <a:rPr lang="ko-KR" altLang="en-US" dirty="0"/>
              <a:t> 이다</a:t>
            </a:r>
            <a:r>
              <a:rPr lang="en-US" altLang="ko-KR" dirty="0"/>
              <a:t>. </a:t>
            </a:r>
            <a:r>
              <a:rPr lang="ko-KR" altLang="en-US" dirty="0"/>
              <a:t>완전히 감싸는 최소 경계 상자를 의미한다</a:t>
            </a:r>
            <a:endParaRPr lang="en-US" altLang="ko-KR" dirty="0"/>
          </a:p>
          <a:p>
            <a:r>
              <a:rPr lang="en-US" altLang="ko-KR" dirty="0"/>
              <a:t> * </a:t>
            </a:r>
            <a:r>
              <a:rPr lang="ko-KR" altLang="en-US" dirty="0"/>
              <a:t>교차 검사 시</a:t>
            </a:r>
            <a:r>
              <a:rPr lang="en-US" altLang="ko-KR" dirty="0"/>
              <a:t>, </a:t>
            </a:r>
            <a:r>
              <a:rPr lang="ko-KR" altLang="en-US" b="1" dirty="0"/>
              <a:t>부모 </a:t>
            </a:r>
            <a:r>
              <a:rPr lang="en-US" altLang="ko-KR" b="1" dirty="0"/>
              <a:t>AABB</a:t>
            </a:r>
            <a:r>
              <a:rPr lang="ko-KR" altLang="en-US" b="1" dirty="0"/>
              <a:t>와의 교차 여부</a:t>
            </a:r>
            <a:r>
              <a:rPr lang="ko-KR" altLang="en-US" dirty="0"/>
              <a:t>를 먼저 검사하여 </a:t>
            </a:r>
            <a:r>
              <a:rPr lang="ko-KR" altLang="en-US" b="1" dirty="0"/>
              <a:t>하위 노드를 가지치기</a:t>
            </a:r>
            <a:r>
              <a:rPr lang="en-US" altLang="ko-KR" b="1" dirty="0"/>
              <a:t>(Pruning)</a:t>
            </a:r>
            <a:r>
              <a:rPr lang="ko-KR" altLang="en-US" dirty="0"/>
              <a:t> 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27833A3D-0186-D26A-D4BC-B26176CFCB73}"/>
              </a:ext>
            </a:extLst>
          </p:cNvPr>
          <p:cNvGrpSpPr/>
          <p:nvPr/>
        </p:nvGrpSpPr>
        <p:grpSpPr>
          <a:xfrm>
            <a:off x="980475" y="1756949"/>
            <a:ext cx="4668428" cy="2020435"/>
            <a:chOff x="457014" y="1690688"/>
            <a:chExt cx="4668428" cy="2020435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EB2708F5-40A2-ADF7-258C-E53C0CECAF75}"/>
                </a:ext>
              </a:extLst>
            </p:cNvPr>
            <p:cNvGrpSpPr/>
            <p:nvPr/>
          </p:nvGrpSpPr>
          <p:grpSpPr>
            <a:xfrm>
              <a:off x="457014" y="1869097"/>
              <a:ext cx="4668428" cy="1842026"/>
              <a:chOff x="334437" y="2380311"/>
              <a:chExt cx="5408411" cy="2097378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1C8EAF85-4A1C-058D-FE88-6C77E7C5A9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578"/>
              <a:stretch>
                <a:fillRect/>
              </a:stretch>
            </p:blipFill>
            <p:spPr>
              <a:xfrm>
                <a:off x="334437" y="2380311"/>
                <a:ext cx="5408411" cy="2097378"/>
              </a:xfrm>
              <a:prstGeom prst="rect">
                <a:avLst/>
              </a:prstGeom>
            </p:spPr>
          </p:pic>
          <p:sp>
            <p:nvSpPr>
              <p:cNvPr id="9" name="이등변 삼각형 8">
                <a:extLst>
                  <a:ext uri="{FF2B5EF4-FFF2-40B4-BE49-F238E27FC236}">
                    <a16:creationId xmlns:a16="http://schemas.microsoft.com/office/drawing/2014/main" id="{C888D605-4F55-5335-BC39-2DC97EAF3FAE}"/>
                  </a:ext>
                </a:extLst>
              </p:cNvPr>
              <p:cNvSpPr/>
              <p:nvPr/>
            </p:nvSpPr>
            <p:spPr>
              <a:xfrm rot="9028807">
                <a:off x="1792211" y="2527683"/>
                <a:ext cx="1025379" cy="1621416"/>
              </a:xfrm>
              <a:prstGeom prst="triangle">
                <a:avLst/>
              </a:prstGeom>
              <a:noFill/>
              <a:ln w="3810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158642-2F94-50AE-7608-A2918ADD932E}"/>
                </a:ext>
              </a:extLst>
            </p:cNvPr>
            <p:cNvSpPr txBox="1"/>
            <p:nvPr/>
          </p:nvSpPr>
          <p:spPr>
            <a:xfrm>
              <a:off x="2390140" y="1690688"/>
              <a:ext cx="11624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이상적인 구성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7F95EA2-A0EF-6143-631E-38D24873A579}"/>
              </a:ext>
            </a:extLst>
          </p:cNvPr>
          <p:cNvSpPr txBox="1"/>
          <p:nvPr/>
        </p:nvSpPr>
        <p:spPr>
          <a:xfrm>
            <a:off x="6765560" y="2575491"/>
            <a:ext cx="42543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https://sopiro.github.io/DynamicBVH/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9424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CBB42-26EA-2562-A842-A880DEEFF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706F3D-0739-F3F1-9A1F-1F3D023BD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BVH </a:t>
            </a:r>
            <a:r>
              <a:rPr lang="ko-KR" altLang="en-US" dirty="0"/>
              <a:t>포인터 트리의 </a:t>
            </a:r>
            <a:r>
              <a:rPr lang="en-US" altLang="ko-KR" dirty="0"/>
              <a:t> </a:t>
            </a:r>
            <a:r>
              <a:rPr lang="ko-KR" altLang="en-US" dirty="0"/>
              <a:t>의사 코드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10F2B3-F3EF-DA0E-E262-CB01FFC48063}"/>
              </a:ext>
            </a:extLst>
          </p:cNvPr>
          <p:cNvSpPr txBox="1"/>
          <p:nvPr/>
        </p:nvSpPr>
        <p:spPr>
          <a:xfrm>
            <a:off x="357809" y="3510748"/>
            <a:ext cx="573819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/>
              <a:t>struct</a:t>
            </a:r>
            <a:r>
              <a:rPr lang="ko-KR" altLang="en-US" sz="1400" dirty="0"/>
              <a:t> </a:t>
            </a:r>
            <a:r>
              <a:rPr lang="en-US" altLang="ko-KR" sz="1400" dirty="0"/>
              <a:t>Object</a:t>
            </a:r>
            <a:r>
              <a:rPr lang="ko-KR" altLang="en-US" sz="1400" dirty="0"/>
              <a:t> { </a:t>
            </a:r>
            <a:r>
              <a:rPr lang="en-US" altLang="ko-KR" sz="1400" dirty="0"/>
              <a:t>AABB bound</a:t>
            </a:r>
            <a:r>
              <a:rPr lang="ko-KR" altLang="en-US" sz="1400" dirty="0"/>
              <a:t>; };</a:t>
            </a:r>
          </a:p>
          <a:p>
            <a:r>
              <a:rPr lang="en-US" altLang="ko-KR" sz="1400" dirty="0"/>
              <a:t>std::vector&lt;Object*&gt; </a:t>
            </a:r>
            <a:r>
              <a:rPr lang="ko-KR" altLang="en-US" sz="1400" dirty="0" err="1"/>
              <a:t>gObject</a:t>
            </a:r>
            <a:r>
              <a:rPr lang="en-US" altLang="ko-KR" sz="1400" dirty="0"/>
              <a:t>s;  </a:t>
            </a:r>
            <a:r>
              <a:rPr lang="ko-KR" altLang="en-US" sz="1400" dirty="0" err="1"/>
              <a:t>똔느</a:t>
            </a:r>
            <a:r>
              <a:rPr lang="ko-KR" altLang="en-US" sz="1400" dirty="0"/>
              <a:t> </a:t>
            </a:r>
            <a:r>
              <a:rPr lang="en-US" altLang="ko-KR" sz="1400" dirty="0"/>
              <a:t>std::vector&lt;AABB&gt;</a:t>
            </a:r>
            <a:endParaRPr lang="ko-KR" altLang="en-US" sz="1400" dirty="0"/>
          </a:p>
          <a:p>
            <a:r>
              <a:rPr lang="en-US" altLang="ko-KR" sz="1400" dirty="0"/>
              <a:t>struct </a:t>
            </a:r>
            <a:r>
              <a:rPr lang="en-US" altLang="ko-KR" sz="1400" dirty="0" err="1"/>
              <a:t>BVHNode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    AABB      bounds;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BVHNode</a:t>
            </a:r>
            <a:r>
              <a:rPr lang="en-US" altLang="ko-KR" sz="1400" dirty="0"/>
              <a:t>*  left  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;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BVHNode</a:t>
            </a:r>
            <a:r>
              <a:rPr lang="en-US" altLang="ko-KR" sz="1400" dirty="0"/>
              <a:t>*  right 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;</a:t>
            </a:r>
          </a:p>
          <a:p>
            <a:r>
              <a:rPr lang="en-US" altLang="ko-KR" sz="1400" dirty="0"/>
              <a:t>    std::vector&lt;uint32_t&gt; objects; // </a:t>
            </a:r>
            <a:r>
              <a:rPr lang="ko-KR" altLang="en-US" sz="1400" dirty="0"/>
              <a:t>리프용 </a:t>
            </a:r>
            <a:r>
              <a:rPr lang="en-US" altLang="ko-KR" sz="1400" dirty="0"/>
              <a:t>(</a:t>
            </a:r>
            <a:r>
              <a:rPr lang="ko-KR" altLang="en-US" sz="1400" dirty="0"/>
              <a:t>여기에 개체 인덱스 보관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bool </a:t>
            </a:r>
            <a:r>
              <a:rPr lang="en-US" altLang="ko-KR" sz="1400" dirty="0" err="1"/>
              <a:t>IsLeaf</a:t>
            </a:r>
            <a:r>
              <a:rPr lang="en-US" altLang="ko-KR" sz="1400" dirty="0"/>
              <a:t>() const { return left ==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 &amp;&amp; right ==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; }</a:t>
            </a:r>
          </a:p>
          <a:p>
            <a:r>
              <a:rPr lang="en-US" altLang="ko-KR" sz="1400" dirty="0"/>
              <a:t>};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EC4A9-83A1-5FF3-2BB4-2A0D3C127414}"/>
              </a:ext>
            </a:extLst>
          </p:cNvPr>
          <p:cNvSpPr txBox="1"/>
          <p:nvPr/>
        </p:nvSpPr>
        <p:spPr>
          <a:xfrm>
            <a:off x="6215531" y="2100497"/>
            <a:ext cx="552713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// 가시 오브젝트 인덱스들을 </a:t>
            </a:r>
            <a:r>
              <a:rPr lang="ko-KR" altLang="en-US" sz="1200" dirty="0" err="1"/>
              <a:t>outVisible에</a:t>
            </a:r>
            <a:r>
              <a:rPr lang="ko-KR" altLang="en-US" sz="1200" dirty="0"/>
              <a:t> </a:t>
            </a:r>
            <a:r>
              <a:rPr lang="ko-KR" altLang="en-US" sz="1200" dirty="0" err="1"/>
              <a:t>push_back</a:t>
            </a:r>
            <a:endParaRPr lang="ko-KR" altLang="en-US" sz="1200" dirty="0"/>
          </a:p>
          <a:p>
            <a:r>
              <a:rPr lang="ko-KR" altLang="en-US" sz="1200" dirty="0" err="1"/>
              <a:t>void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FrustumCullBVH</a:t>
            </a:r>
            <a:r>
              <a:rPr lang="ko-KR" altLang="en-US" sz="1200" dirty="0"/>
              <a:t>(</a:t>
            </a:r>
            <a:r>
              <a:rPr lang="ko-KR" altLang="en-US" sz="1200" dirty="0" err="1"/>
              <a:t>BVHNode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const</a:t>
            </a:r>
            <a:r>
              <a:rPr lang="ko-KR" altLang="en-US" sz="1200" dirty="0"/>
              <a:t> </a:t>
            </a:r>
            <a:r>
              <a:rPr lang="ko-KR" altLang="en-US" sz="1200" dirty="0" err="1"/>
              <a:t>FrustumPlanes</a:t>
            </a:r>
            <a:r>
              <a:rPr lang="ko-KR" altLang="en-US" sz="1200" dirty="0"/>
              <a:t>&amp;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</a:t>
            </a:r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	</a:t>
            </a:r>
            <a:r>
              <a:rPr lang="ko-KR" altLang="en-US" sz="1200" dirty="0" err="1"/>
              <a:t>std</a:t>
            </a:r>
            <a:r>
              <a:rPr lang="ko-KR" altLang="en-US" sz="1200" dirty="0"/>
              <a:t>::</a:t>
            </a:r>
            <a:r>
              <a:rPr lang="ko-KR" altLang="en-US" sz="1200" dirty="0" err="1"/>
              <a:t>vector</a:t>
            </a:r>
            <a:r>
              <a:rPr lang="ko-KR" altLang="en-US" sz="1200" dirty="0"/>
              <a:t>&lt;uint32_t&gt;&amp; </a:t>
            </a:r>
            <a:r>
              <a:rPr lang="ko-KR" altLang="en-US" sz="1200" dirty="0" err="1"/>
              <a:t>outVisible</a:t>
            </a:r>
            <a:r>
              <a:rPr lang="ko-KR" altLang="en-US" sz="1200" dirty="0"/>
              <a:t>) </a:t>
            </a:r>
            <a:endParaRPr lang="en-US" altLang="ko-KR" sz="1200" dirty="0"/>
          </a:p>
          <a:p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1) 부모 노드의 </a:t>
            </a:r>
            <a:r>
              <a:rPr lang="ko-KR" altLang="en-US" sz="1200" dirty="0" err="1"/>
              <a:t>AABB와</a:t>
            </a:r>
            <a:r>
              <a:rPr lang="ko-KR" altLang="en-US" sz="1200" dirty="0"/>
              <a:t> 먼저 교차 검사 → 가지치기!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IntersectsFrustumAABB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bounds</a:t>
            </a:r>
            <a:r>
              <a:rPr lang="ko-KR" altLang="en-US" sz="1200" dirty="0"/>
              <a:t>))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IsLeaf</a:t>
            </a:r>
            <a:r>
              <a:rPr lang="ko-KR" altLang="en-US" sz="1200" dirty="0"/>
              <a:t>()) {</a:t>
            </a:r>
          </a:p>
          <a:p>
            <a:r>
              <a:rPr lang="ko-KR" altLang="en-US" sz="1200" dirty="0"/>
              <a:t>        // 2) 리프면 들어있는 오브젝트 개별 검사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for</a:t>
            </a:r>
            <a:r>
              <a:rPr lang="ko-KR" altLang="en-US" sz="1200" dirty="0"/>
              <a:t> (uint32_t 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 : 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objects</a:t>
            </a:r>
            <a:r>
              <a:rPr lang="ko-KR" altLang="en-US" sz="1200" dirty="0"/>
              <a:t>) {</a:t>
            </a:r>
          </a:p>
          <a:p>
            <a:r>
              <a:rPr lang="ko-KR" altLang="en-US" sz="1200" dirty="0"/>
              <a:t>            // 오브젝트 </a:t>
            </a:r>
            <a:r>
              <a:rPr lang="ko-KR" altLang="en-US" sz="1200" dirty="0" err="1"/>
              <a:t>AABB가</a:t>
            </a:r>
            <a:r>
              <a:rPr lang="ko-KR" altLang="en-US" sz="1200" dirty="0"/>
              <a:t> 필요함: </a:t>
            </a:r>
            <a:r>
              <a:rPr lang="ko-KR" altLang="en-US" sz="1200" dirty="0" err="1"/>
              <a:t>호출측에서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aabbs</a:t>
            </a:r>
            <a:r>
              <a:rPr lang="ko-KR" altLang="en-US" sz="1200" dirty="0"/>
              <a:t>[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]</a:t>
            </a:r>
            <a:r>
              <a:rPr lang="ko-KR" altLang="en-US" sz="1200" dirty="0" err="1"/>
              <a:t>를</a:t>
            </a:r>
            <a:r>
              <a:rPr lang="ko-KR" altLang="en-US" sz="1200" dirty="0"/>
              <a:t> 알 수 있어야 </a:t>
            </a:r>
            <a:endParaRPr lang="en-US" altLang="ko-KR" sz="1200" dirty="0"/>
          </a:p>
          <a:p>
            <a:r>
              <a:rPr lang="en-US" altLang="ko-KR" sz="1200" dirty="0"/>
              <a:t>        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IntersectsFrustumAABB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gObject</a:t>
            </a:r>
            <a:r>
              <a:rPr lang="en-US" altLang="ko-KR" sz="1200" dirty="0"/>
              <a:t>s</a:t>
            </a:r>
            <a:r>
              <a:rPr lang="ko-KR" altLang="en-US" sz="1200" dirty="0"/>
              <a:t>[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]</a:t>
            </a:r>
            <a:r>
              <a:rPr lang="en-US" altLang="ko-KR" sz="1200" dirty="0"/>
              <a:t>.bound</a:t>
            </a:r>
            <a:r>
              <a:rPr lang="ko-KR" altLang="en-US" sz="1200" dirty="0"/>
              <a:t>))</a:t>
            </a:r>
          </a:p>
          <a:p>
            <a:r>
              <a:rPr lang="ko-KR" altLang="en-US" sz="1200" dirty="0"/>
              <a:t>                </a:t>
            </a:r>
            <a:r>
              <a:rPr lang="ko-KR" altLang="en-US" sz="1200" dirty="0" err="1"/>
              <a:t>outVisible.push_back</a:t>
            </a:r>
            <a:r>
              <a:rPr lang="ko-KR" altLang="en-US" sz="1200" dirty="0"/>
              <a:t>(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        }</a:t>
            </a:r>
          </a:p>
          <a:p>
            <a:r>
              <a:rPr lang="ko-KR" altLang="en-US" sz="1200" dirty="0"/>
              <a:t>    } </a:t>
            </a:r>
            <a:r>
              <a:rPr lang="ko-KR" altLang="en-US" sz="1200" dirty="0" err="1"/>
              <a:t>else</a:t>
            </a:r>
            <a:r>
              <a:rPr lang="ko-KR" altLang="en-US" sz="1200" dirty="0"/>
              <a:t> {</a:t>
            </a:r>
          </a:p>
          <a:p>
            <a:r>
              <a:rPr lang="ko-KR" altLang="en-US" sz="1200" dirty="0"/>
              <a:t>        // 3) 내부면 자식으로 </a:t>
            </a:r>
            <a:r>
              <a:rPr lang="ko-KR" altLang="en-US" sz="1200" dirty="0" err="1"/>
              <a:t>내려감</a:t>
            </a:r>
            <a:endParaRPr lang="ko-KR" altLang="en-US" sz="1200" dirty="0"/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FrustumCullBVH</a:t>
            </a:r>
            <a:r>
              <a:rPr lang="ko-KR" altLang="en-US" sz="1200" dirty="0"/>
              <a:t>(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left</a:t>
            </a:r>
            <a:r>
              <a:rPr lang="ko-KR" altLang="en-US" sz="1200" dirty="0"/>
              <a:t>, 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outVisible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FrustumCullBVH</a:t>
            </a:r>
            <a:r>
              <a:rPr lang="ko-KR" altLang="en-US" sz="1200" dirty="0"/>
              <a:t>(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right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outVisible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    }</a:t>
            </a:r>
          </a:p>
          <a:p>
            <a:r>
              <a:rPr lang="ko-KR" altLang="en-US" sz="12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311498-C759-F11B-36F2-D33DC99908B9}"/>
              </a:ext>
            </a:extLst>
          </p:cNvPr>
          <p:cNvSpPr txBox="1"/>
          <p:nvPr/>
        </p:nvSpPr>
        <p:spPr>
          <a:xfrm>
            <a:off x="6215531" y="1864183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i="1" dirty="0"/>
              <a:t>의사 코드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75C3557-562A-8515-EA27-219A1D71D424}"/>
              </a:ext>
            </a:extLst>
          </p:cNvPr>
          <p:cNvGrpSpPr/>
          <p:nvPr/>
        </p:nvGrpSpPr>
        <p:grpSpPr>
          <a:xfrm>
            <a:off x="1355427" y="1855450"/>
            <a:ext cx="2200752" cy="1490535"/>
            <a:chOff x="3168690" y="5090562"/>
            <a:chExt cx="2200752" cy="1490535"/>
          </a:xfrm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E9E395E8-F342-7D6F-8036-C22391B030DE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오각형 13">
              <a:extLst>
                <a:ext uri="{FF2B5EF4-FFF2-40B4-BE49-F238E27FC236}">
                  <a16:creationId xmlns:a16="http://schemas.microsoft.com/office/drawing/2014/main" id="{6DACE16E-6723-8952-E8C7-B945340883B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이등변 삼각형 14">
              <a:extLst>
                <a:ext uri="{FF2B5EF4-FFF2-40B4-BE49-F238E27FC236}">
                  <a16:creationId xmlns:a16="http://schemas.microsoft.com/office/drawing/2014/main" id="{64054D43-B339-07F9-295D-72C5ECB96311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4843C008-4443-8E3C-8C59-E1B515D94328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52830B21-2E2A-C155-F9D8-2EC044EF54A2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74A801FB-526F-34A9-8B0C-FF5E326AF950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3B061343-6C66-4E65-A302-90A0388CB26A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BEDA25F-E078-0CCC-C65F-CDF1CC1A277B}"/>
                </a:ext>
              </a:extLst>
            </p:cNvPr>
            <p:cNvCxnSpPr>
              <a:stCxn id="17" idx="2"/>
              <a:endCxn id="12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327B705-D7C3-D127-4838-DC4E74BF8B8F}"/>
                </a:ext>
              </a:extLst>
            </p:cNvPr>
            <p:cNvCxnSpPr>
              <a:cxnSpLocks/>
              <a:stCxn id="17" idx="2"/>
              <a:endCxn id="14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4060FEC-09E2-9C15-93E8-098FF2AC2409}"/>
                </a:ext>
              </a:extLst>
            </p:cNvPr>
            <p:cNvCxnSpPr>
              <a:cxnSpLocks/>
              <a:stCxn id="18" idx="2"/>
              <a:endCxn id="15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FBD8ED35-CEA2-749E-444C-50504B6D22B9}"/>
                </a:ext>
              </a:extLst>
            </p:cNvPr>
            <p:cNvCxnSpPr>
              <a:cxnSpLocks/>
              <a:stCxn id="18" idx="2"/>
              <a:endCxn id="16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49638092-CA8E-792A-0723-E9571667DD04}"/>
                </a:ext>
              </a:extLst>
            </p:cNvPr>
            <p:cNvCxnSpPr>
              <a:cxnSpLocks/>
              <a:stCxn id="19" idx="2"/>
              <a:endCxn id="17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8649B106-EA19-36E5-B5ED-70C2DA643664}"/>
                </a:ext>
              </a:extLst>
            </p:cNvPr>
            <p:cNvCxnSpPr>
              <a:cxnSpLocks/>
              <a:stCxn id="19" idx="2"/>
              <a:endCxn id="18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9739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5963D3-B358-510A-D2CC-673D089DE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BVH </a:t>
            </a:r>
            <a:r>
              <a:rPr lang="ko-KR" altLang="en-US" dirty="0"/>
              <a:t>배열 트리의 의사 코드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5BB7C46-3E6B-CE5D-1372-0E61FDC30118}"/>
              </a:ext>
            </a:extLst>
          </p:cNvPr>
          <p:cNvGrpSpPr/>
          <p:nvPr/>
        </p:nvGrpSpPr>
        <p:grpSpPr>
          <a:xfrm>
            <a:off x="990992" y="1890733"/>
            <a:ext cx="2200752" cy="1490535"/>
            <a:chOff x="3168690" y="5090562"/>
            <a:chExt cx="2200752" cy="1490535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80F6F542-F1EB-6A4B-C378-28481CA15A65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오각형 4">
              <a:extLst>
                <a:ext uri="{FF2B5EF4-FFF2-40B4-BE49-F238E27FC236}">
                  <a16:creationId xmlns:a16="http://schemas.microsoft.com/office/drawing/2014/main" id="{37583BB6-C748-4EC4-B981-4FD16B46D0F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94E8D1A8-7753-2422-2936-789385194E26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이등변 삼각형 6">
              <a:extLst>
                <a:ext uri="{FF2B5EF4-FFF2-40B4-BE49-F238E27FC236}">
                  <a16:creationId xmlns:a16="http://schemas.microsoft.com/office/drawing/2014/main" id="{74BD055A-5EF7-8313-299B-45FADC667E66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E4D52C-EF12-D73B-06FE-C9EDB724D6F9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B2AFBC-1A03-9266-1153-99DF48795793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F077FEED-F53E-8D78-2121-01965B1C64D1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D4016129-CBE2-85D2-ED7F-A55FE60D5818}"/>
                </a:ext>
              </a:extLst>
            </p:cNvPr>
            <p:cNvCxnSpPr>
              <a:stCxn id="8" idx="2"/>
              <a:endCxn id="4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FC168E8A-9450-6372-0C09-4849A26D21CC}"/>
                </a:ext>
              </a:extLst>
            </p:cNvPr>
            <p:cNvCxnSpPr>
              <a:cxnSpLocks/>
              <a:stCxn id="8" idx="2"/>
              <a:endCxn id="5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312B968B-2038-1EEB-50AD-869EB30A9734}"/>
                </a:ext>
              </a:extLst>
            </p:cNvPr>
            <p:cNvCxnSpPr>
              <a:cxnSpLocks/>
              <a:stCxn id="9" idx="2"/>
              <a:endCxn id="6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B0E96D81-D8C0-62EC-FFA9-3C0642FD0FBA}"/>
                </a:ext>
              </a:extLst>
            </p:cNvPr>
            <p:cNvCxnSpPr>
              <a:cxnSpLocks/>
              <a:stCxn id="9" idx="2"/>
              <a:endCxn id="7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C0FC877-7090-2F29-CCA6-CFC86CC940F8}"/>
                </a:ext>
              </a:extLst>
            </p:cNvPr>
            <p:cNvCxnSpPr>
              <a:cxnSpLocks/>
              <a:stCxn id="10" idx="2"/>
              <a:endCxn id="8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6A76616B-F1C2-D0BC-656D-284BEC59329B}"/>
                </a:ext>
              </a:extLst>
            </p:cNvPr>
            <p:cNvCxnSpPr>
              <a:cxnSpLocks/>
              <a:stCxn id="10" idx="2"/>
              <a:endCxn id="9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EF9B27E4-A3AA-899D-CA58-A54926A63E04}"/>
              </a:ext>
            </a:extLst>
          </p:cNvPr>
          <p:cNvSpPr txBox="1"/>
          <p:nvPr/>
        </p:nvSpPr>
        <p:spPr>
          <a:xfrm>
            <a:off x="3713811" y="1532761"/>
            <a:ext cx="831248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// </a:t>
            </a:r>
            <a:r>
              <a:rPr lang="ko-KR" altLang="en-US" sz="1600" dirty="0" err="1"/>
              <a:t>DirectX</a:t>
            </a:r>
            <a:r>
              <a:rPr lang="ko-KR" altLang="en-US" sz="1600" dirty="0"/>
              <a:t> C/C++ 표현</a:t>
            </a:r>
          </a:p>
          <a:p>
            <a:r>
              <a:rPr lang="ko-KR" altLang="en-US" sz="1600" dirty="0" err="1"/>
              <a:t>struct</a:t>
            </a:r>
            <a:r>
              <a:rPr lang="ko-KR" altLang="en-US" sz="1600" dirty="0"/>
              <a:t> AABB {</a:t>
            </a:r>
          </a:p>
          <a:p>
            <a:r>
              <a:rPr lang="ko-KR" altLang="en-US" sz="1600" dirty="0"/>
              <a:t>    </a:t>
            </a:r>
            <a:r>
              <a:rPr lang="ko-KR" altLang="en-US" sz="1600" dirty="0" err="1"/>
              <a:t>DirectX</a:t>
            </a:r>
            <a:r>
              <a:rPr lang="ko-KR" altLang="en-US" sz="1600" dirty="0"/>
              <a:t>::XMFLOAT3 </a:t>
            </a:r>
            <a:r>
              <a:rPr lang="ko-KR" altLang="en-US" sz="1600" dirty="0" err="1"/>
              <a:t>min</a:t>
            </a:r>
            <a:r>
              <a:rPr lang="ko-KR" altLang="en-US" sz="1600" dirty="0"/>
              <a:t>; // (</a:t>
            </a:r>
            <a:r>
              <a:rPr lang="ko-KR" altLang="en-US" sz="1600" dirty="0" err="1"/>
              <a:t>x,y,z</a:t>
            </a:r>
            <a:r>
              <a:rPr lang="ko-KR" altLang="en-US" sz="1600" dirty="0"/>
              <a:t>)</a:t>
            </a:r>
          </a:p>
          <a:p>
            <a:r>
              <a:rPr lang="ko-KR" altLang="en-US" sz="1600" dirty="0"/>
              <a:t>    </a:t>
            </a:r>
            <a:r>
              <a:rPr lang="ko-KR" altLang="en-US" sz="1600" dirty="0" err="1"/>
              <a:t>DirectX</a:t>
            </a:r>
            <a:r>
              <a:rPr lang="ko-KR" altLang="en-US" sz="1600" dirty="0"/>
              <a:t>::XMFLOAT3 </a:t>
            </a:r>
            <a:r>
              <a:rPr lang="ko-KR" altLang="en-US" sz="1600" dirty="0" err="1"/>
              <a:t>max</a:t>
            </a:r>
            <a:r>
              <a:rPr lang="ko-KR" altLang="en-US" sz="1600" dirty="0"/>
              <a:t>; // (</a:t>
            </a:r>
            <a:r>
              <a:rPr lang="ko-KR" altLang="en-US" sz="1600" dirty="0" err="1"/>
              <a:t>x,y,z</a:t>
            </a:r>
            <a:r>
              <a:rPr lang="ko-KR" altLang="en-US" sz="1600" dirty="0"/>
              <a:t>)</a:t>
            </a:r>
          </a:p>
          <a:p>
            <a:r>
              <a:rPr lang="ko-KR" altLang="en-US" sz="1600" dirty="0"/>
              <a:t>};</a:t>
            </a:r>
          </a:p>
          <a:p>
            <a:endParaRPr lang="ko-KR" altLang="en-US" sz="1600" dirty="0"/>
          </a:p>
          <a:p>
            <a:r>
              <a:rPr lang="ko-KR" altLang="en-US" sz="1600" dirty="0" err="1"/>
              <a:t>struct</a:t>
            </a:r>
            <a:r>
              <a:rPr lang="ko-KR" altLang="en-US" sz="1600" dirty="0"/>
              <a:t> </a:t>
            </a:r>
            <a:r>
              <a:rPr lang="ko-KR" altLang="en-US" sz="1600" dirty="0" err="1"/>
              <a:t>BVHNode</a:t>
            </a:r>
            <a:r>
              <a:rPr lang="ko-KR" altLang="en-US" sz="1600" dirty="0"/>
              <a:t> {</a:t>
            </a:r>
          </a:p>
          <a:p>
            <a:r>
              <a:rPr lang="ko-KR" altLang="en-US" sz="1600" dirty="0"/>
              <a:t>    AABB      </a:t>
            </a:r>
            <a:r>
              <a:rPr lang="ko-KR" altLang="en-US" sz="1600" dirty="0" err="1"/>
              <a:t>bounds</a:t>
            </a:r>
            <a:r>
              <a:rPr lang="ko-KR" altLang="en-US" sz="1600" dirty="0"/>
              <a:t>;       // 이 노드의 AABB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left</a:t>
            </a:r>
            <a:r>
              <a:rPr lang="ko-KR" altLang="en-US" sz="1600" dirty="0"/>
              <a:t>;         // 왼쪽 자식 노드 인덱스 (리프면 </a:t>
            </a:r>
            <a:r>
              <a:rPr lang="ko-KR" altLang="en-US" sz="1600" dirty="0" err="1"/>
              <a:t>firstObject</a:t>
            </a:r>
            <a:r>
              <a:rPr lang="ko-KR" altLang="en-US" sz="1600" dirty="0"/>
              <a:t>)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right</a:t>
            </a:r>
            <a:r>
              <a:rPr lang="ko-KR" altLang="en-US" sz="1600" dirty="0"/>
              <a:t>;        // 오른쪽 자식 노드 인덱스 (리프면 </a:t>
            </a:r>
            <a:r>
              <a:rPr lang="ko-KR" altLang="en-US" sz="1600" dirty="0" err="1"/>
              <a:t>objectCount와</a:t>
            </a:r>
            <a:r>
              <a:rPr lang="ko-KR" altLang="en-US" sz="1600" dirty="0"/>
              <a:t> 혼용 가능)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firstObject</a:t>
            </a:r>
            <a:r>
              <a:rPr lang="ko-KR" altLang="en-US" sz="1600" dirty="0"/>
              <a:t>;  // 리프일 때: 오브젝트 시작 인덱스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objectCount</a:t>
            </a:r>
            <a:r>
              <a:rPr lang="ko-KR" altLang="en-US" sz="1600" dirty="0"/>
              <a:t>;  // 리프일 때: 오브젝트 개수 (0이면 내부 노드)</a:t>
            </a:r>
          </a:p>
          <a:p>
            <a:r>
              <a:rPr lang="ko-KR" altLang="en-US" sz="1600" dirty="0"/>
              <a:t>    // </a:t>
            </a:r>
            <a:r>
              <a:rPr lang="ko-KR" altLang="en-US" sz="1600" dirty="0" err="1"/>
              <a:t>내부노드면</a:t>
            </a:r>
            <a:r>
              <a:rPr lang="ko-KR" altLang="en-US" sz="1600" dirty="0"/>
              <a:t> </a:t>
            </a:r>
            <a:r>
              <a:rPr lang="ko-KR" altLang="en-US" sz="1600" dirty="0" err="1"/>
              <a:t>objectCount</a:t>
            </a:r>
            <a:r>
              <a:rPr lang="ko-KR" altLang="en-US" sz="1600" dirty="0"/>
              <a:t>==0, </a:t>
            </a:r>
            <a:r>
              <a:rPr lang="ko-KR" altLang="en-US" sz="1600" dirty="0" err="1"/>
              <a:t>left</a:t>
            </a:r>
            <a:r>
              <a:rPr lang="ko-KR" altLang="en-US" sz="1600" dirty="0"/>
              <a:t>/</a:t>
            </a:r>
            <a:r>
              <a:rPr lang="ko-KR" altLang="en-US" sz="1600" dirty="0" err="1"/>
              <a:t>right는</a:t>
            </a:r>
            <a:r>
              <a:rPr lang="ko-KR" altLang="en-US" sz="1600" dirty="0"/>
              <a:t> 유효한 노드 인덱스</a:t>
            </a:r>
          </a:p>
          <a:p>
            <a:r>
              <a:rPr lang="ko-KR" altLang="en-US" sz="1600" dirty="0"/>
              <a:t>    // </a:t>
            </a:r>
            <a:r>
              <a:rPr lang="ko-KR" altLang="en-US" sz="1600" dirty="0" err="1"/>
              <a:t>리프노드면</a:t>
            </a:r>
            <a:r>
              <a:rPr lang="ko-KR" altLang="en-US" sz="1600" dirty="0"/>
              <a:t> </a:t>
            </a:r>
            <a:r>
              <a:rPr lang="ko-KR" altLang="en-US" sz="1600" dirty="0" err="1"/>
              <a:t>left</a:t>
            </a:r>
            <a:r>
              <a:rPr lang="ko-KR" altLang="en-US" sz="1600" dirty="0"/>
              <a:t>/</a:t>
            </a:r>
            <a:r>
              <a:rPr lang="ko-KR" altLang="en-US" sz="1600" dirty="0" err="1"/>
              <a:t>right는</a:t>
            </a:r>
            <a:r>
              <a:rPr lang="ko-KR" altLang="en-US" sz="1600" dirty="0"/>
              <a:t> 사용하지 않음(또는 압축 인코딩 사용)</a:t>
            </a:r>
          </a:p>
          <a:p>
            <a:r>
              <a:rPr lang="ko-KR" altLang="en-US" sz="1600" dirty="0"/>
              <a:t>};</a:t>
            </a:r>
          </a:p>
          <a:p>
            <a:endParaRPr lang="ko-KR" altLang="en-US" sz="1600" dirty="0"/>
          </a:p>
          <a:p>
            <a:r>
              <a:rPr lang="ko-KR" altLang="en-US" sz="1600" dirty="0" err="1"/>
              <a:t>std</a:t>
            </a:r>
            <a:r>
              <a:rPr lang="ko-KR" altLang="en-US" sz="1600" dirty="0"/>
              <a:t>::</a:t>
            </a:r>
            <a:r>
              <a:rPr lang="ko-KR" altLang="en-US" sz="1600" dirty="0" err="1"/>
              <a:t>vector</a:t>
            </a:r>
            <a:r>
              <a:rPr lang="ko-KR" altLang="en-US" sz="1600" dirty="0"/>
              <a:t>&lt;</a:t>
            </a:r>
            <a:r>
              <a:rPr lang="ko-KR" altLang="en-US" sz="1600" dirty="0" err="1"/>
              <a:t>BVHNode</a:t>
            </a:r>
            <a:r>
              <a:rPr lang="ko-KR" altLang="en-US" sz="1600" dirty="0"/>
              <a:t>&gt;    </a:t>
            </a:r>
            <a:r>
              <a:rPr lang="ko-KR" altLang="en-US" sz="1600" dirty="0" err="1"/>
              <a:t>gNodes</a:t>
            </a:r>
            <a:r>
              <a:rPr lang="ko-KR" altLang="en-US" sz="1600" dirty="0"/>
              <a:t>;      // 연속 배열로 저장되는 트리</a:t>
            </a:r>
          </a:p>
          <a:p>
            <a:r>
              <a:rPr lang="ko-KR" altLang="en-US" sz="1600" dirty="0"/>
              <a:t>uint32_t                </a:t>
            </a:r>
            <a:r>
              <a:rPr lang="ko-KR" altLang="en-US" sz="1600" dirty="0" err="1"/>
              <a:t>gRoot</a:t>
            </a:r>
            <a:r>
              <a:rPr lang="ko-KR" altLang="en-US" sz="1600" dirty="0"/>
              <a:t> = 0;   // 루트 노드 인덱스</a:t>
            </a:r>
          </a:p>
          <a:p>
            <a:r>
              <a:rPr lang="ko-KR" altLang="en-US" sz="1600" dirty="0" err="1"/>
              <a:t>std</a:t>
            </a:r>
            <a:r>
              <a:rPr lang="ko-KR" altLang="en-US" sz="1600" dirty="0"/>
              <a:t>::</a:t>
            </a:r>
            <a:r>
              <a:rPr lang="ko-KR" altLang="en-US" sz="1600" dirty="0" err="1"/>
              <a:t>vector</a:t>
            </a:r>
            <a:r>
              <a:rPr lang="ko-KR" altLang="en-US" sz="1600" dirty="0"/>
              <a:t>&lt;uint32_t&gt;   </a:t>
            </a:r>
            <a:r>
              <a:rPr lang="ko-KR" altLang="en-US" sz="1600" dirty="0" err="1"/>
              <a:t>gObjectIdx</a:t>
            </a:r>
            <a:r>
              <a:rPr lang="ko-KR" altLang="en-US" sz="1600" dirty="0"/>
              <a:t>;  // 리프가 가리키는 오브젝트 인덱스들(연속 저장)</a:t>
            </a:r>
          </a:p>
          <a:p>
            <a:r>
              <a:rPr lang="ko-KR" altLang="en-US" sz="1600" dirty="0" err="1"/>
              <a:t>std</a:t>
            </a:r>
            <a:r>
              <a:rPr lang="ko-KR" altLang="en-US" sz="1600" dirty="0"/>
              <a:t>::</a:t>
            </a:r>
            <a:r>
              <a:rPr lang="ko-KR" altLang="en-US" sz="1600" dirty="0" err="1"/>
              <a:t>vector</a:t>
            </a:r>
            <a:r>
              <a:rPr lang="ko-KR" altLang="en-US" sz="1600" dirty="0"/>
              <a:t>&lt;AABB&gt;       </a:t>
            </a:r>
            <a:r>
              <a:rPr lang="ko-KR" altLang="en-US" sz="1600" dirty="0" err="1"/>
              <a:t>gObjectAABB</a:t>
            </a:r>
            <a:r>
              <a:rPr lang="ko-KR" altLang="en-US" sz="1600" dirty="0"/>
              <a:t>; // 원본 오브젝트 AABB</a:t>
            </a:r>
          </a:p>
        </p:txBody>
      </p:sp>
    </p:spTree>
    <p:extLst>
      <p:ext uri="{BB962C8B-B14F-4D97-AF65-F5344CB8AC3E}">
        <p14:creationId xmlns:p14="http://schemas.microsoft.com/office/powerpoint/2010/main" val="840882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DD70B7-ACCB-7394-DC70-43B8A2A91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BVH </a:t>
            </a:r>
            <a:r>
              <a:rPr lang="ko-KR" altLang="en-US" dirty="0"/>
              <a:t>배열 트리를 위한 공간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906C54-23A4-8B69-8507-3276EF32CAAA}"/>
              </a:ext>
            </a:extLst>
          </p:cNvPr>
          <p:cNvSpPr txBox="1"/>
          <p:nvPr/>
        </p:nvSpPr>
        <p:spPr>
          <a:xfrm>
            <a:off x="223731" y="1690688"/>
            <a:ext cx="11312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AABB</a:t>
            </a:r>
            <a:r>
              <a:rPr lang="ko-KR" altLang="en-US" dirty="0"/>
              <a:t>가 </a:t>
            </a:r>
            <a:r>
              <a:rPr lang="en-US" altLang="ko-K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</a:t>
            </a:r>
            <a:r>
              <a:rPr lang="ko-KR" altLang="en-US" dirty="0"/>
              <a:t>개 </a:t>
            </a:r>
            <a:r>
              <a:rPr lang="en-US" altLang="ko-KR" dirty="0"/>
              <a:t>Leaf</a:t>
            </a:r>
            <a:r>
              <a:rPr lang="ko-KR" altLang="en-US" dirty="0"/>
              <a:t>의 소유 최대</a:t>
            </a:r>
            <a:r>
              <a:rPr lang="en-US" altLang="ko-K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L(2)</a:t>
            </a:r>
            <a:r>
              <a:rPr lang="ko-KR" altLang="en-US" dirty="0"/>
              <a:t>개 라면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이진트리인</a:t>
            </a:r>
            <a:r>
              <a:rPr lang="ko-KR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BVH2 </a:t>
            </a:r>
            <a:r>
              <a:rPr lang="ko-KR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트리구성</a:t>
            </a:r>
            <a:r>
              <a:rPr lang="ko-KR" altLang="en-US" dirty="0"/>
              <a:t>을 위한 배열공간은 몇 개가 필요할까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B8469C7-70FD-BDA3-054C-EEED9D822395}"/>
                  </a:ext>
                </a:extLst>
              </p:cNvPr>
              <p:cNvSpPr txBox="1"/>
              <p:nvPr/>
            </p:nvSpPr>
            <p:spPr>
              <a:xfrm>
                <a:off x="3961288" y="2462386"/>
                <a:ext cx="3656732" cy="22140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 dirty="0"/>
                  <a:t>내부 노드</a:t>
                </a:r>
                <a:r>
                  <a:rPr lang="en-US" altLang="ko-KR" sz="1200" dirty="0"/>
                  <a:t>(Internal</a:t>
                </a:r>
                <a:r>
                  <a:rPr lang="ko-KR" altLang="en-US" sz="1200" dirty="0"/>
                  <a:t> </a:t>
                </a:r>
                <a:r>
                  <a:rPr lang="en-US" altLang="ko-KR" sz="1200" dirty="0"/>
                  <a:t>Node):</a:t>
                </a:r>
                <a:r>
                  <a:rPr lang="ko-KR" altLang="en-US" sz="12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ko-KR" altLang="en-US" sz="120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2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1200" dirty="0"/>
                  <a:t> </a:t>
                </a:r>
                <a:endParaRPr lang="en-US" altLang="ko-KR" sz="1200" dirty="0"/>
              </a:p>
              <a:p>
                <a:r>
                  <a:rPr lang="en-US" altLang="ko-KR" sz="1200" dirty="0"/>
                  <a:t>Leaf</a:t>
                </a:r>
                <a:r>
                  <a:rPr lang="ko-KR" altLang="en-US" sz="1200" dirty="0"/>
                  <a:t>를 제외한 모든 부모 노드</a:t>
                </a:r>
                <a:endParaRPr lang="en-US" altLang="ko-KR" sz="1200" dirty="0"/>
              </a:p>
              <a:p>
                <a:endParaRPr lang="en-US" altLang="ko-KR" sz="1200" dirty="0"/>
              </a:p>
              <a:p>
                <a:endParaRPr lang="en-US" altLang="ko-KR" sz="1200" dirty="0"/>
              </a:p>
              <a:p>
                <a:endParaRPr lang="en-US" altLang="ko-KR" sz="1200" dirty="0"/>
              </a:p>
              <a:p>
                <a:endParaRPr lang="en-US" altLang="ko-KR" sz="1200" dirty="0"/>
              </a:p>
              <a:p>
                <a:r>
                  <a:rPr lang="ko-KR" altLang="en-US" sz="1200" dirty="0"/>
                  <a:t>리프 노드 개수</a:t>
                </a:r>
                <a:r>
                  <a:rPr lang="en-US" altLang="ko-KR" sz="1200" dirty="0"/>
                  <a:t>: </a:t>
                </a:r>
                <a14:m>
                  <m:oMath xmlns:m="http://schemas.openxmlformats.org/officeDocument/2006/math">
                    <m:r>
                      <a:rPr lang="ko-KR" altLang="en-US" sz="1200" i="1"/>
                      <m:t>𝐾</m:t>
                    </m:r>
                    <m:r>
                      <a:rPr lang="en-US" altLang="ko-KR" sz="1200"/>
                      <m:t>=</m:t>
                    </m:r>
                    <m:d>
                      <m:dPr>
                        <m:begChr m:val="⌈"/>
                        <m:endChr m:val="⌉"/>
                        <m:ctrlPr>
                          <a:rPr lang="ko-KR" altLang="en-US" sz="1200" i="1"/>
                        </m:ctrlPr>
                      </m:dPr>
                      <m:e>
                        <m:f>
                          <m:fPr>
                            <m:ctrlPr>
                              <a:rPr lang="ko-KR" altLang="en-US" sz="1200" i="1"/>
                            </m:ctrlPr>
                          </m:fPr>
                          <m:num>
                            <m:r>
                              <a:rPr lang="ko-KR" altLang="en-US" sz="1200" i="1"/>
                              <m:t>𝑁</m:t>
                            </m:r>
                          </m:num>
                          <m:den>
                            <m:r>
                              <a:rPr lang="ko-KR" altLang="en-US" sz="1200" i="1"/>
                              <m:t>𝐿</m:t>
                            </m:r>
                          </m:den>
                        </m:f>
                      </m:e>
                    </m:d>
                  </m:oMath>
                </a14:m>
                <a:r>
                  <a:rPr lang="en-US" altLang="ko-KR" sz="1200" dirty="0"/>
                  <a:t>          ( </a:t>
                </a:r>
                <a:r>
                  <a:rPr lang="ko-KR" altLang="en-US" sz="1200" dirty="0"/>
                  <a:t>기호는 올림</a:t>
                </a:r>
                <a:r>
                  <a:rPr lang="en-US" altLang="ko-KR" sz="1200" dirty="0"/>
                  <a:t>(ceil)</a:t>
                </a:r>
              </a:p>
              <a:p>
                <a:r>
                  <a:rPr lang="ko-KR" altLang="en-US" sz="1200" dirty="0"/>
                  <a:t>실제 오브젝트</a:t>
                </a:r>
                <a:r>
                  <a:rPr lang="en-US" altLang="ko-KR" sz="1200" dirty="0"/>
                  <a:t>(AABB)</a:t>
                </a:r>
                <a:r>
                  <a:rPr lang="ko-KR" altLang="en-US" sz="1200" dirty="0"/>
                  <a:t>들을 담는 노드</a:t>
                </a:r>
                <a:endParaRPr lang="en-US" altLang="ko-KR" sz="1200" dirty="0"/>
              </a:p>
              <a:p>
                <a:endParaRPr lang="en-US" altLang="ko-KR" sz="1200" dirty="0"/>
              </a:p>
              <a:p>
                <a:endParaRPr lang="en-US" altLang="ko-KR" sz="1200" dirty="0"/>
              </a:p>
              <a:p>
                <a:r>
                  <a:rPr lang="en-US" altLang="ko-KR" sz="1200" dirty="0"/>
                  <a:t>AABB</a:t>
                </a:r>
                <a:r>
                  <a:rPr lang="ko-KR" altLang="en-US" sz="1200" dirty="0"/>
                  <a:t>가 </a:t>
                </a:r>
                <a:r>
                  <a:rPr lang="en-US" altLang="ko-KR" sz="12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N</a:t>
                </a:r>
                <a:r>
                  <a:rPr lang="ko-KR" altLang="en-US" sz="1200" dirty="0"/>
                  <a:t>개</a:t>
                </a:r>
                <a:endParaRPr lang="en-US" altLang="ko-KR" sz="12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B8469C7-70FD-BDA3-054C-EEED9D822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1288" y="2462386"/>
                <a:ext cx="3656732" cy="2214068"/>
              </a:xfrm>
              <a:prstGeom prst="rect">
                <a:avLst/>
              </a:prstGeom>
              <a:blipFill>
                <a:blip r:embed="rId2"/>
                <a:stretch>
                  <a:fillRect l="-167" t="-551" b="-19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0104285-FAB1-B12F-60DE-7F7B3B71C9BB}"/>
                  </a:ext>
                </a:extLst>
              </p:cNvPr>
              <p:cNvSpPr txBox="1"/>
              <p:nvPr/>
            </p:nvSpPr>
            <p:spPr>
              <a:xfrm>
                <a:off x="649351" y="4805456"/>
                <a:ext cx="5625038" cy="7052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/>
                  <a:t>전체 노드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배열크기</a:t>
                </a:r>
                <a:r>
                  <a:rPr lang="en-US" altLang="ko-KR" sz="1600" dirty="0"/>
                  <a:t>):</a:t>
                </a: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600" b="0" i="1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ko-KR" altLang="en-US" sz="16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600" b="0" i="1">
                            <a:latin typeface="Cambria Math" panose="02040503050406030204" pitchFamily="18" charset="0"/>
                          </a:rPr>
                          <m:t>internal</m:t>
                        </m:r>
                      </m:sub>
                    </m:sSub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ko-KR" altLang="en-US" sz="16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600" b="0" i="1">
                            <a:latin typeface="Cambria Math" panose="02040503050406030204" pitchFamily="18" charset="0"/>
                          </a:rPr>
                          <m:t>leaf</m:t>
                        </m:r>
                      </m:sub>
                    </m:sSub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ko-KR" altLang="en-US" sz="16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ko-KR" altLang="en-US" sz="1600" b="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b="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=2</m:t>
                    </m:r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ko-KR" altLang="en-US" sz="1600" b="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1600" b="0" dirty="0"/>
                  <a:t> </a:t>
                </a:r>
                <a:r>
                  <a:rPr lang="en-US" altLang="ko-KR" sz="1600" b="0" dirty="0"/>
                  <a:t>=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⌈"/>
                        <m:endChr m:val="⌉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ko-KR" altLang="en-US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-1</m:t>
                    </m:r>
                  </m:oMath>
                </a14:m>
                <a:endParaRPr lang="ko-KR" altLang="en-US" sz="1600" b="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0104285-FAB1-B12F-60DE-7F7B3B71C9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351" y="4805456"/>
                <a:ext cx="5625038" cy="705258"/>
              </a:xfrm>
              <a:prstGeom prst="rect">
                <a:avLst/>
              </a:prstGeom>
              <a:blipFill>
                <a:blip r:embed="rId3"/>
                <a:stretch>
                  <a:fillRect l="-651" t="-3448" b="-8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그룹 61">
            <a:extLst>
              <a:ext uri="{FF2B5EF4-FFF2-40B4-BE49-F238E27FC236}">
                <a16:creationId xmlns:a16="http://schemas.microsoft.com/office/drawing/2014/main" id="{472674D5-FCB8-4E95-37DA-6B9E109D9832}"/>
              </a:ext>
            </a:extLst>
          </p:cNvPr>
          <p:cNvGrpSpPr/>
          <p:nvPr/>
        </p:nvGrpSpPr>
        <p:grpSpPr>
          <a:xfrm>
            <a:off x="397226" y="2417912"/>
            <a:ext cx="3497879" cy="2269571"/>
            <a:chOff x="88469" y="2211536"/>
            <a:chExt cx="4744788" cy="3020929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450E7FB3-A19C-8987-4261-506B2B3FF25A}"/>
                </a:ext>
              </a:extLst>
            </p:cNvPr>
            <p:cNvSpPr/>
            <p:nvPr/>
          </p:nvSpPr>
          <p:spPr>
            <a:xfrm>
              <a:off x="171262" y="4650685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오각형 5">
              <a:extLst>
                <a:ext uri="{FF2B5EF4-FFF2-40B4-BE49-F238E27FC236}">
                  <a16:creationId xmlns:a16="http://schemas.microsoft.com/office/drawing/2014/main" id="{546A1766-7EC8-0961-C383-1A38EC8DB12B}"/>
                </a:ext>
              </a:extLst>
            </p:cNvPr>
            <p:cNvSpPr/>
            <p:nvPr/>
          </p:nvSpPr>
          <p:spPr>
            <a:xfrm>
              <a:off x="711857" y="4650685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이등변 삼각형 6">
              <a:extLst>
                <a:ext uri="{FF2B5EF4-FFF2-40B4-BE49-F238E27FC236}">
                  <a16:creationId xmlns:a16="http://schemas.microsoft.com/office/drawing/2014/main" id="{998B719A-C742-54D3-C77F-0817D8D55D47}"/>
                </a:ext>
              </a:extLst>
            </p:cNvPr>
            <p:cNvSpPr/>
            <p:nvPr/>
          </p:nvSpPr>
          <p:spPr>
            <a:xfrm>
              <a:off x="1527446" y="4645247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이등변 삼각형 7">
              <a:extLst>
                <a:ext uri="{FF2B5EF4-FFF2-40B4-BE49-F238E27FC236}">
                  <a16:creationId xmlns:a16="http://schemas.microsoft.com/office/drawing/2014/main" id="{88693122-E8F3-C19D-FAB5-797E36E133E3}"/>
                </a:ext>
              </a:extLst>
            </p:cNvPr>
            <p:cNvSpPr/>
            <p:nvPr/>
          </p:nvSpPr>
          <p:spPr>
            <a:xfrm rot="19025059">
              <a:off x="2094632" y="4563716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09B3F8B-80E9-D333-D1A2-A72AEB4C5426}"/>
                </a:ext>
              </a:extLst>
            </p:cNvPr>
            <p:cNvSpPr/>
            <p:nvPr/>
          </p:nvSpPr>
          <p:spPr>
            <a:xfrm>
              <a:off x="555882" y="4109383"/>
              <a:ext cx="274223" cy="25894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75B3DBB-E3D2-725F-DA69-DEAA9EDE5B51}"/>
                </a:ext>
              </a:extLst>
            </p:cNvPr>
            <p:cNvSpPr/>
            <p:nvPr/>
          </p:nvSpPr>
          <p:spPr>
            <a:xfrm>
              <a:off x="1775052" y="4109382"/>
              <a:ext cx="274223" cy="25894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CC28B0B8-6BED-B8E2-6998-D69E100EB96A}"/>
                </a:ext>
              </a:extLst>
            </p:cNvPr>
            <p:cNvSpPr/>
            <p:nvPr/>
          </p:nvSpPr>
          <p:spPr>
            <a:xfrm>
              <a:off x="1177973" y="320164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42F0575E-0006-1936-D546-91A41DA94544}"/>
                </a:ext>
              </a:extLst>
            </p:cNvPr>
            <p:cNvCxnSpPr>
              <a:stCxn id="9" idx="2"/>
              <a:endCxn id="5" idx="7"/>
            </p:cNvCxnSpPr>
            <p:nvPr/>
          </p:nvCxnSpPr>
          <p:spPr>
            <a:xfrm flipH="1">
              <a:off x="499556" y="4368328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93B49FB5-EA42-3962-FA7A-95EF85C7ACD0}"/>
                </a:ext>
              </a:extLst>
            </p:cNvPr>
            <p:cNvCxnSpPr>
              <a:cxnSpLocks/>
              <a:stCxn id="9" idx="2"/>
              <a:endCxn id="6" idx="0"/>
            </p:cNvCxnSpPr>
            <p:nvPr/>
          </p:nvCxnSpPr>
          <p:spPr>
            <a:xfrm>
              <a:off x="692994" y="4368328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DABE2F10-0905-69E7-B76C-4225F2650FEB}"/>
                </a:ext>
              </a:extLst>
            </p:cNvPr>
            <p:cNvCxnSpPr>
              <a:cxnSpLocks/>
              <a:stCxn id="10" idx="2"/>
              <a:endCxn id="7" idx="0"/>
            </p:cNvCxnSpPr>
            <p:nvPr/>
          </p:nvCxnSpPr>
          <p:spPr>
            <a:xfrm flipH="1">
              <a:off x="1719756" y="4368327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BC4FCAF-766F-E0E6-4848-E18668128CD2}"/>
                </a:ext>
              </a:extLst>
            </p:cNvPr>
            <p:cNvCxnSpPr>
              <a:cxnSpLocks/>
              <a:stCxn id="10" idx="2"/>
              <a:endCxn id="8" idx="5"/>
            </p:cNvCxnSpPr>
            <p:nvPr/>
          </p:nvCxnSpPr>
          <p:spPr>
            <a:xfrm>
              <a:off x="1912164" y="4368327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4AB05508-D1EE-3448-7422-1B59B0B4C6AC}"/>
                </a:ext>
              </a:extLst>
            </p:cNvPr>
            <p:cNvCxnSpPr>
              <a:cxnSpLocks/>
              <a:stCxn id="11" idx="2"/>
              <a:endCxn id="9" idx="0"/>
            </p:cNvCxnSpPr>
            <p:nvPr/>
          </p:nvCxnSpPr>
          <p:spPr>
            <a:xfrm flipH="1">
              <a:off x="692994" y="3460587"/>
              <a:ext cx="622091" cy="64879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381C6607-F64F-B116-5FEC-D87ED5D68E46}"/>
                </a:ext>
              </a:extLst>
            </p:cNvPr>
            <p:cNvCxnSpPr>
              <a:cxnSpLocks/>
              <a:stCxn id="11" idx="2"/>
              <a:endCxn id="10" idx="0"/>
            </p:cNvCxnSpPr>
            <p:nvPr/>
          </p:nvCxnSpPr>
          <p:spPr>
            <a:xfrm>
              <a:off x="1315085" y="3460587"/>
              <a:ext cx="597079" cy="64879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C28B89ED-FF93-1D87-28DD-229F795E88D1}"/>
                </a:ext>
              </a:extLst>
            </p:cNvPr>
            <p:cNvSpPr/>
            <p:nvPr/>
          </p:nvSpPr>
          <p:spPr>
            <a:xfrm>
              <a:off x="150902" y="4645247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6A4D4C8A-DDC3-3E5A-08CA-72C2783F9B77}"/>
                </a:ext>
              </a:extLst>
            </p:cNvPr>
            <p:cNvSpPr/>
            <p:nvPr/>
          </p:nvSpPr>
          <p:spPr>
            <a:xfrm>
              <a:off x="691118" y="4671504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8EFA89AE-22A8-3166-A79E-70DD25DF7B55}"/>
                </a:ext>
              </a:extLst>
            </p:cNvPr>
            <p:cNvSpPr/>
            <p:nvPr/>
          </p:nvSpPr>
          <p:spPr>
            <a:xfrm>
              <a:off x="1517390" y="4670911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9CCCE305-FFFC-38D3-4AAA-B4B7098A0681}"/>
                </a:ext>
              </a:extLst>
            </p:cNvPr>
            <p:cNvSpPr/>
            <p:nvPr/>
          </p:nvSpPr>
          <p:spPr>
            <a:xfrm>
              <a:off x="2031012" y="4645247"/>
              <a:ext cx="523470" cy="497485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7DDADF1-D49F-AC6E-3D65-31733EB729D9}"/>
                </a:ext>
              </a:extLst>
            </p:cNvPr>
            <p:cNvSpPr/>
            <p:nvPr/>
          </p:nvSpPr>
          <p:spPr>
            <a:xfrm>
              <a:off x="2803223" y="4625021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오각형 23">
              <a:extLst>
                <a:ext uri="{FF2B5EF4-FFF2-40B4-BE49-F238E27FC236}">
                  <a16:creationId xmlns:a16="http://schemas.microsoft.com/office/drawing/2014/main" id="{0AF30DBC-CD56-8452-0E96-FA759704FDB8}"/>
                </a:ext>
              </a:extLst>
            </p:cNvPr>
            <p:cNvSpPr/>
            <p:nvPr/>
          </p:nvSpPr>
          <p:spPr>
            <a:xfrm>
              <a:off x="3343818" y="4625021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이등변 삼각형 24">
              <a:extLst>
                <a:ext uri="{FF2B5EF4-FFF2-40B4-BE49-F238E27FC236}">
                  <a16:creationId xmlns:a16="http://schemas.microsoft.com/office/drawing/2014/main" id="{8AF67845-3EA1-5151-F6C6-003FE3E940BC}"/>
                </a:ext>
              </a:extLst>
            </p:cNvPr>
            <p:cNvSpPr/>
            <p:nvPr/>
          </p:nvSpPr>
          <p:spPr>
            <a:xfrm>
              <a:off x="4159407" y="4619583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277CD8EA-96C4-6568-0720-C0C22309FCA4}"/>
                </a:ext>
              </a:extLst>
            </p:cNvPr>
            <p:cNvSpPr/>
            <p:nvPr/>
          </p:nvSpPr>
          <p:spPr>
            <a:xfrm>
              <a:off x="3187843" y="4083719"/>
              <a:ext cx="274223" cy="25894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7578A72-C61F-51CE-DCE7-F04880306E81}"/>
                </a:ext>
              </a:extLst>
            </p:cNvPr>
            <p:cNvSpPr/>
            <p:nvPr/>
          </p:nvSpPr>
          <p:spPr>
            <a:xfrm>
              <a:off x="4407013" y="4083718"/>
              <a:ext cx="274223" cy="25894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DAB516EE-ADD4-D0B3-E780-CA5E49E5625C}"/>
                </a:ext>
              </a:extLst>
            </p:cNvPr>
            <p:cNvSpPr/>
            <p:nvPr/>
          </p:nvSpPr>
          <p:spPr>
            <a:xfrm>
              <a:off x="3809934" y="3175978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339A9F6B-5D98-65C3-AEBD-605DC7830336}"/>
                </a:ext>
              </a:extLst>
            </p:cNvPr>
            <p:cNvCxnSpPr>
              <a:stCxn id="27" idx="2"/>
              <a:endCxn id="23" idx="7"/>
            </p:cNvCxnSpPr>
            <p:nvPr/>
          </p:nvCxnSpPr>
          <p:spPr>
            <a:xfrm flipH="1">
              <a:off x="3131517" y="4342664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46892B5C-9E47-6F95-4DA8-B373D51D6D15}"/>
                </a:ext>
              </a:extLst>
            </p:cNvPr>
            <p:cNvCxnSpPr>
              <a:cxnSpLocks/>
              <a:stCxn id="27" idx="2"/>
              <a:endCxn id="24" idx="0"/>
            </p:cNvCxnSpPr>
            <p:nvPr/>
          </p:nvCxnSpPr>
          <p:spPr>
            <a:xfrm>
              <a:off x="3324955" y="4342664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D2B7A258-5D66-2E37-A2B2-022FE283C8C4}"/>
                </a:ext>
              </a:extLst>
            </p:cNvPr>
            <p:cNvCxnSpPr>
              <a:cxnSpLocks/>
              <a:stCxn id="28" idx="2"/>
              <a:endCxn id="25" idx="0"/>
            </p:cNvCxnSpPr>
            <p:nvPr/>
          </p:nvCxnSpPr>
          <p:spPr>
            <a:xfrm flipH="1">
              <a:off x="4351717" y="4342663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008ED00E-05E4-A934-EB8B-CC9A915495BA}"/>
                </a:ext>
              </a:extLst>
            </p:cNvPr>
            <p:cNvCxnSpPr>
              <a:cxnSpLocks/>
              <a:stCxn id="29" idx="2"/>
              <a:endCxn id="27" idx="0"/>
            </p:cNvCxnSpPr>
            <p:nvPr/>
          </p:nvCxnSpPr>
          <p:spPr>
            <a:xfrm flipH="1">
              <a:off x="3324955" y="3434923"/>
              <a:ext cx="622091" cy="64879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28489A60-78DA-61A4-3348-E562A7632ABC}"/>
                </a:ext>
              </a:extLst>
            </p:cNvPr>
            <p:cNvCxnSpPr>
              <a:cxnSpLocks/>
              <a:stCxn id="29" idx="2"/>
              <a:endCxn id="28" idx="0"/>
            </p:cNvCxnSpPr>
            <p:nvPr/>
          </p:nvCxnSpPr>
          <p:spPr>
            <a:xfrm>
              <a:off x="3947046" y="3434923"/>
              <a:ext cx="597079" cy="64879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699E1F6-8681-647E-9186-DDF68A9B44B4}"/>
                </a:ext>
              </a:extLst>
            </p:cNvPr>
            <p:cNvSpPr/>
            <p:nvPr/>
          </p:nvSpPr>
          <p:spPr>
            <a:xfrm>
              <a:off x="2782863" y="4619583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49F8DBA-58FA-8944-3D51-50D5C3B192F7}"/>
                </a:ext>
              </a:extLst>
            </p:cNvPr>
            <p:cNvSpPr/>
            <p:nvPr/>
          </p:nvSpPr>
          <p:spPr>
            <a:xfrm>
              <a:off x="3323079" y="4645840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C1DE7174-AB2A-FD9F-A3B1-855DFB9B7369}"/>
                </a:ext>
              </a:extLst>
            </p:cNvPr>
            <p:cNvSpPr/>
            <p:nvPr/>
          </p:nvSpPr>
          <p:spPr>
            <a:xfrm>
              <a:off x="4149351" y="4645247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F53896EE-30D1-90C5-EEAC-ACA3F3E56E18}"/>
                </a:ext>
              </a:extLst>
            </p:cNvPr>
            <p:cNvSpPr/>
            <p:nvPr/>
          </p:nvSpPr>
          <p:spPr>
            <a:xfrm>
              <a:off x="2417370" y="2286776"/>
              <a:ext cx="274223" cy="25894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72B348EA-95BE-01DD-BB8D-36A30B01F506}"/>
                </a:ext>
              </a:extLst>
            </p:cNvPr>
            <p:cNvCxnSpPr>
              <a:cxnSpLocks/>
              <a:stCxn id="40" idx="2"/>
              <a:endCxn id="29" idx="0"/>
            </p:cNvCxnSpPr>
            <p:nvPr/>
          </p:nvCxnSpPr>
          <p:spPr>
            <a:xfrm>
              <a:off x="2554482" y="2545721"/>
              <a:ext cx="1392564" cy="6302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C1FC2C01-4F72-1D86-CE2E-610A745D52EF}"/>
                </a:ext>
              </a:extLst>
            </p:cNvPr>
            <p:cNvCxnSpPr>
              <a:cxnSpLocks/>
              <a:stCxn id="11" idx="0"/>
              <a:endCxn id="40" idx="2"/>
            </p:cNvCxnSpPr>
            <p:nvPr/>
          </p:nvCxnSpPr>
          <p:spPr>
            <a:xfrm flipV="1">
              <a:off x="1315085" y="2545721"/>
              <a:ext cx="1239397" cy="65592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CDCEC5E2-C2D4-2DB7-1728-73DBEF0BD588}"/>
                </a:ext>
              </a:extLst>
            </p:cNvPr>
            <p:cNvSpPr/>
            <p:nvPr/>
          </p:nvSpPr>
          <p:spPr>
            <a:xfrm>
              <a:off x="88471" y="4499201"/>
              <a:ext cx="4744785" cy="733264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7E521620-AE97-BB61-7FAE-0CACC33F887A}"/>
                </a:ext>
              </a:extLst>
            </p:cNvPr>
            <p:cNvSpPr/>
            <p:nvPr/>
          </p:nvSpPr>
          <p:spPr>
            <a:xfrm>
              <a:off x="88471" y="3831898"/>
              <a:ext cx="4744786" cy="618110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758E6920-45B0-0DC8-E33E-5906DADAFAD6}"/>
                </a:ext>
              </a:extLst>
            </p:cNvPr>
            <p:cNvSpPr/>
            <p:nvPr/>
          </p:nvSpPr>
          <p:spPr>
            <a:xfrm>
              <a:off x="88469" y="2211536"/>
              <a:ext cx="4744787" cy="1556085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2C622D5-667B-2CF9-4BDE-B3648E597E5E}"/>
                  </a:ext>
                </a:extLst>
              </p:cNvPr>
              <p:cNvSpPr txBox="1"/>
              <p:nvPr/>
            </p:nvSpPr>
            <p:spPr>
              <a:xfrm>
                <a:off x="160096" y="5734203"/>
                <a:ext cx="1102646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/>
                  <a:t>실제로는 트리 생성 중 분할 상황에 따라 최악의 경우 리프 노드에 담는 </a:t>
                </a:r>
                <a:r>
                  <a:rPr lang="en-US" altLang="ko-KR" sz="1600" dirty="0"/>
                  <a:t>AABB</a:t>
                </a:r>
                <a:r>
                  <a:rPr lang="ko-KR" altLang="en-US" sz="1600" dirty="0"/>
                  <a:t>가 단 한 개로만 구성될 수 있다</a:t>
                </a:r>
                <a:r>
                  <a:rPr lang="en-US" altLang="ko-KR" sz="1600" dirty="0"/>
                  <a:t>.</a:t>
                </a:r>
              </a:p>
              <a:p>
                <a:pPr>
                  <a:buNone/>
                </a:pPr>
                <a:r>
                  <a:rPr lang="ko-KR" altLang="en-US" sz="1600" dirty="0"/>
                  <a:t>리프 수의 최악은 </a:t>
                </a:r>
                <a:r>
                  <a:rPr lang="en-US" altLang="ko-KR" sz="1600" dirty="0"/>
                  <a:t>"</a:t>
                </a:r>
                <a:r>
                  <a:rPr lang="ko-KR" altLang="en-US" sz="1600" dirty="0"/>
                  <a:t>모든 오브젝트가 리프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개씩</a:t>
                </a:r>
                <a:r>
                  <a:rPr lang="en-US" altLang="ko-KR" sz="1600" dirty="0"/>
                  <a:t>"</a:t>
                </a:r>
                <a:r>
                  <a:rPr lang="ko-KR" altLang="en-US" sz="1600" dirty="0"/>
                  <a:t>인 </a:t>
                </a:r>
                <a:r>
                  <a:rPr lang="ko-KR" altLang="en-US" sz="1600" dirty="0" err="1"/>
                  <a:t>경우니까</a:t>
                </a:r>
                <a:r>
                  <a:rPr lang="ko-KR" altLang="en-US" sz="16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600" i="1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 altLang="ko-KR" sz="1600" b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ko-KR" altLang="en-US" sz="1600" dirty="0"/>
              </a:p>
              <a:p>
                <a:pPr>
                  <a:buNone/>
                </a:pPr>
                <a:r>
                  <a:rPr lang="ko-KR" altLang="en-US" sz="1600" dirty="0"/>
                  <a:t>따라서 분할 알고리즘이 무엇이든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ko-KR" altLang="en-US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600" i="1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 altLang="ko-KR" sz="1600" b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ko-KR" altLang="en-US" sz="1600" b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1600" dirty="0"/>
                  <a:t>  은 항상 논리적으로 보장된 안전한 상한치가 된다</a:t>
                </a:r>
                <a:r>
                  <a:rPr lang="en-US" altLang="ko-KR" sz="1600" dirty="0"/>
                  <a:t>.</a:t>
                </a:r>
                <a:endParaRPr lang="ko-KR" altLang="en-US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2C622D5-667B-2CF9-4BDE-B3648E597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96" y="5734203"/>
                <a:ext cx="11026461" cy="830997"/>
              </a:xfrm>
              <a:prstGeom prst="rect">
                <a:avLst/>
              </a:prstGeom>
              <a:blipFill>
                <a:blip r:embed="rId4"/>
                <a:stretch>
                  <a:fillRect l="-276" t="-2206" b="-88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E80C3CE8-2F9C-B653-37FA-6E98AAEC2A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577381"/>
              </p:ext>
            </p:extLst>
          </p:nvPr>
        </p:nvGraphicFramePr>
        <p:xfrm>
          <a:off x="7280820" y="4778344"/>
          <a:ext cx="4817424" cy="277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571">
                  <a:extLst>
                    <a:ext uri="{9D8B030D-6E8A-4147-A177-3AD203B41FA5}">
                      <a16:colId xmlns:a16="http://schemas.microsoft.com/office/drawing/2014/main" val="3045233490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2284241459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3143892849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2361325646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421640571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1465310012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2624604886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526321706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4186138198"/>
                    </a:ext>
                  </a:extLst>
                </a:gridCol>
                <a:gridCol w="296751">
                  <a:extLst>
                    <a:ext uri="{9D8B030D-6E8A-4147-A177-3AD203B41FA5}">
                      <a16:colId xmlns:a16="http://schemas.microsoft.com/office/drawing/2014/main" val="3695325881"/>
                    </a:ext>
                  </a:extLst>
                </a:gridCol>
                <a:gridCol w="444392">
                  <a:extLst>
                    <a:ext uri="{9D8B030D-6E8A-4147-A177-3AD203B41FA5}">
                      <a16:colId xmlns:a16="http://schemas.microsoft.com/office/drawing/2014/main" val="1500829629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1336483915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4150604054"/>
                    </a:ext>
                  </a:extLst>
                </a:gridCol>
              </a:tblGrid>
              <a:tr h="27716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0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187183"/>
                  </a:ext>
                </a:extLst>
              </a:tr>
            </a:tbl>
          </a:graphicData>
        </a:graphic>
      </p:graphicFrame>
      <p:sp>
        <p:nvSpPr>
          <p:cNvPr id="69" name="타원 68">
            <a:extLst>
              <a:ext uri="{FF2B5EF4-FFF2-40B4-BE49-F238E27FC236}">
                <a16:creationId xmlns:a16="http://schemas.microsoft.com/office/drawing/2014/main" id="{F1BA26F1-5747-1F74-F9A2-7171D783C3A4}"/>
              </a:ext>
            </a:extLst>
          </p:cNvPr>
          <p:cNvSpPr/>
          <p:nvPr/>
        </p:nvSpPr>
        <p:spPr>
          <a:xfrm>
            <a:off x="7534099" y="4318307"/>
            <a:ext cx="187637" cy="20512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9E6EBDF6-C649-1783-3538-CAB3B5AB0A25}"/>
              </a:ext>
            </a:extLst>
          </p:cNvPr>
          <p:cNvSpPr/>
          <p:nvPr/>
        </p:nvSpPr>
        <p:spPr>
          <a:xfrm>
            <a:off x="7721736" y="4029351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6B53EACF-F99F-02DF-B7FC-15A3E3A3646C}"/>
              </a:ext>
            </a:extLst>
          </p:cNvPr>
          <p:cNvSpPr/>
          <p:nvPr/>
        </p:nvSpPr>
        <p:spPr>
          <a:xfrm>
            <a:off x="8316508" y="4029351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A2C5977D-E88B-1B7C-544E-E817C60878CC}"/>
              </a:ext>
            </a:extLst>
          </p:cNvPr>
          <p:cNvSpPr/>
          <p:nvPr/>
        </p:nvSpPr>
        <p:spPr>
          <a:xfrm>
            <a:off x="8025223" y="3544785"/>
            <a:ext cx="133780" cy="1382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3445286C-56F6-0B5A-F1B2-3206ED49470D}"/>
              </a:ext>
            </a:extLst>
          </p:cNvPr>
          <p:cNvCxnSpPr>
            <a:stCxn id="73" idx="2"/>
            <a:endCxn id="69" idx="7"/>
          </p:cNvCxnSpPr>
          <p:nvPr/>
        </p:nvCxnSpPr>
        <p:spPr>
          <a:xfrm flipH="1">
            <a:off x="7694257" y="4167580"/>
            <a:ext cx="94369" cy="1807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3E71E851-73CA-5343-033E-23031946F69C}"/>
              </a:ext>
            </a:extLst>
          </p:cNvPr>
          <p:cNvCxnSpPr>
            <a:cxnSpLocks/>
            <a:stCxn id="75" idx="2"/>
            <a:endCxn id="73" idx="0"/>
          </p:cNvCxnSpPr>
          <p:nvPr/>
        </p:nvCxnSpPr>
        <p:spPr>
          <a:xfrm flipH="1">
            <a:off x="7788626" y="3683014"/>
            <a:ext cx="303487" cy="3463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265C1288-A211-5ED6-5079-92BBB9400E76}"/>
              </a:ext>
            </a:extLst>
          </p:cNvPr>
          <p:cNvCxnSpPr>
            <a:cxnSpLocks/>
            <a:stCxn id="75" idx="2"/>
            <a:endCxn id="74" idx="0"/>
          </p:cNvCxnSpPr>
          <p:nvPr/>
        </p:nvCxnSpPr>
        <p:spPr>
          <a:xfrm>
            <a:off x="8092113" y="3683014"/>
            <a:ext cx="291285" cy="3463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802D8E65-0803-6FD9-D138-6B178195D1BB}"/>
              </a:ext>
            </a:extLst>
          </p:cNvPr>
          <p:cNvSpPr/>
          <p:nvPr/>
        </p:nvSpPr>
        <p:spPr>
          <a:xfrm>
            <a:off x="7524166" y="4315404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99F6DBDE-0A4D-6CB0-47AE-59BF68513F5A}"/>
              </a:ext>
            </a:extLst>
          </p:cNvPr>
          <p:cNvSpPr/>
          <p:nvPr/>
        </p:nvSpPr>
        <p:spPr>
          <a:xfrm>
            <a:off x="9005739" y="4015651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E41FC6D9-7847-65EC-4B61-E340BF43CC72}"/>
              </a:ext>
            </a:extLst>
          </p:cNvPr>
          <p:cNvSpPr/>
          <p:nvPr/>
        </p:nvSpPr>
        <p:spPr>
          <a:xfrm>
            <a:off x="9600512" y="4015651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32270B0-B862-E5B1-CA71-573FFB711AA1}"/>
              </a:ext>
            </a:extLst>
          </p:cNvPr>
          <p:cNvSpPr/>
          <p:nvPr/>
        </p:nvSpPr>
        <p:spPr>
          <a:xfrm>
            <a:off x="9309226" y="3531085"/>
            <a:ext cx="133780" cy="1382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C63431CB-A108-337B-2A85-9A8F92F69178}"/>
              </a:ext>
            </a:extLst>
          </p:cNvPr>
          <p:cNvCxnSpPr>
            <a:cxnSpLocks/>
            <a:stCxn id="89" idx="2"/>
            <a:endCxn id="144" idx="1"/>
          </p:cNvCxnSpPr>
          <p:nvPr/>
        </p:nvCxnSpPr>
        <p:spPr>
          <a:xfrm flipH="1">
            <a:off x="8873874" y="4153880"/>
            <a:ext cx="198755" cy="2641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377C7449-51CF-578B-36B2-A76D42DB44B2}"/>
              </a:ext>
            </a:extLst>
          </p:cNvPr>
          <p:cNvCxnSpPr>
            <a:cxnSpLocks/>
            <a:stCxn id="90" idx="2"/>
            <a:endCxn id="149" idx="0"/>
          </p:cNvCxnSpPr>
          <p:nvPr/>
        </p:nvCxnSpPr>
        <p:spPr>
          <a:xfrm flipH="1">
            <a:off x="9526953" y="4153880"/>
            <a:ext cx="140449" cy="1272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DEFCE1E1-5590-34B8-2663-76F8ED2F6365}"/>
              </a:ext>
            </a:extLst>
          </p:cNvPr>
          <p:cNvCxnSpPr>
            <a:cxnSpLocks/>
            <a:stCxn id="91" idx="2"/>
            <a:endCxn id="89" idx="0"/>
          </p:cNvCxnSpPr>
          <p:nvPr/>
        </p:nvCxnSpPr>
        <p:spPr>
          <a:xfrm flipH="1">
            <a:off x="9072629" y="3669314"/>
            <a:ext cx="303487" cy="3463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ADA42328-97EE-9222-1A5B-1AEB3DD8E334}"/>
              </a:ext>
            </a:extLst>
          </p:cNvPr>
          <p:cNvCxnSpPr>
            <a:cxnSpLocks/>
            <a:stCxn id="91" idx="2"/>
            <a:endCxn id="90" idx="0"/>
          </p:cNvCxnSpPr>
          <p:nvPr/>
        </p:nvCxnSpPr>
        <p:spPr>
          <a:xfrm>
            <a:off x="9376117" y="3669314"/>
            <a:ext cx="291285" cy="3463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A78F9723-CA5E-64FD-2524-3EB37DA51E63}"/>
              </a:ext>
            </a:extLst>
          </p:cNvPr>
          <p:cNvSpPr/>
          <p:nvPr/>
        </p:nvSpPr>
        <p:spPr>
          <a:xfrm>
            <a:off x="8629863" y="3056415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1D78AB58-21CE-2806-673D-6180E1E65FB8}"/>
              </a:ext>
            </a:extLst>
          </p:cNvPr>
          <p:cNvCxnSpPr>
            <a:cxnSpLocks/>
            <a:stCxn id="100" idx="2"/>
            <a:endCxn id="91" idx="0"/>
          </p:cNvCxnSpPr>
          <p:nvPr/>
        </p:nvCxnSpPr>
        <p:spPr>
          <a:xfrm>
            <a:off x="8696754" y="3194644"/>
            <a:ext cx="679363" cy="3364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2A79146E-AA38-4F0B-2E52-484E6EAF6DF8}"/>
              </a:ext>
            </a:extLst>
          </p:cNvPr>
          <p:cNvCxnSpPr>
            <a:cxnSpLocks/>
            <a:stCxn id="75" idx="0"/>
            <a:endCxn id="100" idx="2"/>
          </p:cNvCxnSpPr>
          <p:nvPr/>
        </p:nvCxnSpPr>
        <p:spPr>
          <a:xfrm flipV="1">
            <a:off x="8092113" y="3194644"/>
            <a:ext cx="604640" cy="3501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타원 105">
            <a:extLst>
              <a:ext uri="{FF2B5EF4-FFF2-40B4-BE49-F238E27FC236}">
                <a16:creationId xmlns:a16="http://schemas.microsoft.com/office/drawing/2014/main" id="{655A39BA-D6C5-CAD3-4D7B-D05F46B0A059}"/>
              </a:ext>
            </a:extLst>
          </p:cNvPr>
          <p:cNvSpPr/>
          <p:nvPr/>
        </p:nvSpPr>
        <p:spPr>
          <a:xfrm>
            <a:off x="9958612" y="4362072"/>
            <a:ext cx="187637" cy="20512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45AC5ECA-0B3B-3E0F-3765-A3AD1F8C5CF6}"/>
              </a:ext>
            </a:extLst>
          </p:cNvPr>
          <p:cNvSpPr/>
          <p:nvPr/>
        </p:nvSpPr>
        <p:spPr>
          <a:xfrm>
            <a:off x="10146249" y="4073116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B1676D46-245C-51A1-E36C-345E6B3E00C0}"/>
              </a:ext>
            </a:extLst>
          </p:cNvPr>
          <p:cNvSpPr/>
          <p:nvPr/>
        </p:nvSpPr>
        <p:spPr>
          <a:xfrm>
            <a:off x="10741021" y="4073116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F404C713-851B-F4F4-F931-D16CB70CE32A}"/>
              </a:ext>
            </a:extLst>
          </p:cNvPr>
          <p:cNvSpPr/>
          <p:nvPr/>
        </p:nvSpPr>
        <p:spPr>
          <a:xfrm>
            <a:off x="10382846" y="3527178"/>
            <a:ext cx="133780" cy="1382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494A96F8-DB26-3E0F-6EB7-B24E3CF43E0A}"/>
              </a:ext>
            </a:extLst>
          </p:cNvPr>
          <p:cNvCxnSpPr>
            <a:stCxn id="110" idx="2"/>
            <a:endCxn id="106" idx="7"/>
          </p:cNvCxnSpPr>
          <p:nvPr/>
        </p:nvCxnSpPr>
        <p:spPr>
          <a:xfrm flipH="1">
            <a:off x="10118770" y="4211345"/>
            <a:ext cx="94369" cy="1807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7E245BBA-9248-2DF3-DCE6-4EAB5EF6BD4E}"/>
              </a:ext>
            </a:extLst>
          </p:cNvPr>
          <p:cNvCxnSpPr>
            <a:cxnSpLocks/>
            <a:stCxn id="111" idx="2"/>
            <a:endCxn id="153" idx="0"/>
          </p:cNvCxnSpPr>
          <p:nvPr/>
        </p:nvCxnSpPr>
        <p:spPr>
          <a:xfrm flipH="1">
            <a:off x="10620012" y="4211345"/>
            <a:ext cx="187899" cy="1545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4F2415E3-1976-0A72-D7DB-162B5B67661B}"/>
              </a:ext>
            </a:extLst>
          </p:cNvPr>
          <p:cNvCxnSpPr>
            <a:cxnSpLocks/>
            <a:stCxn id="112" idx="2"/>
            <a:endCxn id="110" idx="0"/>
          </p:cNvCxnSpPr>
          <p:nvPr/>
        </p:nvCxnSpPr>
        <p:spPr>
          <a:xfrm flipH="1">
            <a:off x="10213139" y="3665407"/>
            <a:ext cx="236597" cy="407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D292FE2E-7526-99D4-B427-6BDF98F10294}"/>
              </a:ext>
            </a:extLst>
          </p:cNvPr>
          <p:cNvCxnSpPr>
            <a:cxnSpLocks/>
            <a:stCxn id="112" idx="2"/>
            <a:endCxn id="111" idx="0"/>
          </p:cNvCxnSpPr>
          <p:nvPr/>
        </p:nvCxnSpPr>
        <p:spPr>
          <a:xfrm>
            <a:off x="10449736" y="3665407"/>
            <a:ext cx="358175" cy="407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EE9C7EEE-707D-4E58-F61D-E522B7DAC663}"/>
              </a:ext>
            </a:extLst>
          </p:cNvPr>
          <p:cNvSpPr/>
          <p:nvPr/>
        </p:nvSpPr>
        <p:spPr>
          <a:xfrm>
            <a:off x="9948679" y="4359169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이등변 삼각형 124">
            <a:extLst>
              <a:ext uri="{FF2B5EF4-FFF2-40B4-BE49-F238E27FC236}">
                <a16:creationId xmlns:a16="http://schemas.microsoft.com/office/drawing/2014/main" id="{103ABEF5-CE86-132F-C687-F6555E72F311}"/>
              </a:ext>
            </a:extLst>
          </p:cNvPr>
          <p:cNvSpPr/>
          <p:nvPr/>
        </p:nvSpPr>
        <p:spPr>
          <a:xfrm>
            <a:off x="11424875" y="3829200"/>
            <a:ext cx="187637" cy="208023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E83011EC-1EF5-8C38-E8F3-C730EE9DD2BD}"/>
              </a:ext>
            </a:extLst>
          </p:cNvPr>
          <p:cNvSpPr/>
          <p:nvPr/>
        </p:nvSpPr>
        <p:spPr>
          <a:xfrm>
            <a:off x="11419969" y="3525945"/>
            <a:ext cx="133780" cy="1382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29" name="직선 연결선 128">
            <a:extLst>
              <a:ext uri="{FF2B5EF4-FFF2-40B4-BE49-F238E27FC236}">
                <a16:creationId xmlns:a16="http://schemas.microsoft.com/office/drawing/2014/main" id="{7D3CB530-0BC4-7E75-685D-AE42C49BA99E}"/>
              </a:ext>
            </a:extLst>
          </p:cNvPr>
          <p:cNvCxnSpPr>
            <a:cxnSpLocks/>
            <a:stCxn id="128" idx="2"/>
            <a:endCxn id="125" idx="0"/>
          </p:cNvCxnSpPr>
          <p:nvPr/>
        </p:nvCxnSpPr>
        <p:spPr>
          <a:xfrm>
            <a:off x="11486859" y="3664174"/>
            <a:ext cx="31835" cy="1650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750B7973-8152-B45A-4A4B-F97309F7AEC0}"/>
              </a:ext>
            </a:extLst>
          </p:cNvPr>
          <p:cNvSpPr/>
          <p:nvPr/>
        </p:nvSpPr>
        <p:spPr>
          <a:xfrm>
            <a:off x="11419969" y="3842900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2313A482-5E6A-9E06-3202-6A41098CE1FC}"/>
              </a:ext>
            </a:extLst>
          </p:cNvPr>
          <p:cNvCxnSpPr>
            <a:cxnSpLocks/>
            <a:stCxn id="162" idx="2"/>
            <a:endCxn id="128" idx="0"/>
          </p:cNvCxnSpPr>
          <p:nvPr/>
        </p:nvCxnSpPr>
        <p:spPr>
          <a:xfrm>
            <a:off x="11018765" y="3189323"/>
            <a:ext cx="468094" cy="336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1D18E507-1348-E45C-BEF7-B8BC0839BFEA}"/>
              </a:ext>
            </a:extLst>
          </p:cNvPr>
          <p:cNvCxnSpPr>
            <a:cxnSpLocks/>
            <a:stCxn id="112" idx="0"/>
            <a:endCxn id="162" idx="2"/>
          </p:cNvCxnSpPr>
          <p:nvPr/>
        </p:nvCxnSpPr>
        <p:spPr>
          <a:xfrm flipV="1">
            <a:off x="10449736" y="3189323"/>
            <a:ext cx="569029" cy="3378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오각형 138">
            <a:extLst>
              <a:ext uri="{FF2B5EF4-FFF2-40B4-BE49-F238E27FC236}">
                <a16:creationId xmlns:a16="http://schemas.microsoft.com/office/drawing/2014/main" id="{C2C526CB-EE8F-4E98-B9FD-3D325FE707F4}"/>
              </a:ext>
            </a:extLst>
          </p:cNvPr>
          <p:cNvSpPr/>
          <p:nvPr/>
        </p:nvSpPr>
        <p:spPr>
          <a:xfrm>
            <a:off x="8155227" y="4319626"/>
            <a:ext cx="187637" cy="205120"/>
          </a:xfrm>
          <a:prstGeom prst="pentagon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직사각형 139">
            <a:extLst>
              <a:ext uri="{FF2B5EF4-FFF2-40B4-BE49-F238E27FC236}">
                <a16:creationId xmlns:a16="http://schemas.microsoft.com/office/drawing/2014/main" id="{51FBF9C1-7895-13C2-ADC9-84253415E0D9}"/>
              </a:ext>
            </a:extLst>
          </p:cNvPr>
          <p:cNvSpPr/>
          <p:nvPr/>
        </p:nvSpPr>
        <p:spPr>
          <a:xfrm>
            <a:off x="8145110" y="4330739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5B688652-5EA2-39AF-6C53-4C2555D9BD9D}"/>
              </a:ext>
            </a:extLst>
          </p:cNvPr>
          <p:cNvCxnSpPr>
            <a:cxnSpLocks/>
            <a:stCxn id="74" idx="2"/>
            <a:endCxn id="140" idx="0"/>
          </p:cNvCxnSpPr>
          <p:nvPr/>
        </p:nvCxnSpPr>
        <p:spPr>
          <a:xfrm flipH="1">
            <a:off x="8248496" y="4167580"/>
            <a:ext cx="134902" cy="1631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이등변 삼각형 143">
            <a:extLst>
              <a:ext uri="{FF2B5EF4-FFF2-40B4-BE49-F238E27FC236}">
                <a16:creationId xmlns:a16="http://schemas.microsoft.com/office/drawing/2014/main" id="{049A28E3-0419-CCA1-21D8-4D7848369E8A}"/>
              </a:ext>
            </a:extLst>
          </p:cNvPr>
          <p:cNvSpPr/>
          <p:nvPr/>
        </p:nvSpPr>
        <p:spPr>
          <a:xfrm>
            <a:off x="8826965" y="4313993"/>
            <a:ext cx="187637" cy="208023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F1F807E1-08CD-E686-F907-3FD098361865}"/>
              </a:ext>
            </a:extLst>
          </p:cNvPr>
          <p:cNvSpPr/>
          <p:nvPr/>
        </p:nvSpPr>
        <p:spPr>
          <a:xfrm>
            <a:off x="8822059" y="4327693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이등변 삼각형 147">
            <a:extLst>
              <a:ext uri="{FF2B5EF4-FFF2-40B4-BE49-F238E27FC236}">
                <a16:creationId xmlns:a16="http://schemas.microsoft.com/office/drawing/2014/main" id="{5DE37424-9010-AC03-439D-084C85CD71AA}"/>
              </a:ext>
            </a:extLst>
          </p:cNvPr>
          <p:cNvSpPr/>
          <p:nvPr/>
        </p:nvSpPr>
        <p:spPr>
          <a:xfrm rot="19025059">
            <a:off x="9430303" y="4237595"/>
            <a:ext cx="135321" cy="298640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51DFAAA7-C4DC-BA42-8F97-F9EF722B1437}"/>
              </a:ext>
            </a:extLst>
          </p:cNvPr>
          <p:cNvSpPr/>
          <p:nvPr/>
        </p:nvSpPr>
        <p:spPr>
          <a:xfrm>
            <a:off x="9399265" y="4281118"/>
            <a:ext cx="255375" cy="26556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오각형 151">
            <a:extLst>
              <a:ext uri="{FF2B5EF4-FFF2-40B4-BE49-F238E27FC236}">
                <a16:creationId xmlns:a16="http://schemas.microsoft.com/office/drawing/2014/main" id="{73F3CD88-B431-D087-6AAD-753D4790D50C}"/>
              </a:ext>
            </a:extLst>
          </p:cNvPr>
          <p:cNvSpPr/>
          <p:nvPr/>
        </p:nvSpPr>
        <p:spPr>
          <a:xfrm>
            <a:off x="10526744" y="4354800"/>
            <a:ext cx="187637" cy="205120"/>
          </a:xfrm>
          <a:prstGeom prst="pentagon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D6FCA20E-D105-3083-3742-92B5C543DE39}"/>
              </a:ext>
            </a:extLst>
          </p:cNvPr>
          <p:cNvSpPr/>
          <p:nvPr/>
        </p:nvSpPr>
        <p:spPr>
          <a:xfrm>
            <a:off x="10516626" y="4365913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A569C37D-4ACE-C1AE-3B02-1085FC6CAE7E}"/>
              </a:ext>
            </a:extLst>
          </p:cNvPr>
          <p:cNvSpPr/>
          <p:nvPr/>
        </p:nvSpPr>
        <p:spPr>
          <a:xfrm>
            <a:off x="10951875" y="3051094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67" name="직선 연결선 166">
            <a:extLst>
              <a:ext uri="{FF2B5EF4-FFF2-40B4-BE49-F238E27FC236}">
                <a16:creationId xmlns:a16="http://schemas.microsoft.com/office/drawing/2014/main" id="{C50E75A5-8A48-3655-76B9-D6032806D828}"/>
              </a:ext>
            </a:extLst>
          </p:cNvPr>
          <p:cNvCxnSpPr>
            <a:cxnSpLocks/>
            <a:stCxn id="169" idx="2"/>
            <a:endCxn id="162" idx="0"/>
          </p:cNvCxnSpPr>
          <p:nvPr/>
        </p:nvCxnSpPr>
        <p:spPr>
          <a:xfrm>
            <a:off x="9717504" y="2581650"/>
            <a:ext cx="1301261" cy="4694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직사각형 168">
            <a:extLst>
              <a:ext uri="{FF2B5EF4-FFF2-40B4-BE49-F238E27FC236}">
                <a16:creationId xmlns:a16="http://schemas.microsoft.com/office/drawing/2014/main" id="{596A0914-BEF8-D30C-85A8-DBF97D5FFEEF}"/>
              </a:ext>
            </a:extLst>
          </p:cNvPr>
          <p:cNvSpPr/>
          <p:nvPr/>
        </p:nvSpPr>
        <p:spPr>
          <a:xfrm>
            <a:off x="9650614" y="2443421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70" name="직선 연결선 169">
            <a:extLst>
              <a:ext uri="{FF2B5EF4-FFF2-40B4-BE49-F238E27FC236}">
                <a16:creationId xmlns:a16="http://schemas.microsoft.com/office/drawing/2014/main" id="{8CC7A6D1-9A96-AF21-E112-F6603E1ACB70}"/>
              </a:ext>
            </a:extLst>
          </p:cNvPr>
          <p:cNvCxnSpPr>
            <a:cxnSpLocks/>
            <a:stCxn id="100" idx="0"/>
            <a:endCxn id="169" idx="2"/>
          </p:cNvCxnSpPr>
          <p:nvPr/>
        </p:nvCxnSpPr>
        <p:spPr>
          <a:xfrm flipV="1">
            <a:off x="8696753" y="2581650"/>
            <a:ext cx="1020751" cy="474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C57DAF18-5AEB-2A33-A9D3-4ABA36F61185}"/>
              </a:ext>
            </a:extLst>
          </p:cNvPr>
          <p:cNvSpPr txBox="1"/>
          <p:nvPr/>
        </p:nvSpPr>
        <p:spPr>
          <a:xfrm flipH="1">
            <a:off x="9881789" y="2389424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0</a:t>
            </a:r>
            <a:endParaRPr lang="ko-KR" altLang="en-US" sz="100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9F84B9F1-7A5A-EB5E-5357-FDFB89FE9FC4}"/>
              </a:ext>
            </a:extLst>
          </p:cNvPr>
          <p:cNvSpPr txBox="1"/>
          <p:nvPr/>
        </p:nvSpPr>
        <p:spPr>
          <a:xfrm flipH="1">
            <a:off x="8740893" y="3005366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1</a:t>
            </a:r>
            <a:endParaRPr lang="ko-KR" altLang="en-US" sz="100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383CF43-52F5-F9B1-A297-248016FEF9C3}"/>
              </a:ext>
            </a:extLst>
          </p:cNvPr>
          <p:cNvSpPr txBox="1"/>
          <p:nvPr/>
        </p:nvSpPr>
        <p:spPr>
          <a:xfrm flipH="1">
            <a:off x="11079692" y="2974459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2</a:t>
            </a:r>
            <a:endParaRPr lang="ko-KR" altLang="en-US" sz="1000" b="1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6A0A94D2-A1E6-F55C-7B79-86E987B79891}"/>
              </a:ext>
            </a:extLst>
          </p:cNvPr>
          <p:cNvSpPr txBox="1"/>
          <p:nvPr/>
        </p:nvSpPr>
        <p:spPr>
          <a:xfrm flipH="1">
            <a:off x="8174439" y="3504077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3</a:t>
            </a:r>
            <a:endParaRPr lang="ko-KR" altLang="en-US" sz="1000" b="1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772DB62-D3C3-AF81-E326-73C325BAA405}"/>
              </a:ext>
            </a:extLst>
          </p:cNvPr>
          <p:cNvSpPr txBox="1"/>
          <p:nvPr/>
        </p:nvSpPr>
        <p:spPr>
          <a:xfrm flipH="1">
            <a:off x="9422278" y="3428841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4</a:t>
            </a:r>
            <a:endParaRPr lang="ko-KR" altLang="en-US" sz="1000" b="1" dirty="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12CAB17-0161-F351-F0FD-7C32DC8A5356}"/>
              </a:ext>
            </a:extLst>
          </p:cNvPr>
          <p:cNvSpPr txBox="1"/>
          <p:nvPr/>
        </p:nvSpPr>
        <p:spPr>
          <a:xfrm flipH="1">
            <a:off x="10560791" y="3493272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5</a:t>
            </a:r>
            <a:endParaRPr lang="ko-KR" altLang="en-US" sz="10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88BC3C5-EC79-B3AD-D0C0-3CBD3A5D77AA}"/>
              </a:ext>
            </a:extLst>
          </p:cNvPr>
          <p:cNvSpPr txBox="1"/>
          <p:nvPr/>
        </p:nvSpPr>
        <p:spPr>
          <a:xfrm flipH="1">
            <a:off x="11595218" y="3437666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6</a:t>
            </a:r>
            <a:endParaRPr lang="ko-KR" altLang="en-US" sz="1000" b="1" dirty="0"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03274157-A7C3-4894-F794-0C8F63D8E36F}"/>
              </a:ext>
            </a:extLst>
          </p:cNvPr>
          <p:cNvSpPr txBox="1"/>
          <p:nvPr/>
        </p:nvSpPr>
        <p:spPr>
          <a:xfrm flipH="1">
            <a:off x="7807284" y="3994135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7</a:t>
            </a:r>
            <a:endParaRPr lang="ko-KR" altLang="en-US" sz="1000" b="1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93AB7240-A474-6F0A-8146-B11979FB52E1}"/>
              </a:ext>
            </a:extLst>
          </p:cNvPr>
          <p:cNvSpPr txBox="1"/>
          <p:nvPr/>
        </p:nvSpPr>
        <p:spPr>
          <a:xfrm flipH="1">
            <a:off x="8378923" y="3975354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idx8</a:t>
            </a:r>
            <a:endParaRPr lang="ko-KR" altLang="en-US" sz="1000" b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7911D830-8B1F-A4AE-96ED-D26047D67BA2}"/>
              </a:ext>
            </a:extLst>
          </p:cNvPr>
          <p:cNvSpPr txBox="1"/>
          <p:nvPr/>
        </p:nvSpPr>
        <p:spPr>
          <a:xfrm flipH="1">
            <a:off x="9073993" y="3961013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idx9</a:t>
            </a:r>
            <a:endParaRPr lang="ko-KR" altLang="en-US" sz="1000" b="1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D5CD456D-C6AC-4A61-423D-C84AC996B9ED}"/>
              </a:ext>
            </a:extLst>
          </p:cNvPr>
          <p:cNvSpPr txBox="1"/>
          <p:nvPr/>
        </p:nvSpPr>
        <p:spPr>
          <a:xfrm flipH="1">
            <a:off x="9653464" y="3942170"/>
            <a:ext cx="6259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idx10</a:t>
            </a:r>
            <a:endParaRPr lang="ko-KR" altLang="en-US" sz="1000" b="1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188DF115-1A2C-2946-D2DC-740ACC60A906}"/>
              </a:ext>
            </a:extLst>
          </p:cNvPr>
          <p:cNvSpPr txBox="1"/>
          <p:nvPr/>
        </p:nvSpPr>
        <p:spPr>
          <a:xfrm flipH="1">
            <a:off x="10213746" y="4017338"/>
            <a:ext cx="6259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idx11</a:t>
            </a:r>
            <a:endParaRPr lang="ko-KR" altLang="en-US" sz="1000" b="1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A287BC21-37B5-BF92-1DD3-AEFD5A1822DD}"/>
              </a:ext>
            </a:extLst>
          </p:cNvPr>
          <p:cNvSpPr txBox="1"/>
          <p:nvPr/>
        </p:nvSpPr>
        <p:spPr>
          <a:xfrm flipH="1">
            <a:off x="10853874" y="4053263"/>
            <a:ext cx="6259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idx12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947796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DC6328-852D-DD9D-1218-87A2F021E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트리의 품질</a:t>
            </a:r>
            <a:r>
              <a:rPr lang="en-US" altLang="ko-KR" dirty="0"/>
              <a:t>(Tree Quality)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43798-2FA9-90D3-3E69-8F24535DEEEA}"/>
              </a:ext>
            </a:extLst>
          </p:cNvPr>
          <p:cNvSpPr txBox="1"/>
          <p:nvPr/>
        </p:nvSpPr>
        <p:spPr>
          <a:xfrm>
            <a:off x="640080" y="1508493"/>
            <a:ext cx="11018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BVH</a:t>
            </a:r>
            <a:r>
              <a:rPr lang="ko-KR" altLang="en-US" b="1" dirty="0"/>
              <a:t>의 트리 품질</a:t>
            </a:r>
            <a:r>
              <a:rPr lang="ko-KR" altLang="en-US" dirty="0"/>
              <a:t>이란</a:t>
            </a:r>
            <a:r>
              <a:rPr lang="en-US" altLang="ko-KR" dirty="0"/>
              <a:t>, “</a:t>
            </a:r>
            <a:r>
              <a:rPr lang="ko-KR" altLang="en-US" dirty="0"/>
              <a:t>주어진 오브젝트 집합을 얼마나 효율적으로 계층 구조로 나누고 오브젝트를 묶어서 불필요한 탐색을 줄이느냐</a:t>
            </a:r>
            <a:r>
              <a:rPr lang="en-US" altLang="ko-KR" dirty="0"/>
              <a:t>”</a:t>
            </a:r>
            <a:r>
              <a:rPr lang="ko-KR" altLang="en-US" dirty="0"/>
              <a:t>를 의미한다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5174D2-AA87-649C-F483-9AB5126F0E28}"/>
              </a:ext>
            </a:extLst>
          </p:cNvPr>
          <p:cNvSpPr txBox="1"/>
          <p:nvPr/>
        </p:nvSpPr>
        <p:spPr>
          <a:xfrm>
            <a:off x="5394960" y="2090473"/>
            <a:ext cx="670560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arenBoth"/>
            </a:pPr>
            <a:r>
              <a:rPr lang="en-US" altLang="ko-KR" sz="1400" dirty="0"/>
              <a:t>Surface Area </a:t>
            </a:r>
            <a:r>
              <a:rPr lang="ko-KR" altLang="en-US" sz="1400" dirty="0"/>
              <a:t>최소화</a:t>
            </a:r>
            <a:endParaRPr lang="en-US" altLang="ko-KR" sz="1400" dirty="0"/>
          </a:p>
          <a:p>
            <a:r>
              <a:rPr lang="ko-KR" altLang="en-US" sz="1400" dirty="0"/>
              <a:t>부모 </a:t>
            </a:r>
            <a:r>
              <a:rPr lang="en-US" altLang="ko-KR" sz="1400" dirty="0"/>
              <a:t>AABB</a:t>
            </a:r>
            <a:r>
              <a:rPr lang="ko-KR" altLang="en-US" sz="1400" dirty="0"/>
              <a:t>의 표면적이 작을수록 교차할 확률이 작아져 전체 방문 수가 감소</a:t>
            </a:r>
            <a:endParaRPr lang="en-US" altLang="ko-KR" sz="1400" dirty="0"/>
          </a:p>
          <a:p>
            <a:endParaRPr lang="en-US" altLang="ko-KR" sz="1400" dirty="0"/>
          </a:p>
          <a:p>
            <a:pPr>
              <a:buNone/>
            </a:pPr>
            <a:r>
              <a:rPr lang="en-US" altLang="ko-KR" sz="1400" dirty="0"/>
              <a:t>(2) AABB</a:t>
            </a:r>
            <a:r>
              <a:rPr lang="ko-KR" altLang="en-US" sz="1400" dirty="0"/>
              <a:t> </a:t>
            </a:r>
            <a:r>
              <a:rPr lang="en-US" altLang="ko-KR" sz="1400" dirty="0"/>
              <a:t>Overlap </a:t>
            </a:r>
            <a:r>
              <a:rPr lang="ko-KR" altLang="en-US" sz="1400" dirty="0"/>
              <a:t>최소화</a:t>
            </a:r>
            <a:endParaRPr lang="en-US" altLang="ko-KR" sz="1400" dirty="0"/>
          </a:p>
          <a:p>
            <a:r>
              <a:rPr lang="ko-KR" altLang="en-US" sz="1400" dirty="0"/>
              <a:t>형제 노드 </a:t>
            </a:r>
            <a:r>
              <a:rPr lang="en-US" altLang="ko-KR" sz="1400" dirty="0"/>
              <a:t>AABB</a:t>
            </a:r>
            <a:r>
              <a:rPr lang="ko-KR" altLang="en-US" sz="1400" dirty="0"/>
              <a:t>가 서로 겹치는 부피</a:t>
            </a:r>
            <a:r>
              <a:rPr lang="en-US" altLang="ko-KR" sz="1400" dirty="0"/>
              <a:t>(Volume)</a:t>
            </a:r>
            <a:r>
              <a:rPr lang="ko-KR" altLang="en-US" sz="1400" dirty="0"/>
              <a:t> 가 작을수록 좋음</a:t>
            </a:r>
            <a:r>
              <a:rPr lang="en-US" altLang="ko-KR" sz="1400" dirty="0"/>
              <a:t>. </a:t>
            </a:r>
            <a:r>
              <a:rPr lang="ko-KR" altLang="en-US" sz="1400" dirty="0"/>
              <a:t>작은 부분에서 겹칠 수는 있으나  많으면 비슷한 영역이므로 다른 자식도 방문해야 하는 경우가 많아져 효율이 급감</a:t>
            </a:r>
            <a:r>
              <a:rPr lang="en-US" altLang="ko-KR" sz="1400" dirty="0"/>
              <a:t>.(</a:t>
            </a:r>
            <a:r>
              <a:rPr lang="ko-KR" altLang="en-US" sz="1400" dirty="0"/>
              <a:t>가지치기 실패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(3) </a:t>
            </a:r>
            <a:r>
              <a:rPr lang="ko-KR" altLang="en-US" sz="1400" dirty="0"/>
              <a:t>균형 잡힌 깊이 </a:t>
            </a:r>
            <a:r>
              <a:rPr lang="en-US" altLang="ko-KR" sz="1400" dirty="0"/>
              <a:t>(Balanced Depth)</a:t>
            </a:r>
          </a:p>
          <a:p>
            <a:r>
              <a:rPr lang="ko-KR" altLang="en-US" sz="1400" dirty="0"/>
              <a:t>트리의 좌우 서브 트리 깊이 차이가 너무 크면 노드 방문</a:t>
            </a:r>
            <a:r>
              <a:rPr lang="en-US" altLang="ko-KR" sz="1400" dirty="0"/>
              <a:t>(</a:t>
            </a:r>
            <a:r>
              <a:rPr lang="ko-KR" altLang="en-US" sz="1400" dirty="0"/>
              <a:t>교차테스트</a:t>
            </a:r>
            <a:r>
              <a:rPr lang="en-US" altLang="ko-KR" sz="1400" dirty="0"/>
              <a:t>)</a:t>
            </a:r>
            <a:r>
              <a:rPr lang="ko-KR" altLang="en-US" sz="1400" dirty="0"/>
              <a:t>증가</a:t>
            </a:r>
            <a:r>
              <a:rPr lang="en-US" altLang="ko-KR" sz="1400" dirty="0"/>
              <a:t> </a:t>
            </a:r>
            <a:r>
              <a:rPr lang="ko-KR" altLang="en-US" sz="1400" dirty="0"/>
              <a:t>한다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(4) </a:t>
            </a:r>
            <a:r>
              <a:rPr lang="ko-KR" altLang="en-US" sz="1400" dirty="0"/>
              <a:t>리프당 오브젝트 수 최적화</a:t>
            </a:r>
            <a:endParaRPr lang="en-US" altLang="ko-KR" sz="1400" dirty="0"/>
          </a:p>
          <a:p>
            <a:r>
              <a:rPr lang="ko-KR" altLang="en-US" sz="1400" dirty="0"/>
              <a:t>리프에 포함된 오브젝트가 너무 많으면 내부 검사 과다</a:t>
            </a:r>
            <a:r>
              <a:rPr lang="en-US" altLang="ko-KR" sz="1400" dirty="0"/>
              <a:t>, </a:t>
            </a:r>
          </a:p>
          <a:p>
            <a:r>
              <a:rPr lang="ko-KR" altLang="en-US" sz="1400" dirty="0"/>
              <a:t>너무 적으면 노드 수 폭증하여 교차 테스트 증가</a:t>
            </a:r>
            <a:endParaRPr lang="en-US" altLang="ko-KR" sz="1400" dirty="0"/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39355F56-B985-05BA-96FF-C8C56132CCEC}"/>
              </a:ext>
            </a:extLst>
          </p:cNvPr>
          <p:cNvGrpSpPr/>
          <p:nvPr/>
        </p:nvGrpSpPr>
        <p:grpSpPr>
          <a:xfrm>
            <a:off x="91440" y="2736911"/>
            <a:ext cx="2191051" cy="1785656"/>
            <a:chOff x="354360" y="5073816"/>
            <a:chExt cx="2441204" cy="1736994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5C01F321-B125-E713-ADD3-851E840AD2D1}"/>
                </a:ext>
              </a:extLst>
            </p:cNvPr>
            <p:cNvGrpSpPr/>
            <p:nvPr/>
          </p:nvGrpSpPr>
          <p:grpSpPr>
            <a:xfrm>
              <a:off x="380328" y="5902479"/>
              <a:ext cx="2026200" cy="892147"/>
              <a:chOff x="3494412" y="5600728"/>
              <a:chExt cx="2026200" cy="892147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C6407793-D706-E96A-F24C-39B193F921D8}"/>
                  </a:ext>
                </a:extLst>
              </p:cNvPr>
              <p:cNvSpPr/>
              <p:nvPr/>
            </p:nvSpPr>
            <p:spPr>
              <a:xfrm>
                <a:off x="3510595" y="5616912"/>
                <a:ext cx="665501" cy="574535"/>
              </a:xfrm>
              <a:prstGeom prst="rect">
                <a:avLst/>
              </a:pr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오각형 20">
                <a:extLst>
                  <a:ext uri="{FF2B5EF4-FFF2-40B4-BE49-F238E27FC236}">
                    <a16:creationId xmlns:a16="http://schemas.microsoft.com/office/drawing/2014/main" id="{B67D0B9C-7168-3B48-BD65-7EA6683F01BC}"/>
                  </a:ext>
                </a:extLst>
              </p:cNvPr>
              <p:cNvSpPr/>
              <p:nvPr/>
            </p:nvSpPr>
            <p:spPr>
              <a:xfrm>
                <a:off x="4921801" y="5902156"/>
                <a:ext cx="582626" cy="574535"/>
              </a:xfrm>
              <a:prstGeom prst="pentagon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타원 21">
                <a:extLst>
                  <a:ext uri="{FF2B5EF4-FFF2-40B4-BE49-F238E27FC236}">
                    <a16:creationId xmlns:a16="http://schemas.microsoft.com/office/drawing/2014/main" id="{5BAF78F6-F1AB-9BB4-E9D0-340B3DC953D8}"/>
                  </a:ext>
                </a:extLst>
              </p:cNvPr>
              <p:cNvSpPr/>
              <p:nvPr/>
            </p:nvSpPr>
            <p:spPr>
              <a:xfrm>
                <a:off x="3510595" y="5616912"/>
                <a:ext cx="665501" cy="57453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B71542E7-731D-23B9-6F47-E331096F0356}"/>
                  </a:ext>
                </a:extLst>
              </p:cNvPr>
              <p:cNvSpPr/>
              <p:nvPr/>
            </p:nvSpPr>
            <p:spPr>
              <a:xfrm>
                <a:off x="4921801" y="5906202"/>
                <a:ext cx="582626" cy="570489"/>
              </a:xfrm>
              <a:prstGeom prst="rect">
                <a:avLst/>
              </a:pr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5D44EDB1-000E-E841-C255-72DCE3147523}"/>
                  </a:ext>
                </a:extLst>
              </p:cNvPr>
              <p:cNvSpPr/>
              <p:nvPr/>
            </p:nvSpPr>
            <p:spPr>
              <a:xfrm>
                <a:off x="3494412" y="5600728"/>
                <a:ext cx="2026200" cy="892147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0C5B615A-802D-4EFA-DFDF-C71DE355FF14}"/>
                </a:ext>
              </a:extLst>
            </p:cNvPr>
            <p:cNvGrpSpPr/>
            <p:nvPr/>
          </p:nvGrpSpPr>
          <p:grpSpPr>
            <a:xfrm>
              <a:off x="969627" y="5073816"/>
              <a:ext cx="1809753" cy="1733719"/>
              <a:chOff x="6937144" y="5322053"/>
              <a:chExt cx="1796610" cy="1278041"/>
            </a:xfrm>
          </p:grpSpPr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CF58E8F2-E1F8-30A3-270D-9C5EEE11F863}"/>
                  </a:ext>
                </a:extLst>
              </p:cNvPr>
              <p:cNvGrpSpPr/>
              <p:nvPr/>
            </p:nvGrpSpPr>
            <p:grpSpPr>
              <a:xfrm>
                <a:off x="6948001" y="6009375"/>
                <a:ext cx="665501" cy="574535"/>
                <a:chOff x="6939909" y="5825399"/>
                <a:chExt cx="665501" cy="574535"/>
              </a:xfrm>
            </p:grpSpPr>
            <p:sp>
              <p:nvSpPr>
                <p:cNvPr id="27" name="직사각형 26">
                  <a:extLst>
                    <a:ext uri="{FF2B5EF4-FFF2-40B4-BE49-F238E27FC236}">
                      <a16:creationId xmlns:a16="http://schemas.microsoft.com/office/drawing/2014/main" id="{C9DE79FF-9AAA-8EA5-6C89-386BAEBC78BF}"/>
                    </a:ext>
                  </a:extLst>
                </p:cNvPr>
                <p:cNvSpPr/>
                <p:nvPr/>
              </p:nvSpPr>
              <p:spPr>
                <a:xfrm>
                  <a:off x="6939909" y="5825399"/>
                  <a:ext cx="665501" cy="574535"/>
                </a:xfrm>
                <a:prstGeom prst="rect">
                  <a:avLst/>
                </a:prstGeom>
                <a:noFill/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9" name="이등변 삼각형 28">
                  <a:extLst>
                    <a:ext uri="{FF2B5EF4-FFF2-40B4-BE49-F238E27FC236}">
                      <a16:creationId xmlns:a16="http://schemas.microsoft.com/office/drawing/2014/main" id="{450571AE-B481-5B81-86FF-639F4DD7EEAA}"/>
                    </a:ext>
                  </a:extLst>
                </p:cNvPr>
                <p:cNvSpPr/>
                <p:nvPr/>
              </p:nvSpPr>
              <p:spPr>
                <a:xfrm>
                  <a:off x="6939909" y="5825399"/>
                  <a:ext cx="665501" cy="574535"/>
                </a:xfrm>
                <a:prstGeom prst="triangl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F3ED821F-B3E0-27EB-F2BB-9A54B1D3390C}"/>
                  </a:ext>
                </a:extLst>
              </p:cNvPr>
              <p:cNvGrpSpPr/>
              <p:nvPr/>
            </p:nvGrpSpPr>
            <p:grpSpPr>
              <a:xfrm>
                <a:off x="7960604" y="5322053"/>
                <a:ext cx="740782" cy="846583"/>
                <a:chOff x="6939909" y="5709751"/>
                <a:chExt cx="740782" cy="846583"/>
              </a:xfrm>
            </p:grpSpPr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7CBF1165-41CA-861D-9004-A13A6CB0238E}"/>
                    </a:ext>
                  </a:extLst>
                </p:cNvPr>
                <p:cNvSpPr/>
                <p:nvPr/>
              </p:nvSpPr>
              <p:spPr>
                <a:xfrm>
                  <a:off x="6939909" y="5825399"/>
                  <a:ext cx="740782" cy="728166"/>
                </a:xfrm>
                <a:prstGeom prst="rect">
                  <a:avLst/>
                </a:prstGeom>
                <a:noFill/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33" name="이등변 삼각형 32">
                  <a:extLst>
                    <a:ext uri="{FF2B5EF4-FFF2-40B4-BE49-F238E27FC236}">
                      <a16:creationId xmlns:a16="http://schemas.microsoft.com/office/drawing/2014/main" id="{BB3D1401-85DB-7C42-3FFF-FC055A5BE02F}"/>
                    </a:ext>
                  </a:extLst>
                </p:cNvPr>
                <p:cNvSpPr/>
                <p:nvPr/>
              </p:nvSpPr>
              <p:spPr>
                <a:xfrm rot="19025059">
                  <a:off x="7043091" y="5709751"/>
                  <a:ext cx="403348" cy="846583"/>
                </a:xfrm>
                <a:prstGeom prst="triangl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E605309C-DFC9-4717-DE11-4E1F96B797E1}"/>
                  </a:ext>
                </a:extLst>
              </p:cNvPr>
              <p:cNvSpPr/>
              <p:nvPr/>
            </p:nvSpPr>
            <p:spPr>
              <a:xfrm>
                <a:off x="6937144" y="5412587"/>
                <a:ext cx="1796610" cy="118750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A1F2DAD-6473-D36B-9B7A-BD6F9D13BE2B}"/>
                </a:ext>
              </a:extLst>
            </p:cNvPr>
            <p:cNvSpPr/>
            <p:nvPr/>
          </p:nvSpPr>
          <p:spPr>
            <a:xfrm>
              <a:off x="354360" y="5179837"/>
              <a:ext cx="2441204" cy="163097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270139A5-5630-79F1-4BB5-9CF0CDBD432E}"/>
              </a:ext>
            </a:extLst>
          </p:cNvPr>
          <p:cNvGrpSpPr/>
          <p:nvPr/>
        </p:nvGrpSpPr>
        <p:grpSpPr>
          <a:xfrm>
            <a:off x="3018963" y="2834056"/>
            <a:ext cx="2200752" cy="1490535"/>
            <a:chOff x="3168690" y="5090562"/>
            <a:chExt cx="2200752" cy="1490535"/>
          </a:xfrm>
        </p:grpSpPr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6334225C-63DC-5508-343C-8FF70D752B82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오각형 38">
              <a:extLst>
                <a:ext uri="{FF2B5EF4-FFF2-40B4-BE49-F238E27FC236}">
                  <a16:creationId xmlns:a16="http://schemas.microsoft.com/office/drawing/2014/main" id="{1B3E323F-48AE-11F3-D219-CF0598769BD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이등변 삼각형 39">
              <a:extLst>
                <a:ext uri="{FF2B5EF4-FFF2-40B4-BE49-F238E27FC236}">
                  <a16:creationId xmlns:a16="http://schemas.microsoft.com/office/drawing/2014/main" id="{05914AFA-00CE-5D0D-695B-56F84D3EC068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40">
              <a:extLst>
                <a:ext uri="{FF2B5EF4-FFF2-40B4-BE49-F238E27FC236}">
                  <a16:creationId xmlns:a16="http://schemas.microsoft.com/office/drawing/2014/main" id="{0BBAD038-ED53-0612-ADB6-3C6FB239F0D7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B538E073-0D45-FFEE-49B7-D9789994E3D3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BB0EE0C6-F150-E9F9-C20A-728DEC07562D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78506228-9B3D-DE1B-C090-470AAD7D6CEB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35C1F4D2-F88C-2363-99C8-C5BB24A24686}"/>
                </a:ext>
              </a:extLst>
            </p:cNvPr>
            <p:cNvCxnSpPr>
              <a:stCxn id="42" idx="2"/>
              <a:endCxn id="38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30001CDB-6E90-7F16-A16F-3DE2C111E42D}"/>
                </a:ext>
              </a:extLst>
            </p:cNvPr>
            <p:cNvCxnSpPr>
              <a:cxnSpLocks/>
              <a:stCxn id="42" idx="2"/>
              <a:endCxn id="39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61B23981-3D57-092A-D7DE-750ECC1DDDFC}"/>
                </a:ext>
              </a:extLst>
            </p:cNvPr>
            <p:cNvCxnSpPr>
              <a:cxnSpLocks/>
              <a:stCxn id="43" idx="2"/>
              <a:endCxn id="40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B8891B76-C9DD-CC9C-5478-7B720C9A3D85}"/>
                </a:ext>
              </a:extLst>
            </p:cNvPr>
            <p:cNvCxnSpPr>
              <a:cxnSpLocks/>
              <a:stCxn id="43" idx="2"/>
              <a:endCxn id="41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A8386BED-19E0-14B4-37DA-EA169062B960}"/>
                </a:ext>
              </a:extLst>
            </p:cNvPr>
            <p:cNvCxnSpPr>
              <a:cxnSpLocks/>
              <a:stCxn id="44" idx="2"/>
              <a:endCxn id="42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961B5E52-F125-54D8-0C99-F45E2047AF2E}"/>
                </a:ext>
              </a:extLst>
            </p:cNvPr>
            <p:cNvCxnSpPr>
              <a:cxnSpLocks/>
              <a:stCxn id="44" idx="2"/>
              <a:endCxn id="43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7B62EDB7-0106-D2C2-C72D-9F4B6AF3F5A0}"/>
              </a:ext>
            </a:extLst>
          </p:cNvPr>
          <p:cNvSpPr txBox="1"/>
          <p:nvPr/>
        </p:nvSpPr>
        <p:spPr>
          <a:xfrm>
            <a:off x="2402425" y="2931791"/>
            <a:ext cx="1063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저 품질 구조</a:t>
            </a:r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C6C23297-D6AC-C645-2586-5B68E8DD4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964" y="4801557"/>
            <a:ext cx="2428032" cy="1836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0924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3E731-D06F-C672-E97B-DC8B3AF72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트리 구축 방식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2ABB80-840C-75A0-8563-C84265E16E27}"/>
              </a:ext>
            </a:extLst>
          </p:cNvPr>
          <p:cNvSpPr txBox="1"/>
          <p:nvPr/>
        </p:nvSpPr>
        <p:spPr>
          <a:xfrm>
            <a:off x="4528047" y="2132760"/>
            <a:ext cx="771705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상향식</a:t>
            </a:r>
            <a:r>
              <a:rPr lang="en-US" altLang="ko-KR" dirty="0"/>
              <a:t>(</a:t>
            </a:r>
            <a:r>
              <a:rPr lang="ko-KR" altLang="en-US" dirty="0"/>
              <a:t>정적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리프 노드를 만들면서 부모 노드 생성하는 방식 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하향식</a:t>
            </a:r>
            <a:r>
              <a:rPr lang="en-US" altLang="ko-KR" dirty="0"/>
              <a:t>(</a:t>
            </a:r>
            <a:r>
              <a:rPr lang="ko-KR" altLang="en-US" dirty="0"/>
              <a:t>정적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긴 축 정렬을 하면서 분할점에 따라 자식 노드를 추가 하는 방식</a:t>
            </a:r>
            <a:br>
              <a:rPr lang="en-US" altLang="ko-KR" dirty="0"/>
            </a:br>
            <a:r>
              <a:rPr lang="en-US" altLang="ko-KR" dirty="0"/>
              <a:t>1) </a:t>
            </a:r>
            <a:r>
              <a:rPr lang="ko-KR" altLang="en-US" dirty="0" err="1"/>
              <a:t>오브젝트수</a:t>
            </a:r>
            <a:r>
              <a:rPr lang="ko-KR" altLang="en-US" dirty="0"/>
              <a:t> </a:t>
            </a:r>
            <a:r>
              <a:rPr lang="en-US" altLang="ko-KR" dirty="0"/>
              <a:t>½ </a:t>
            </a:r>
            <a:r>
              <a:rPr lang="ko-KR" altLang="en-US" dirty="0" err="1"/>
              <a:t>분할점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en-US" altLang="ko-KR" dirty="0"/>
              <a:t>2) </a:t>
            </a:r>
            <a:r>
              <a:rPr lang="ko-KR" altLang="en-US" dirty="0"/>
              <a:t>중간거리 </a:t>
            </a:r>
            <a:r>
              <a:rPr lang="ko-KR" altLang="en-US" dirty="0" err="1"/>
              <a:t>분할점</a:t>
            </a:r>
            <a:br>
              <a:rPr lang="en-US" altLang="ko-KR" dirty="0"/>
            </a:br>
            <a:r>
              <a:rPr lang="en-US" altLang="ko-KR" dirty="0"/>
              <a:t>3) SAH(Surface Area </a:t>
            </a:r>
            <a:r>
              <a:rPr lang="en-US" altLang="ko-KR" dirty="0" err="1"/>
              <a:t>Huristic</a:t>
            </a:r>
            <a:r>
              <a:rPr lang="en-US" altLang="ko-KR" dirty="0"/>
              <a:t>) </a:t>
            </a:r>
            <a:r>
              <a:rPr lang="ko-KR" altLang="en-US" dirty="0"/>
              <a:t>최적분할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추가식</a:t>
            </a:r>
            <a:r>
              <a:rPr lang="en-US" altLang="ko-KR" dirty="0"/>
              <a:t>(</a:t>
            </a:r>
            <a:r>
              <a:rPr lang="ko-KR" altLang="en-US" dirty="0"/>
              <a:t>동적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1</a:t>
            </a:r>
            <a:r>
              <a:rPr lang="ko-KR" altLang="en-US" dirty="0"/>
              <a:t>개씩 추가하면서  트리를 점차 구성하는 방식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0B24C871-912A-8655-1AFB-F71D546F9D19}"/>
              </a:ext>
            </a:extLst>
          </p:cNvPr>
          <p:cNvGrpSpPr/>
          <p:nvPr/>
        </p:nvGrpSpPr>
        <p:grpSpPr>
          <a:xfrm>
            <a:off x="975937" y="1629486"/>
            <a:ext cx="2200752" cy="1490535"/>
            <a:chOff x="3168690" y="5090562"/>
            <a:chExt cx="2200752" cy="1490535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C3FD6E4-90BB-15F8-3A1D-699D01C3D51E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오각형 7">
              <a:extLst>
                <a:ext uri="{FF2B5EF4-FFF2-40B4-BE49-F238E27FC236}">
                  <a16:creationId xmlns:a16="http://schemas.microsoft.com/office/drawing/2014/main" id="{C0DF30B2-8553-59EA-05A5-C532E8F5658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이등변 삼각형 8">
              <a:extLst>
                <a:ext uri="{FF2B5EF4-FFF2-40B4-BE49-F238E27FC236}">
                  <a16:creationId xmlns:a16="http://schemas.microsoft.com/office/drawing/2014/main" id="{207E93C1-58FD-9063-5ED3-71D1698228FA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D314158-8A93-6C21-A94B-554B52211EF3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B6D15F6-0646-E23A-5306-90808C4EE53F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367322B7-5207-1DD5-515E-5E2C4D1BE35F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33FC423B-079C-BF2E-0013-225CD76423B0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9073446F-6B05-BE53-36D1-35FCEBF7DA92}"/>
                </a:ext>
              </a:extLst>
            </p:cNvPr>
            <p:cNvCxnSpPr>
              <a:stCxn id="11" idx="2"/>
              <a:endCxn id="7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E2ACC022-4BDE-186D-8C30-4E03CD5E805B}"/>
                </a:ext>
              </a:extLst>
            </p:cNvPr>
            <p:cNvCxnSpPr>
              <a:cxnSpLocks/>
              <a:stCxn id="11" idx="2"/>
              <a:endCxn id="8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F71AA59B-AB16-22F4-BEF6-6BF4402C3770}"/>
                </a:ext>
              </a:extLst>
            </p:cNvPr>
            <p:cNvCxnSpPr>
              <a:cxnSpLocks/>
              <a:stCxn id="12" idx="2"/>
              <a:endCxn id="9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AF02A89B-B8AA-6662-A6D8-29F29D46207E}"/>
                </a:ext>
              </a:extLst>
            </p:cNvPr>
            <p:cNvCxnSpPr>
              <a:cxnSpLocks/>
              <a:stCxn id="12" idx="2"/>
              <a:endCxn id="10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AAB7F7F0-CB4C-6FEA-03A5-69850ABC9669}"/>
                </a:ext>
              </a:extLst>
            </p:cNvPr>
            <p:cNvCxnSpPr>
              <a:cxnSpLocks/>
              <a:stCxn id="13" idx="2"/>
              <a:endCxn id="11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DE64C544-92E0-DC1A-7FB3-F45D5C1385BD}"/>
                </a:ext>
              </a:extLst>
            </p:cNvPr>
            <p:cNvCxnSpPr>
              <a:cxnSpLocks/>
              <a:stCxn id="13" idx="2"/>
              <a:endCxn id="12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E45A927-A848-71F9-7192-E9052E24DB32}"/>
              </a:ext>
            </a:extLst>
          </p:cNvPr>
          <p:cNvGrpSpPr/>
          <p:nvPr/>
        </p:nvGrpSpPr>
        <p:grpSpPr>
          <a:xfrm>
            <a:off x="371207" y="3554136"/>
            <a:ext cx="3557836" cy="2710322"/>
            <a:chOff x="-112460" y="2044506"/>
            <a:chExt cx="4398888" cy="3167716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2F154F54-F4BE-1B66-A7ED-11F1010FC8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7D9C192-0492-3F92-A527-B7048747499F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7D9C192-0492-3F92-A527-B704874749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930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ABC4F71-6758-4A5F-A1DC-6DA737EF9F0D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ABC4F71-6758-4A5F-A1DC-6DA737EF9F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1395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78DCD69-419E-6500-559A-4EEFCBA1F72F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78DCD69-419E-6500-559A-4EEFCBA1F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209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FA85D2-8974-FA86-AA3E-08FF4F3B484B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FA85D2-8974-FA86-AA3E-08FF4F3B48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209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7525518-653B-B6F7-815E-55588B878A36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AD4F81-A373-EF1F-64E5-B0007632D065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5895420-81E7-5640-C6DD-A67C7D9FE91D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744B560-6807-3AF2-2A12-C2D23B006983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7A3B9A4-15BF-8AAF-8667-6AADE7AD96F8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E5B4AA-DDC0-A4ED-5114-F2D875F90027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642221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B213F-C085-5E3C-AE3D-779B8B855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하향식 </a:t>
            </a:r>
            <a:r>
              <a:rPr lang="en-US" altLang="ko-KR" dirty="0"/>
              <a:t>– </a:t>
            </a:r>
            <a:r>
              <a:rPr lang="ko-KR" altLang="en-US" dirty="0"/>
              <a:t>오브젝트 수 </a:t>
            </a:r>
            <a:r>
              <a:rPr lang="ko-KR" altLang="en-US" dirty="0" err="1"/>
              <a:t>분할점</a:t>
            </a:r>
            <a:r>
              <a:rPr lang="ko-KR" altLang="en-US" dirty="0"/>
              <a:t> 결정 방식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574E72-A606-D8C4-4C50-B8DFA48BAFED}"/>
              </a:ext>
            </a:extLst>
          </p:cNvPr>
          <p:cNvSpPr txBox="1"/>
          <p:nvPr/>
        </p:nvSpPr>
        <p:spPr>
          <a:xfrm>
            <a:off x="574675" y="1535526"/>
            <a:ext cx="249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vector&lt;AABB&gt; array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83F45D-CBAA-D317-8176-7D1EBDCC6B57}"/>
              </a:ext>
            </a:extLst>
          </p:cNvPr>
          <p:cNvSpPr txBox="1"/>
          <p:nvPr/>
        </p:nvSpPr>
        <p:spPr>
          <a:xfrm>
            <a:off x="4125968" y="2263329"/>
            <a:ext cx="57622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구현이 쉽도록 자식이 </a:t>
            </a:r>
            <a:r>
              <a:rPr lang="en-US" altLang="ko-KR" sz="1200" dirty="0"/>
              <a:t>2</a:t>
            </a:r>
            <a:r>
              <a:rPr lang="ko-KR" altLang="en-US" sz="1200" dirty="0"/>
              <a:t>노드인 </a:t>
            </a:r>
            <a:r>
              <a:rPr lang="en-US" altLang="ko-KR" sz="1200" dirty="0"/>
              <a:t>BVH2</a:t>
            </a:r>
            <a:r>
              <a:rPr lang="ko-KR" altLang="en-US" sz="1200" dirty="0"/>
              <a:t>트리로 구성</a:t>
            </a:r>
            <a:r>
              <a:rPr lang="en-US" altLang="ko-KR" sz="1200" dirty="0"/>
              <a:t> </a:t>
            </a:r>
          </a:p>
          <a:p>
            <a:r>
              <a:rPr lang="ko-KR" altLang="en-US" sz="1200" dirty="0" err="1"/>
              <a:t>리프노드가</a:t>
            </a:r>
            <a:r>
              <a:rPr lang="en-US" altLang="ko-KR" sz="1200" dirty="0"/>
              <a:t> </a:t>
            </a:r>
            <a:r>
              <a:rPr lang="ko-KR" altLang="en-US" sz="1200" dirty="0"/>
              <a:t>포함하는 오브젝트 또는 </a:t>
            </a:r>
            <a:r>
              <a:rPr lang="en-US" altLang="ko-KR" sz="1200" dirty="0"/>
              <a:t>AABB</a:t>
            </a:r>
            <a:r>
              <a:rPr lang="ko-KR" altLang="en-US" sz="1200" dirty="0"/>
              <a:t>의 개수는 편의상 최대 </a:t>
            </a:r>
            <a:r>
              <a:rPr lang="en-US" altLang="ko-KR" sz="1200" dirty="0"/>
              <a:t>2</a:t>
            </a:r>
            <a:r>
              <a:rPr lang="ko-KR" altLang="en-US" sz="1200" dirty="0"/>
              <a:t>개</a:t>
            </a:r>
            <a:endParaRPr lang="en-US" altLang="ko-KR" sz="1200" dirty="0"/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82984B4C-6402-3509-DFEF-548296BFC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348755"/>
              </p:ext>
            </p:extLst>
          </p:nvPr>
        </p:nvGraphicFramePr>
        <p:xfrm>
          <a:off x="5031300" y="4266395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pSp>
        <p:nvGrpSpPr>
          <p:cNvPr id="89" name="그룹 88">
            <a:extLst>
              <a:ext uri="{FF2B5EF4-FFF2-40B4-BE49-F238E27FC236}">
                <a16:creationId xmlns:a16="http://schemas.microsoft.com/office/drawing/2014/main" id="{11A49EEC-D292-B3B6-4DD1-0E13F48F0E7E}"/>
              </a:ext>
            </a:extLst>
          </p:cNvPr>
          <p:cNvGrpSpPr/>
          <p:nvPr/>
        </p:nvGrpSpPr>
        <p:grpSpPr>
          <a:xfrm>
            <a:off x="-68326" y="2106578"/>
            <a:ext cx="3557836" cy="2710322"/>
            <a:chOff x="-112460" y="2044506"/>
            <a:chExt cx="4398888" cy="316771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4C47CEED-F4FA-7175-32B2-41D03D3B68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D29146B-7D31-E7C4-5F1B-6A6C1873DF18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D29146B-7D31-E7C4-5F1B-6A6C1873DF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1190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34363C7-853D-1745-2643-D0BDC5173357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34363C7-853D-1745-2643-D0BDC51733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66D0A6F-253A-DCC7-F72E-D051BB8F3AA7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66D0A6F-253A-DCC7-F72E-D051BB8F3A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B8F93D4-99C1-6606-091F-3670F5E99844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B8F93D4-99C1-6606-091F-3670F5E998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075C23A-2A06-9FF3-5583-A2338124E6E3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95BEB6C-412E-E2B8-C3F9-A969A452BB6A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8764548-E9FC-79D7-F07F-1C9B29A20C34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7EF78B8-AD3B-E5E6-49AE-E235BBB9D808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C3D9DDF-ED8B-D10A-78D4-FF6115C37C2B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7149438-596D-2FCA-F8E4-7C641682D9C4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5A331AA9-4BAE-07B3-8D08-DC0693322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205786"/>
              </p:ext>
            </p:extLst>
          </p:nvPr>
        </p:nvGraphicFramePr>
        <p:xfrm>
          <a:off x="4478649" y="5000484"/>
          <a:ext cx="110130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BEDEE197-3871-3D8F-B610-82BCE7E29F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961493"/>
              </p:ext>
            </p:extLst>
          </p:nvPr>
        </p:nvGraphicFramePr>
        <p:xfrm>
          <a:off x="6408217" y="5000484"/>
          <a:ext cx="110130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5658C4F4-0567-0751-1098-0B1E829CE1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286139"/>
              </p:ext>
            </p:extLst>
          </p:nvPr>
        </p:nvGraphicFramePr>
        <p:xfrm>
          <a:off x="4064668" y="5755501"/>
          <a:ext cx="36710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5512334C-DEDD-2D55-11F2-6A6A1129D2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6477120"/>
              </p:ext>
            </p:extLst>
          </p:nvPr>
        </p:nvGraphicFramePr>
        <p:xfrm>
          <a:off x="4696001" y="5755501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3D9AF5AA-48E6-8AED-C602-9D52FC24A3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481018"/>
              </p:ext>
            </p:extLst>
          </p:nvPr>
        </p:nvGraphicFramePr>
        <p:xfrm>
          <a:off x="6283012" y="5755501"/>
          <a:ext cx="36710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8269D36D-93DF-CD7D-796D-93A31CADC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760425"/>
              </p:ext>
            </p:extLst>
          </p:nvPr>
        </p:nvGraphicFramePr>
        <p:xfrm>
          <a:off x="7356162" y="5744915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47" name="TextBox 46">
            <a:extLst>
              <a:ext uri="{FF2B5EF4-FFF2-40B4-BE49-F238E27FC236}">
                <a16:creationId xmlns:a16="http://schemas.microsoft.com/office/drawing/2014/main" id="{D3FAD6C0-F44E-6EAF-5A2F-39DC8DBDCC40}"/>
              </a:ext>
            </a:extLst>
          </p:cNvPr>
          <p:cNvSpPr txBox="1"/>
          <p:nvPr/>
        </p:nvSpPr>
        <p:spPr>
          <a:xfrm>
            <a:off x="4168814" y="3783061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y</a:t>
            </a:r>
            <a:r>
              <a:rPr lang="ko-KR" altLang="en-US" sz="1200" dirty="0"/>
              <a:t>축 정렬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441B43-B9D6-1023-5678-E026255FFFC1}"/>
              </a:ext>
            </a:extLst>
          </p:cNvPr>
          <p:cNvSpPr txBox="1"/>
          <p:nvPr/>
        </p:nvSpPr>
        <p:spPr>
          <a:xfrm>
            <a:off x="4092008" y="4522484"/>
            <a:ext cx="981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x</a:t>
            </a:r>
            <a:r>
              <a:rPr lang="ko-KR" altLang="en-US" sz="1200" dirty="0"/>
              <a:t>축 정렬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D91790-E1CD-D0BA-D9DD-B7954562514E}"/>
              </a:ext>
            </a:extLst>
          </p:cNvPr>
          <p:cNvSpPr txBox="1"/>
          <p:nvPr/>
        </p:nvSpPr>
        <p:spPr>
          <a:xfrm>
            <a:off x="7232585" y="4532579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y</a:t>
            </a:r>
            <a:r>
              <a:rPr lang="ko-KR" altLang="en-US" sz="1200" dirty="0"/>
              <a:t>축 정렬</a:t>
            </a:r>
          </a:p>
        </p:txBody>
      </p:sp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BDAF652D-79A4-44B0-55E4-F6C599A88C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129508"/>
              </p:ext>
            </p:extLst>
          </p:nvPr>
        </p:nvGraphicFramePr>
        <p:xfrm>
          <a:off x="5031300" y="3267703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03E27BC4-AA48-7DBF-C3BA-C663DFEE9544}"/>
              </a:ext>
            </a:extLst>
          </p:cNvPr>
          <p:cNvSpPr txBox="1"/>
          <p:nvPr/>
        </p:nvSpPr>
        <p:spPr>
          <a:xfrm>
            <a:off x="5623167" y="2844607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초기배열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0C6C34BA-B7C3-3D3D-F0F4-E831420221CD}"/>
              </a:ext>
            </a:extLst>
          </p:cNvPr>
          <p:cNvCxnSpPr>
            <a:cxnSpLocks/>
            <a:endCxn id="41" idx="0"/>
          </p:cNvCxnSpPr>
          <p:nvPr/>
        </p:nvCxnSpPr>
        <p:spPr>
          <a:xfrm flipH="1">
            <a:off x="5029303" y="4632155"/>
            <a:ext cx="550655" cy="368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0B450E6-DF5E-C6BE-31F9-99394E6C670E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6562228" y="4644772"/>
            <a:ext cx="396643" cy="3557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6538638-7D1E-A602-85CC-46B5F0D5C07D}"/>
              </a:ext>
            </a:extLst>
          </p:cNvPr>
          <p:cNvCxnSpPr>
            <a:cxnSpLocks/>
            <a:stCxn id="41" idx="2"/>
            <a:endCxn id="43" idx="0"/>
          </p:cNvCxnSpPr>
          <p:nvPr/>
        </p:nvCxnSpPr>
        <p:spPr>
          <a:xfrm flipH="1">
            <a:off x="4248219" y="5366244"/>
            <a:ext cx="781084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67495EDC-3461-8E05-DC91-0D3AF99836C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>
            <a:off x="5029303" y="5366244"/>
            <a:ext cx="33801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E4BF4FF-26B1-D2CB-89F3-ADB501C1A160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6466563" y="5366244"/>
            <a:ext cx="439923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F7EA59FC-4A1B-8B70-60BD-28E905B5CABF}"/>
              </a:ext>
            </a:extLst>
          </p:cNvPr>
          <p:cNvCxnSpPr>
            <a:cxnSpLocks/>
            <a:stCxn id="42" idx="2"/>
            <a:endCxn id="46" idx="0"/>
          </p:cNvCxnSpPr>
          <p:nvPr/>
        </p:nvCxnSpPr>
        <p:spPr>
          <a:xfrm>
            <a:off x="6958871" y="5366244"/>
            <a:ext cx="764394" cy="3786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대각선 줄무늬 99">
            <a:extLst>
              <a:ext uri="{FF2B5EF4-FFF2-40B4-BE49-F238E27FC236}">
                <a16:creationId xmlns:a16="http://schemas.microsoft.com/office/drawing/2014/main" id="{F5C45C7E-9125-2D7E-9DDB-A5D90966C8E2}"/>
              </a:ext>
            </a:extLst>
          </p:cNvPr>
          <p:cNvSpPr/>
          <p:nvPr/>
        </p:nvSpPr>
        <p:spPr>
          <a:xfrm>
            <a:off x="6099980" y="4107714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1" name="대각선 줄무늬 100">
            <a:extLst>
              <a:ext uri="{FF2B5EF4-FFF2-40B4-BE49-F238E27FC236}">
                <a16:creationId xmlns:a16="http://schemas.microsoft.com/office/drawing/2014/main" id="{28CBC9FF-5EC0-F5D1-4096-91C348344086}"/>
              </a:ext>
            </a:extLst>
          </p:cNvPr>
          <p:cNvSpPr/>
          <p:nvPr/>
        </p:nvSpPr>
        <p:spPr>
          <a:xfrm>
            <a:off x="4820877" y="4831140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2" name="대각선 줄무늬 101">
            <a:extLst>
              <a:ext uri="{FF2B5EF4-FFF2-40B4-BE49-F238E27FC236}">
                <a16:creationId xmlns:a16="http://schemas.microsoft.com/office/drawing/2014/main" id="{EC0C55D6-DD20-8396-F820-414A1EE07537}"/>
              </a:ext>
            </a:extLst>
          </p:cNvPr>
          <p:cNvSpPr/>
          <p:nvPr/>
        </p:nvSpPr>
        <p:spPr>
          <a:xfrm>
            <a:off x="6760549" y="4846051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9794AD-B17F-55BF-7BA8-974AB4ECB1CA}"/>
              </a:ext>
            </a:extLst>
          </p:cNvPr>
          <p:cNvSpPr txBox="1"/>
          <p:nvPr/>
        </p:nvSpPr>
        <p:spPr>
          <a:xfrm>
            <a:off x="5650527" y="4008761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D7CD5B8-5EC7-8755-27EE-BBA074E5EA94}"/>
              </a:ext>
            </a:extLst>
          </p:cNvPr>
          <p:cNvSpPr txBox="1"/>
          <p:nvPr/>
        </p:nvSpPr>
        <p:spPr>
          <a:xfrm>
            <a:off x="6496371" y="4767865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ADF3881-F9D9-F2DD-69F9-7937312ED9C6}"/>
              </a:ext>
            </a:extLst>
          </p:cNvPr>
          <p:cNvSpPr txBox="1"/>
          <p:nvPr/>
        </p:nvSpPr>
        <p:spPr>
          <a:xfrm>
            <a:off x="4642663" y="4767827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155F936-0F45-7072-C77E-CD12A8BA0804}"/>
              </a:ext>
            </a:extLst>
          </p:cNvPr>
          <p:cNvSpPr txBox="1"/>
          <p:nvPr/>
        </p:nvSpPr>
        <p:spPr>
          <a:xfrm>
            <a:off x="8090368" y="3213300"/>
            <a:ext cx="37188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eriod"/>
            </a:pPr>
            <a:r>
              <a:rPr lang="ko-KR" altLang="en-US" dirty="0"/>
              <a:t>부분 영역 </a:t>
            </a:r>
            <a:r>
              <a:rPr lang="en-US" altLang="ko-KR" dirty="0"/>
              <a:t>2</a:t>
            </a:r>
            <a:r>
              <a:rPr lang="ko-KR" altLang="en-US" dirty="0"/>
              <a:t>개</a:t>
            </a:r>
            <a:r>
              <a:rPr lang="en-US" altLang="ko-KR" dirty="0"/>
              <a:t>(leaf)</a:t>
            </a:r>
            <a:r>
              <a:rPr lang="ko-KR" altLang="en-US" dirty="0"/>
              <a:t> 이하인가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ko-KR" altLang="en-US" dirty="0"/>
              <a:t>아니면 합집합</a:t>
            </a:r>
            <a:r>
              <a:rPr lang="en-US" altLang="ko-KR" dirty="0"/>
              <a:t> AABB </a:t>
            </a:r>
            <a:r>
              <a:rPr lang="ko-KR" altLang="en-US" dirty="0"/>
              <a:t>계산</a:t>
            </a:r>
            <a:br>
              <a:rPr lang="en-US" altLang="ko-KR" dirty="0"/>
            </a:br>
            <a:r>
              <a:rPr lang="ko-KR" altLang="en-US" dirty="0"/>
              <a:t>맞으면 </a:t>
            </a:r>
            <a:r>
              <a:rPr lang="en-US" altLang="ko-KR" dirty="0"/>
              <a:t>AABB</a:t>
            </a:r>
            <a:r>
              <a:rPr lang="ko-KR" altLang="en-US" dirty="0"/>
              <a:t> </a:t>
            </a:r>
            <a:r>
              <a:rPr lang="en-US" altLang="ko-KR" dirty="0"/>
              <a:t>index or </a:t>
            </a:r>
            <a:r>
              <a:rPr lang="en-US" altLang="ko-KR" dirty="0" err="1"/>
              <a:t>ptr</a:t>
            </a:r>
            <a:r>
              <a:rPr lang="ko-KR" altLang="en-US" dirty="0"/>
              <a:t> 저장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en-US" altLang="ko-KR" dirty="0"/>
              <a:t>a </a:t>
            </a:r>
            <a:r>
              <a:rPr lang="ko-KR" altLang="en-US" dirty="0"/>
              <a:t>범위를 긴 축</a:t>
            </a:r>
            <a:r>
              <a:rPr lang="en-US" altLang="ko-KR" dirty="0"/>
              <a:t> </a:t>
            </a:r>
            <a:r>
              <a:rPr lang="ko-KR" altLang="en-US" dirty="0"/>
              <a:t>기준 부분 정렬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ko-KR" altLang="en-US" dirty="0"/>
              <a:t>개수 절반 좌</a:t>
            </a:r>
            <a:r>
              <a:rPr lang="en-US" altLang="ko-KR" dirty="0"/>
              <a:t>/</a:t>
            </a:r>
            <a:r>
              <a:rPr lang="ko-KR" altLang="en-US" dirty="0"/>
              <a:t>우 영역 </a:t>
            </a:r>
            <a:r>
              <a:rPr lang="en-US" altLang="ko-KR" dirty="0"/>
              <a:t>a </a:t>
            </a:r>
            <a:r>
              <a:rPr lang="ko-KR" altLang="en-US" dirty="0"/>
              <a:t>시도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BB52018-F52B-86D4-2F0A-1706F7BD8C38}"/>
              </a:ext>
            </a:extLst>
          </p:cNvPr>
          <p:cNvSpPr txBox="1"/>
          <p:nvPr/>
        </p:nvSpPr>
        <p:spPr>
          <a:xfrm>
            <a:off x="4098070" y="1641476"/>
            <a:ext cx="7069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 축 정렬을 하고 숫자를 절반씩 나누어 합집합 </a:t>
            </a:r>
            <a:r>
              <a:rPr lang="en-US" altLang="ko-KR" dirty="0"/>
              <a:t>AABB</a:t>
            </a:r>
            <a:r>
              <a:rPr lang="ko-KR" altLang="en-US" dirty="0"/>
              <a:t>를 계산한다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5360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70E3B-0BEE-5AF0-F5EE-CF26557A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하향식 </a:t>
            </a:r>
            <a:r>
              <a:rPr lang="en-US" altLang="ko-KR" dirty="0"/>
              <a:t>– </a:t>
            </a:r>
            <a:r>
              <a:rPr lang="ko-KR" altLang="en-US" dirty="0"/>
              <a:t>중간 거리 </a:t>
            </a:r>
            <a:r>
              <a:rPr lang="ko-KR" altLang="en-US" dirty="0" err="1"/>
              <a:t>분할점</a:t>
            </a:r>
            <a:r>
              <a:rPr lang="ko-KR" altLang="en-US" dirty="0"/>
              <a:t> 결정 방식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E7318B4-925B-F777-5C5E-2ABC83E5DDA7}"/>
              </a:ext>
            </a:extLst>
          </p:cNvPr>
          <p:cNvGrpSpPr/>
          <p:nvPr/>
        </p:nvGrpSpPr>
        <p:grpSpPr>
          <a:xfrm>
            <a:off x="262978" y="2245726"/>
            <a:ext cx="3557836" cy="2710322"/>
            <a:chOff x="-112460" y="2044506"/>
            <a:chExt cx="4398888" cy="316771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B0817884-C120-0BE6-0BFB-F2AEC38FC5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26BF605-18BF-EF3D-DB0E-6067B05B025B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26BF605-18BF-EF3D-DB0E-6067B05B02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930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A3FB102-2526-FB6A-4D2C-080AF4517E0A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A3FB102-2526-FB6A-4D2C-080AF4517E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1395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CB525FB-0A7A-C959-A66A-5EBE0AD9AC38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CB525FB-0A7A-C959-A66A-5EBE0AD9AC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209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2AF09EF-C3C7-2417-33F9-027A4A500894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2AF09EF-C3C7-2417-33F9-027A4A5008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4DBB64-862C-27F0-3FEC-A1D4E61DD209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A71DE6F-4C7F-9F35-3459-0EAA25A56B48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E680BF-5941-8730-600A-8E50E85AD125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32E7373-948B-EECF-179B-E9F4210D703E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0D0082B-A0B7-E6C4-F799-B8BE65BACE72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AD74536-B318-39F0-26DC-D2CABFF579AB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A64DE848-D48B-8082-BC91-BC70E5CA0FD6}"/>
              </a:ext>
            </a:extLst>
          </p:cNvPr>
          <p:cNvSpPr txBox="1"/>
          <p:nvPr/>
        </p:nvSpPr>
        <p:spPr>
          <a:xfrm>
            <a:off x="4351466" y="2238476"/>
            <a:ext cx="57622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구현이 쉽도록 자식이 </a:t>
            </a:r>
            <a:r>
              <a:rPr lang="en-US" altLang="ko-KR" sz="1200" dirty="0"/>
              <a:t>2</a:t>
            </a:r>
            <a:r>
              <a:rPr lang="ko-KR" altLang="en-US" sz="1200" dirty="0"/>
              <a:t>노드인 </a:t>
            </a:r>
            <a:r>
              <a:rPr lang="en-US" altLang="ko-KR" sz="1200" dirty="0"/>
              <a:t>BVH2</a:t>
            </a:r>
            <a:r>
              <a:rPr lang="ko-KR" altLang="en-US" sz="1200" dirty="0"/>
              <a:t>트리로 구성</a:t>
            </a:r>
            <a:r>
              <a:rPr lang="en-US" altLang="ko-KR" sz="1200" dirty="0"/>
              <a:t> </a:t>
            </a:r>
          </a:p>
          <a:p>
            <a:r>
              <a:rPr lang="ko-KR" altLang="en-US" sz="1200" dirty="0" err="1"/>
              <a:t>리프노드가</a:t>
            </a:r>
            <a:r>
              <a:rPr lang="en-US" altLang="ko-KR" sz="1200" dirty="0"/>
              <a:t> </a:t>
            </a:r>
            <a:r>
              <a:rPr lang="ko-KR" altLang="en-US" sz="1200" dirty="0"/>
              <a:t>포함하는 오브젝트 또는 </a:t>
            </a:r>
            <a:r>
              <a:rPr lang="en-US" altLang="ko-KR" sz="1200" dirty="0"/>
              <a:t>AABB</a:t>
            </a:r>
            <a:r>
              <a:rPr lang="ko-KR" altLang="en-US" sz="1200" dirty="0"/>
              <a:t>의 개수는 편의상 최대 </a:t>
            </a:r>
            <a:r>
              <a:rPr lang="en-US" altLang="ko-KR" sz="1200" dirty="0"/>
              <a:t>2</a:t>
            </a:r>
            <a:r>
              <a:rPr lang="ko-KR" altLang="en-US" sz="1200" dirty="0"/>
              <a:t>개</a:t>
            </a:r>
            <a:endParaRPr lang="en-US" altLang="ko-KR" sz="1200" dirty="0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2E70DA4A-4E71-9CD0-2A1F-BF4A4D87C4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456035"/>
              </p:ext>
            </p:extLst>
          </p:nvPr>
        </p:nvGraphicFramePr>
        <p:xfrm>
          <a:off x="5031300" y="4266395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832F65D9-0E9B-403D-F0C9-0D7A2F6A5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08672"/>
              </p:ext>
            </p:extLst>
          </p:nvPr>
        </p:nvGraphicFramePr>
        <p:xfrm>
          <a:off x="4192987" y="5000484"/>
          <a:ext cx="138697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74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46743">
                  <a:extLst>
                    <a:ext uri="{9D8B030D-6E8A-4147-A177-3AD203B41FA5}">
                      <a16:colId xmlns:a16="http://schemas.microsoft.com/office/drawing/2014/main" val="820706003"/>
                    </a:ext>
                  </a:extLst>
                </a:gridCol>
                <a:gridCol w="34674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4674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3617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2AE3216-5B47-5168-A7A8-F5B07CFC1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35881"/>
              </p:ext>
            </p:extLst>
          </p:nvPr>
        </p:nvGraphicFramePr>
        <p:xfrm>
          <a:off x="3764025" y="5755501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1610703556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84172645-2693-264B-B7F8-598AB6C5FE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490131"/>
              </p:ext>
            </p:extLst>
          </p:nvPr>
        </p:nvGraphicFramePr>
        <p:xfrm>
          <a:off x="4696001" y="5755501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E0F2D23E-73C7-CA5D-1274-FF72EE160D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533941"/>
              </p:ext>
            </p:extLst>
          </p:nvPr>
        </p:nvGraphicFramePr>
        <p:xfrm>
          <a:off x="6612043" y="5029005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722548EA-8BA5-BF39-8B07-2C4DD67AF293}"/>
              </a:ext>
            </a:extLst>
          </p:cNvPr>
          <p:cNvSpPr txBox="1"/>
          <p:nvPr/>
        </p:nvSpPr>
        <p:spPr>
          <a:xfrm>
            <a:off x="4168814" y="3783061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y</a:t>
            </a:r>
            <a:r>
              <a:rPr lang="ko-KR" altLang="en-US" sz="1200" dirty="0"/>
              <a:t>축 정렬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7991216-80A5-2390-4BCB-D91F529F07A4}"/>
              </a:ext>
            </a:extLst>
          </p:cNvPr>
          <p:cNvSpPr txBox="1"/>
          <p:nvPr/>
        </p:nvSpPr>
        <p:spPr>
          <a:xfrm>
            <a:off x="4092008" y="4522484"/>
            <a:ext cx="981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x</a:t>
            </a:r>
            <a:r>
              <a:rPr lang="ko-KR" altLang="en-US" sz="1200" dirty="0"/>
              <a:t>축 정렬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9C4D68-37B1-D647-7FA5-0EEF8910BAE8}"/>
              </a:ext>
            </a:extLst>
          </p:cNvPr>
          <p:cNvSpPr txBox="1"/>
          <p:nvPr/>
        </p:nvSpPr>
        <p:spPr>
          <a:xfrm>
            <a:off x="7232585" y="4532579"/>
            <a:ext cx="981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x</a:t>
            </a:r>
            <a:r>
              <a:rPr lang="ko-KR" altLang="en-US" sz="1200" dirty="0"/>
              <a:t>축 정렬</a:t>
            </a: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8221B490-4487-90CE-6DCC-53E52880D3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504571"/>
              </p:ext>
            </p:extLst>
          </p:nvPr>
        </p:nvGraphicFramePr>
        <p:xfrm>
          <a:off x="5031300" y="3267703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7AD8095-2359-52D9-E35E-DE1424155DD0}"/>
              </a:ext>
            </a:extLst>
          </p:cNvPr>
          <p:cNvSpPr txBox="1"/>
          <p:nvPr/>
        </p:nvSpPr>
        <p:spPr>
          <a:xfrm>
            <a:off x="5623167" y="2844607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초기배열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653B4D61-ED8D-8384-3638-F19B0A73DE92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4886473" y="4632155"/>
            <a:ext cx="693485" cy="368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4D6D799-30A7-C5DE-8BB0-7DD7BD946861}"/>
              </a:ext>
            </a:extLst>
          </p:cNvPr>
          <p:cNvCxnSpPr>
            <a:cxnSpLocks/>
          </p:cNvCxnSpPr>
          <p:nvPr/>
        </p:nvCxnSpPr>
        <p:spPr>
          <a:xfrm>
            <a:off x="6757803" y="4660983"/>
            <a:ext cx="201068" cy="3395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22E8F69-1166-01F5-1D30-70EA6549D54F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 flipH="1">
            <a:off x="4131128" y="5366244"/>
            <a:ext cx="755345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E6B5C08-B4B8-B5B1-43C5-4E325EF6EB5D}"/>
              </a:ext>
            </a:extLst>
          </p:cNvPr>
          <p:cNvCxnSpPr>
            <a:cxnSpLocks/>
            <a:stCxn id="17" idx="2"/>
            <a:endCxn id="20" idx="0"/>
          </p:cNvCxnSpPr>
          <p:nvPr/>
        </p:nvCxnSpPr>
        <p:spPr>
          <a:xfrm>
            <a:off x="4886473" y="5366244"/>
            <a:ext cx="176631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대각선 줄무늬 33">
            <a:extLst>
              <a:ext uri="{FF2B5EF4-FFF2-40B4-BE49-F238E27FC236}">
                <a16:creationId xmlns:a16="http://schemas.microsoft.com/office/drawing/2014/main" id="{D38FA419-EAF7-2C7A-1268-798EC6CCD7D1}"/>
              </a:ext>
            </a:extLst>
          </p:cNvPr>
          <p:cNvSpPr/>
          <p:nvPr/>
        </p:nvSpPr>
        <p:spPr>
          <a:xfrm>
            <a:off x="6500964" y="4041295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대각선 줄무늬 34">
            <a:extLst>
              <a:ext uri="{FF2B5EF4-FFF2-40B4-BE49-F238E27FC236}">
                <a16:creationId xmlns:a16="http://schemas.microsoft.com/office/drawing/2014/main" id="{2C98096A-FD71-162D-3AF5-35BA3AB38EE8}"/>
              </a:ext>
            </a:extLst>
          </p:cNvPr>
          <p:cNvSpPr/>
          <p:nvPr/>
        </p:nvSpPr>
        <p:spPr>
          <a:xfrm>
            <a:off x="4820877" y="4831140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10175A-F574-7368-9F13-410C82CF4B15}"/>
              </a:ext>
            </a:extLst>
          </p:cNvPr>
          <p:cNvSpPr txBox="1"/>
          <p:nvPr/>
        </p:nvSpPr>
        <p:spPr>
          <a:xfrm>
            <a:off x="5650527" y="4008761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CC1C33D-F989-D6B2-82CB-2EE66DC917FD}"/>
              </a:ext>
            </a:extLst>
          </p:cNvPr>
          <p:cNvSpPr txBox="1"/>
          <p:nvPr/>
        </p:nvSpPr>
        <p:spPr>
          <a:xfrm>
            <a:off x="4642663" y="4767827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A9E96C-2BA8-FF26-CEF8-196EB303644A}"/>
              </a:ext>
            </a:extLst>
          </p:cNvPr>
          <p:cNvSpPr txBox="1"/>
          <p:nvPr/>
        </p:nvSpPr>
        <p:spPr>
          <a:xfrm>
            <a:off x="8090368" y="3213300"/>
            <a:ext cx="41016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eriod"/>
            </a:pPr>
            <a:r>
              <a:rPr lang="ko-KR" altLang="en-US" dirty="0"/>
              <a:t>부분 영역 </a:t>
            </a:r>
            <a:r>
              <a:rPr lang="en-US" altLang="ko-KR" dirty="0"/>
              <a:t>2</a:t>
            </a:r>
            <a:r>
              <a:rPr lang="ko-KR" altLang="en-US" dirty="0"/>
              <a:t>개</a:t>
            </a:r>
            <a:r>
              <a:rPr lang="en-US" altLang="ko-KR" dirty="0"/>
              <a:t>(leaf)</a:t>
            </a:r>
            <a:r>
              <a:rPr lang="ko-KR" altLang="en-US" dirty="0"/>
              <a:t> 이하인가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ko-KR" altLang="en-US" dirty="0"/>
              <a:t>아니면 합집합</a:t>
            </a:r>
            <a:r>
              <a:rPr lang="en-US" altLang="ko-KR" dirty="0"/>
              <a:t> AABB </a:t>
            </a:r>
            <a:r>
              <a:rPr lang="ko-KR" altLang="en-US" dirty="0"/>
              <a:t>계산</a:t>
            </a:r>
            <a:br>
              <a:rPr lang="en-US" altLang="ko-KR" dirty="0"/>
            </a:br>
            <a:r>
              <a:rPr lang="ko-KR" altLang="en-US" dirty="0"/>
              <a:t>맞으면 </a:t>
            </a:r>
            <a:r>
              <a:rPr lang="en-US" altLang="ko-KR" dirty="0"/>
              <a:t>AABB</a:t>
            </a:r>
            <a:r>
              <a:rPr lang="ko-KR" altLang="en-US" dirty="0"/>
              <a:t> </a:t>
            </a:r>
            <a:r>
              <a:rPr lang="en-US" altLang="ko-KR" dirty="0"/>
              <a:t>index or </a:t>
            </a:r>
            <a:r>
              <a:rPr lang="en-US" altLang="ko-KR" dirty="0" err="1"/>
              <a:t>ptr</a:t>
            </a:r>
            <a:r>
              <a:rPr lang="ko-KR" altLang="en-US" dirty="0"/>
              <a:t> 저장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en-US" altLang="ko-KR" dirty="0"/>
              <a:t>a </a:t>
            </a:r>
            <a:r>
              <a:rPr lang="ko-KR" altLang="en-US" dirty="0"/>
              <a:t>범위를 긴 축</a:t>
            </a:r>
            <a:r>
              <a:rPr lang="en-US" altLang="ko-KR" dirty="0"/>
              <a:t> </a:t>
            </a:r>
            <a:r>
              <a:rPr lang="ko-KR" altLang="en-US" dirty="0"/>
              <a:t>기준 부분 정렬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ko-KR" altLang="en-US" dirty="0"/>
              <a:t>긴 축 중간기준 좌</a:t>
            </a:r>
            <a:r>
              <a:rPr lang="en-US" altLang="ko-KR" dirty="0"/>
              <a:t>/</a:t>
            </a:r>
            <a:r>
              <a:rPr lang="ko-KR" altLang="en-US" dirty="0"/>
              <a:t>우 영역 </a:t>
            </a:r>
            <a:r>
              <a:rPr lang="en-US" altLang="ko-KR" dirty="0"/>
              <a:t>a </a:t>
            </a:r>
            <a:r>
              <a:rPr lang="ko-KR" altLang="en-US" dirty="0"/>
              <a:t>시도</a:t>
            </a:r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FDBBC04-2A28-7E0D-3C2D-DDEFDA3D5431}"/>
              </a:ext>
            </a:extLst>
          </p:cNvPr>
          <p:cNvCxnSpPr>
            <a:stCxn id="4" idx="1"/>
          </p:cNvCxnSpPr>
          <p:nvPr/>
        </p:nvCxnSpPr>
        <p:spPr>
          <a:xfrm flipV="1">
            <a:off x="703558" y="3491948"/>
            <a:ext cx="2887781" cy="4416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8CC524B-A725-BA29-EAFA-765D8A303F53}"/>
              </a:ext>
            </a:extLst>
          </p:cNvPr>
          <p:cNvSpPr txBox="1"/>
          <p:nvPr/>
        </p:nvSpPr>
        <p:spPr>
          <a:xfrm>
            <a:off x="1497947" y="1684980"/>
            <a:ext cx="917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 축 정렬을 하고 해당 축 중간거리 기준으로 절반씩 나누어 합집합 </a:t>
            </a:r>
            <a:r>
              <a:rPr lang="en-US" altLang="ko-KR" dirty="0"/>
              <a:t>AABB</a:t>
            </a:r>
            <a:r>
              <a:rPr lang="ko-KR" altLang="en-US" dirty="0"/>
              <a:t>를 계산한다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6F1BA8ED-31DB-4104-2D91-070FD8B8F232}"/>
              </a:ext>
            </a:extLst>
          </p:cNvPr>
          <p:cNvCxnSpPr>
            <a:cxnSpLocks/>
          </p:cNvCxnSpPr>
          <p:nvPr/>
        </p:nvCxnSpPr>
        <p:spPr>
          <a:xfrm flipV="1">
            <a:off x="2297379" y="3754063"/>
            <a:ext cx="0" cy="90692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00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5A4C71-0952-4348-CD30-44902368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하향식 </a:t>
            </a:r>
            <a:r>
              <a:rPr lang="en-US" altLang="ko-KR" dirty="0"/>
              <a:t>– SAH (Surface Area </a:t>
            </a:r>
            <a:r>
              <a:rPr lang="en-US" altLang="ko-KR" dirty="0" err="1"/>
              <a:t>Huristic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94EEF56-6395-9309-D7CF-FA31AE131909}"/>
              </a:ext>
            </a:extLst>
          </p:cNvPr>
          <p:cNvGrpSpPr/>
          <p:nvPr/>
        </p:nvGrpSpPr>
        <p:grpSpPr>
          <a:xfrm>
            <a:off x="-70155" y="3007763"/>
            <a:ext cx="3136204" cy="2318863"/>
            <a:chOff x="-112460" y="2044506"/>
            <a:chExt cx="4398888" cy="316771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2281204F-8A36-143F-A1FD-D0184DFBC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A4C5389-2353-69BC-3226-1B14873E59F4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A4C5389-2353-69BC-3226-1B14873E5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2702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892DD9-9F85-972E-79A0-A09FB37022AB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892DD9-9F85-972E-79A0-A09FB37022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3243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9A0A2B0-313C-5814-350C-558382289D5A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9A0A2B0-313C-5814-350C-558382289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4444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D946DBD-3CD1-09A1-DE1B-B46CDE5F9781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D946DBD-3CD1-09A1-DE1B-B46CDE5F97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4444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2E9B383-3C19-5548-E1FB-008FE2B23F0E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0754810-79C7-112A-D50E-D7EE0E543174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C41CC0A-DC45-2501-77C2-A33655C5B2BC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75A5C10-6B01-947D-73D4-95A0580C025C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312EC37-0D40-7DDA-EE7D-F157DE3B255F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00CBA4-CF87-E124-9DF4-2C664C64F2EC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413F6B5-C6C7-C04D-4C77-9C77E0DD0220}"/>
              </a:ext>
            </a:extLst>
          </p:cNvPr>
          <p:cNvSpPr txBox="1"/>
          <p:nvPr/>
        </p:nvSpPr>
        <p:spPr>
          <a:xfrm>
            <a:off x="922776" y="1523485"/>
            <a:ext cx="99341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 축 정렬을 하고 해당 축 기준으로 모든 기준점 경우의 수에 대해 </a:t>
            </a:r>
            <a:r>
              <a:rPr lang="en-US" altLang="ko-KR" dirty="0"/>
              <a:t>SAH </a:t>
            </a:r>
            <a:r>
              <a:rPr lang="ko-KR" altLang="en-US" dirty="0"/>
              <a:t>비용을 계산하여 가장</a:t>
            </a:r>
            <a:endParaRPr lang="en-US" altLang="ko-KR" dirty="0"/>
          </a:p>
          <a:p>
            <a:r>
              <a:rPr lang="ko-KR" altLang="en-US" dirty="0"/>
              <a:t>최적의 기준점을 </a:t>
            </a:r>
            <a:r>
              <a:rPr lang="ko-KR" altLang="en-US" dirty="0" err="1"/>
              <a:t>사용하는것</a:t>
            </a:r>
            <a:r>
              <a:rPr lang="en-US" altLang="ko-KR" dirty="0"/>
              <a:t>.  </a:t>
            </a:r>
            <a:r>
              <a:rPr lang="ko-KR" altLang="en-US" dirty="0"/>
              <a:t>좌</a:t>
            </a:r>
            <a:r>
              <a:rPr lang="en-US" altLang="ko-KR" dirty="0"/>
              <a:t>/</a:t>
            </a:r>
            <a:r>
              <a:rPr lang="ko-KR" altLang="en-US" dirty="0"/>
              <a:t>우 의 합집합 </a:t>
            </a:r>
            <a:r>
              <a:rPr lang="en-US" altLang="ko-KR" dirty="0"/>
              <a:t>AABB</a:t>
            </a:r>
            <a:r>
              <a:rPr lang="ko-KR" altLang="en-US" dirty="0"/>
              <a:t>를 계산할 때는 누적합으로 최적화 가능</a:t>
            </a:r>
            <a:endParaRPr lang="en-US" altLang="ko-KR" dirty="0"/>
          </a:p>
          <a:p>
            <a:r>
              <a:rPr lang="ko-KR" altLang="en-US" dirty="0"/>
              <a:t>“</a:t>
            </a:r>
            <a:r>
              <a:rPr lang="en-US" altLang="ko-KR" b="1" dirty="0" err="1"/>
              <a:t>SurfaceArea</a:t>
            </a:r>
            <a:r>
              <a:rPr lang="en-US" altLang="ko-KR" b="1" dirty="0"/>
              <a:t> × </a:t>
            </a:r>
            <a:r>
              <a:rPr lang="en-US" altLang="ko-KR" b="1" dirty="0" err="1"/>
              <a:t>ObjectCount</a:t>
            </a:r>
            <a:r>
              <a:rPr lang="en-US" altLang="ko-KR" b="1" dirty="0"/>
              <a:t> </a:t>
            </a:r>
            <a:r>
              <a:rPr lang="ko-KR" altLang="en-US" b="1" dirty="0"/>
              <a:t>합이 가장 작은 분할점을 찾아라</a:t>
            </a:r>
            <a:r>
              <a:rPr lang="ko-KR" altLang="en-US" dirty="0"/>
              <a:t>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50049C-BE23-BE93-792C-C9038706599F}"/>
              </a:ext>
            </a:extLst>
          </p:cNvPr>
          <p:cNvSpPr txBox="1"/>
          <p:nvPr/>
        </p:nvSpPr>
        <p:spPr>
          <a:xfrm>
            <a:off x="4035667" y="2425739"/>
            <a:ext cx="793692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ko-KR" altLang="en-US" sz="1400" dirty="0"/>
              <a:t>현재 노드의 </a:t>
            </a:r>
            <a:r>
              <a:rPr lang="en-US" altLang="ko-KR" sz="1400" dirty="0"/>
              <a:t>AABB(Axis-Aligned Bounding Box)</a:t>
            </a:r>
            <a:r>
              <a:rPr lang="ko-KR" altLang="en-US" sz="1400" dirty="0"/>
              <a:t>를 계산</a:t>
            </a:r>
          </a:p>
          <a:p>
            <a:pPr>
              <a:buFont typeface="+mj-lt"/>
              <a:buAutoNum type="arabicPeriod"/>
            </a:pPr>
            <a:r>
              <a:rPr lang="ko-KR" altLang="en-US" sz="1400" dirty="0"/>
              <a:t>긴 축</a:t>
            </a:r>
            <a:r>
              <a:rPr lang="en-US" altLang="ko-KR" sz="1400" dirty="0"/>
              <a:t>(longest axis)</a:t>
            </a:r>
            <a:r>
              <a:rPr lang="ko-KR" altLang="en-US" sz="1400" dirty="0"/>
              <a:t>을 선택 → 보통 </a:t>
            </a:r>
            <a:r>
              <a:rPr lang="en-US" altLang="ko-KR" sz="1400" dirty="0"/>
              <a:t>x, y, z </a:t>
            </a:r>
            <a:r>
              <a:rPr lang="ko-KR" altLang="en-US" sz="1400" dirty="0"/>
              <a:t>중 가장 긴 축</a:t>
            </a:r>
          </a:p>
          <a:p>
            <a:pPr>
              <a:buFont typeface="+mj-lt"/>
              <a:buAutoNum type="arabicPeriod"/>
            </a:pPr>
            <a:r>
              <a:rPr lang="ko-KR" altLang="en-US" sz="1400" dirty="0"/>
              <a:t>해당 축을 기준으로 모든 가능한 분할 위치 </a:t>
            </a:r>
            <a:r>
              <a:rPr lang="ko-KR" altLang="en-US" sz="1400" dirty="0" err="1"/>
              <a:t>를</a:t>
            </a:r>
            <a:r>
              <a:rPr lang="ko-KR" altLang="en-US" sz="1400" dirty="0"/>
              <a:t> 순회</a:t>
            </a:r>
            <a:br>
              <a:rPr lang="en-US" altLang="ko-KR" sz="1400" dirty="0"/>
            </a:br>
            <a:r>
              <a:rPr lang="en-US" altLang="ko-KR" sz="1400" dirty="0"/>
              <a:t>(</a:t>
            </a:r>
            <a:r>
              <a:rPr lang="ko-KR" altLang="en-US" sz="1400" dirty="0"/>
              <a:t>예</a:t>
            </a:r>
            <a:r>
              <a:rPr lang="en-US" altLang="ko-KR" sz="1400" dirty="0"/>
              <a:t>: </a:t>
            </a:r>
            <a:r>
              <a:rPr lang="ko-KR" altLang="en-US" sz="1400" dirty="0"/>
              <a:t>자식 </a:t>
            </a:r>
            <a:r>
              <a:rPr lang="ko-KR" altLang="en-US" sz="1400" dirty="0" err="1"/>
              <a:t>바운딩</a:t>
            </a:r>
            <a:r>
              <a:rPr lang="ko-KR" altLang="en-US" sz="1400" dirty="0"/>
              <a:t> 박스에 포함된 </a:t>
            </a:r>
            <a:r>
              <a:rPr lang="ko-KR" altLang="en-US" sz="1400" dirty="0" err="1"/>
              <a:t>프리미티브</a:t>
            </a:r>
            <a:r>
              <a:rPr lang="en-US" altLang="ko-KR" sz="1400" dirty="0"/>
              <a:t>(</a:t>
            </a:r>
            <a:r>
              <a:rPr lang="ko-KR" altLang="en-US" sz="1400" dirty="0"/>
              <a:t>삼각형 등</a:t>
            </a:r>
            <a:r>
              <a:rPr lang="en-US" altLang="ko-KR" sz="1400" dirty="0"/>
              <a:t>)</a:t>
            </a:r>
            <a:r>
              <a:rPr lang="ko-KR" altLang="en-US" sz="1400" dirty="0"/>
              <a:t>의 중심 기준 정렬 후</a:t>
            </a:r>
            <a:r>
              <a:rPr lang="en-US" altLang="ko-KR" sz="1400" dirty="0"/>
              <a:t>, </a:t>
            </a:r>
            <a:r>
              <a:rPr lang="ko-KR" altLang="en-US" sz="1400" dirty="0"/>
              <a:t>각 경계 위치</a:t>
            </a:r>
            <a:r>
              <a:rPr lang="en-US" altLang="ko-KR" sz="1400" dirty="0"/>
              <a:t>)</a:t>
            </a:r>
            <a:br>
              <a:rPr lang="en-US" altLang="ko-KR" sz="1400" dirty="0"/>
            </a:br>
            <a:endParaRPr lang="ko-KR" altLang="en-US" sz="1400" dirty="0"/>
          </a:p>
          <a:p>
            <a:pPr>
              <a:buFont typeface="+mj-lt"/>
              <a:buAutoNum type="arabicPeriod"/>
            </a:pPr>
            <a:r>
              <a:rPr lang="ko-KR" altLang="en-US" sz="1400" dirty="0"/>
              <a:t>각 분할 위치마다 </a:t>
            </a:r>
            <a:r>
              <a:rPr lang="en-US" altLang="ko-KR" sz="1400" b="1" dirty="0"/>
              <a:t>SAH </a:t>
            </a:r>
            <a:r>
              <a:rPr lang="ko-KR" altLang="en-US" sz="1400" b="1" dirty="0"/>
              <a:t>비용</a:t>
            </a:r>
            <a:r>
              <a:rPr lang="ko-KR" altLang="en-US" sz="1400" dirty="0"/>
              <a:t> 계산</a:t>
            </a: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endParaRPr lang="ko-KR" altLang="en-US" sz="1400" dirty="0"/>
          </a:p>
          <a:p>
            <a:pPr>
              <a:buFont typeface="+mj-lt"/>
              <a:buAutoNum type="arabicPeriod"/>
            </a:pPr>
            <a:r>
              <a:rPr lang="ko-KR" altLang="en-US" sz="1400" dirty="0"/>
              <a:t>모든 분할 후보 중 </a:t>
            </a:r>
            <a:r>
              <a:rPr lang="en-US" altLang="ko-KR" sz="1400" dirty="0"/>
              <a:t>SAH </a:t>
            </a:r>
            <a:r>
              <a:rPr lang="ko-KR" altLang="en-US" sz="1400" dirty="0"/>
              <a:t>비용이 가장 낮은 분할점을 선택</a:t>
            </a:r>
          </a:p>
          <a:p>
            <a:pPr>
              <a:buFont typeface="+mj-lt"/>
              <a:buAutoNum type="arabicPeriod"/>
            </a:pPr>
            <a:r>
              <a:rPr lang="ko-KR" altLang="en-US" sz="1400" dirty="0"/>
              <a:t>해당 기준으로 좌</a:t>
            </a:r>
            <a:r>
              <a:rPr lang="en-US" altLang="ko-KR" sz="1400" dirty="0"/>
              <a:t>/</a:t>
            </a:r>
            <a:r>
              <a:rPr lang="ko-KR" altLang="en-US" sz="1400" dirty="0"/>
              <a:t>우 자식 생성 → 재귀적으로 반복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1A71A36-A653-DACC-3A06-596EB5D45B3B}"/>
                  </a:ext>
                </a:extLst>
              </p:cNvPr>
              <p:cNvSpPr txBox="1"/>
              <p:nvPr/>
            </p:nvSpPr>
            <p:spPr>
              <a:xfrm>
                <a:off x="3066049" y="3676700"/>
                <a:ext cx="5335003" cy="532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split</m:t>
                          </m:r>
                        </m:sub>
                      </m:sSub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trav</m:t>
                          </m:r>
                        </m:sub>
                      </m:sSub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b>
                          </m:sSub>
                        </m:den>
                      </m:f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intersect</m:t>
                          </m:r>
                        </m:sub>
                      </m:sSub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b>
                          </m:sSub>
                        </m:den>
                      </m:f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intersect</m:t>
                          </m:r>
                        </m:sub>
                      </m:sSub>
                    </m:oMath>
                  </m:oMathPara>
                </a14:m>
                <a:endParaRPr lang="ko-KR" altLang="en-US" sz="1400" b="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1A71A36-A653-DACC-3A06-596EB5D45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049" y="3676700"/>
                <a:ext cx="5335003" cy="53226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표 22">
                <a:extLst>
                  <a:ext uri="{FF2B5EF4-FFF2-40B4-BE49-F238E27FC236}">
                    <a16:creationId xmlns:a16="http://schemas.microsoft.com/office/drawing/2014/main" id="{A9BCC8C7-A597-6B40-A096-C162EA87A9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3923622"/>
                  </p:ext>
                </p:extLst>
              </p:nvPr>
            </p:nvGraphicFramePr>
            <p:xfrm>
              <a:off x="3079511" y="4203547"/>
              <a:ext cx="5621836" cy="1888046"/>
            </p:xfrm>
            <a:graphic>
              <a:graphicData uri="http://schemas.openxmlformats.org/drawingml/2006/table">
                <a:tbl>
                  <a:tblPr/>
                  <a:tblGrid>
                    <a:gridCol w="1109037">
                      <a:extLst>
                        <a:ext uri="{9D8B030D-6E8A-4147-A177-3AD203B41FA5}">
                          <a16:colId xmlns:a16="http://schemas.microsoft.com/office/drawing/2014/main" val="2392531534"/>
                        </a:ext>
                      </a:extLst>
                    </a:gridCol>
                    <a:gridCol w="4512799">
                      <a:extLst>
                        <a:ext uri="{9D8B030D-6E8A-4147-A177-3AD203B41FA5}">
                          <a16:colId xmlns:a16="http://schemas.microsoft.com/office/drawing/2014/main" val="41338436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기호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/>
                            <a:t>의미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118153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altLang="ko-KR" sz="1400" b="0" i="1">
                                        <a:latin typeface="Cambria Math" panose="02040503050406030204" pitchFamily="18" charset="0"/>
                                      </a:rPr>
                                      <m:t>split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현재 분할의 예상 탐색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667698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</m:sSub>
                                <m:r>
                                  <a:rPr lang="ar-AE" altLang="ko-KR" sz="1400" i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ar-AE" altLang="ko-KR" sz="1400" i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부모</a:t>
                          </a:r>
                          <a:r>
                            <a:rPr lang="en-US" altLang="ko-KR" sz="1400" dirty="0"/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AABB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의 표면적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201561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ar-AE" altLang="ko-KR" sz="1400" i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그룹에 속한 오브젝트 개수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057075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altLang="ko-KR" sz="1400" b="0" i="1">
                                        <a:latin typeface="Cambria Math" panose="02040503050406030204" pitchFamily="18" charset="0"/>
                                      </a:rPr>
                                      <m:t>trav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트리 탐색</a:t>
                          </a:r>
                          <a:r>
                            <a:rPr lang="en-US" altLang="ko-KR" sz="1400" dirty="0"/>
                            <a:t> </a:t>
                          </a:r>
                          <a:r>
                            <a:rPr lang="ko-KR" altLang="en-US" sz="1400" dirty="0"/>
                            <a:t>비용</a:t>
                          </a:r>
                          <a:r>
                            <a:rPr lang="en-US" altLang="ko-KR" sz="1400" dirty="0"/>
                            <a:t>=</a:t>
                          </a:r>
                          <a:r>
                            <a:rPr lang="ko-KR" altLang="en-US" sz="1400" dirty="0"/>
                            <a:t> 노드 </a:t>
                          </a:r>
                          <a:r>
                            <a:rPr lang="en-US" altLang="ko-KR" sz="1400" dirty="0"/>
                            <a:t>AABB </a:t>
                          </a:r>
                          <a:r>
                            <a:rPr lang="ko-KR" altLang="en-US" sz="1400" dirty="0"/>
                            <a:t>교차 검사</a:t>
                          </a:r>
                          <a:r>
                            <a:rPr lang="en-US" altLang="ko-KR" sz="1400" dirty="0"/>
                            <a:t>1</a:t>
                          </a:r>
                          <a:r>
                            <a:rPr lang="ko-KR" altLang="en-US" sz="1400" dirty="0"/>
                            <a:t>회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6845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altLang="ko-KR" sz="1400" b="0" i="1">
                                        <a:latin typeface="Cambria Math" panose="02040503050406030204" pitchFamily="18" charset="0"/>
                                      </a:rPr>
                                      <m:t>intersect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오브젝트</a:t>
                          </a:r>
                          <a:r>
                            <a:rPr lang="en-US" altLang="ko-KR" sz="1400" dirty="0"/>
                            <a:t>(AABB or</a:t>
                          </a:r>
                          <a:r>
                            <a:rPr lang="ko-KR" altLang="en-US" sz="1400" dirty="0"/>
                            <a:t> </a:t>
                          </a:r>
                          <a:r>
                            <a:rPr lang="en-US" altLang="ko-KR" sz="1400" dirty="0"/>
                            <a:t>other)</a:t>
                          </a:r>
                          <a:r>
                            <a:rPr lang="ko-KR" altLang="en-US" sz="1400" dirty="0"/>
                            <a:t> 교차 테스트 비용 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7420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표 22">
                <a:extLst>
                  <a:ext uri="{FF2B5EF4-FFF2-40B4-BE49-F238E27FC236}">
                    <a16:creationId xmlns:a16="http://schemas.microsoft.com/office/drawing/2014/main" id="{A9BCC8C7-A597-6B40-A096-C162EA87A9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3923622"/>
                  </p:ext>
                </p:extLst>
              </p:nvPr>
            </p:nvGraphicFramePr>
            <p:xfrm>
              <a:off x="3079511" y="4203547"/>
              <a:ext cx="5621836" cy="1888046"/>
            </p:xfrm>
            <a:graphic>
              <a:graphicData uri="http://schemas.openxmlformats.org/drawingml/2006/table">
                <a:tbl>
                  <a:tblPr/>
                  <a:tblGrid>
                    <a:gridCol w="1109037">
                      <a:extLst>
                        <a:ext uri="{9D8B030D-6E8A-4147-A177-3AD203B41FA5}">
                          <a16:colId xmlns:a16="http://schemas.microsoft.com/office/drawing/2014/main" val="2392531534"/>
                        </a:ext>
                      </a:extLst>
                    </a:gridCol>
                    <a:gridCol w="4512799">
                      <a:extLst>
                        <a:ext uri="{9D8B030D-6E8A-4147-A177-3AD203B41FA5}">
                          <a16:colId xmlns:a16="http://schemas.microsoft.com/office/drawing/2014/main" val="4133843643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기호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/>
                            <a:t>의미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1181535"/>
                      </a:ext>
                    </a:extLst>
                  </a:tr>
                  <a:tr h="35598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86441" r="-407692" b="-3576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현재 분할의 예상 탐색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667698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220000" r="-407692" b="-3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부모</a:t>
                          </a:r>
                          <a:r>
                            <a:rPr lang="en-US" altLang="ko-KR" sz="1400" dirty="0"/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AABB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의 표면적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201561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320000" r="-407692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그룹에 속한 오브젝트 개수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057075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420000" r="-407692" b="-1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트리 탐색</a:t>
                          </a:r>
                          <a:r>
                            <a:rPr lang="en-US" altLang="ko-KR" sz="1400" dirty="0"/>
                            <a:t> </a:t>
                          </a:r>
                          <a:r>
                            <a:rPr lang="ko-KR" altLang="en-US" sz="1400" dirty="0"/>
                            <a:t>비용</a:t>
                          </a:r>
                          <a:r>
                            <a:rPr lang="en-US" altLang="ko-KR" sz="1400" dirty="0"/>
                            <a:t>=</a:t>
                          </a:r>
                          <a:r>
                            <a:rPr lang="ko-KR" altLang="en-US" sz="1400" dirty="0"/>
                            <a:t> 노드 </a:t>
                          </a:r>
                          <a:r>
                            <a:rPr lang="en-US" altLang="ko-KR" sz="1400" dirty="0"/>
                            <a:t>AABB </a:t>
                          </a:r>
                          <a:r>
                            <a:rPr lang="ko-KR" altLang="en-US" sz="1400" dirty="0"/>
                            <a:t>교차 검사</a:t>
                          </a:r>
                          <a:r>
                            <a:rPr lang="en-US" altLang="ko-KR" sz="1400" dirty="0"/>
                            <a:t>1</a:t>
                          </a:r>
                          <a:r>
                            <a:rPr lang="ko-KR" altLang="en-US" sz="1400" dirty="0"/>
                            <a:t>회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684516"/>
                      </a:ext>
                    </a:extLst>
                  </a:tr>
                  <a:tr h="31286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8"/>
                          <a:stretch>
                            <a:fillRect t="-500000" r="-407692" b="-17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오브젝트</a:t>
                          </a:r>
                          <a:r>
                            <a:rPr lang="en-US" altLang="ko-KR" sz="1400" dirty="0"/>
                            <a:t>(AABB or</a:t>
                          </a:r>
                          <a:r>
                            <a:rPr lang="ko-KR" altLang="en-US" sz="1400" dirty="0"/>
                            <a:t> </a:t>
                          </a:r>
                          <a:r>
                            <a:rPr lang="en-US" altLang="ko-KR" sz="1400" dirty="0"/>
                            <a:t>other)</a:t>
                          </a:r>
                          <a:r>
                            <a:rPr lang="ko-KR" altLang="en-US" sz="1400" dirty="0"/>
                            <a:t> 교차 테스트 비용 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74206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3F17BA-6064-9F64-C048-2F7A0A5C4F5B}"/>
                  </a:ext>
                </a:extLst>
              </p:cNvPr>
              <p:cNvSpPr txBox="1"/>
              <p:nvPr/>
            </p:nvSpPr>
            <p:spPr>
              <a:xfrm>
                <a:off x="8869941" y="3743935"/>
                <a:ext cx="3193674" cy="12764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altLang="ko-KR" sz="1400" dirty="0"/>
                  <a:t>SAH</a:t>
                </a:r>
                <a:r>
                  <a:rPr lang="ko-KR" altLang="en-US" sz="1400" dirty="0"/>
                  <a:t>에서 </a:t>
                </a:r>
                <a:r>
                  <a:rPr lang="ko-KR" altLang="en-US" sz="1400" dirty="0" err="1"/>
                  <a:t>상수항</a:t>
                </a:r>
                <a:r>
                  <a:rPr lang="en-US" altLang="ko-KR" sz="14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altLang="ko-KR" sz="1400" dirty="0"/>
                  <a:t>)</a:t>
                </a:r>
                <a:r>
                  <a:rPr lang="ko-KR" altLang="en-US" sz="1400" dirty="0"/>
                  <a:t>은</a:t>
                </a:r>
                <a:br>
                  <a:rPr lang="ko-KR" altLang="en-US" sz="1400" dirty="0"/>
                </a:br>
                <a:r>
                  <a:rPr lang="ko-KR" altLang="en-US" sz="1400" dirty="0"/>
                  <a:t>모든 후보에서 동일하기 때문에</a:t>
                </a:r>
                <a:br>
                  <a:rPr lang="ko-KR" altLang="en-US" sz="1400" dirty="0"/>
                </a:br>
                <a:r>
                  <a:rPr lang="ko-KR" altLang="en-US" sz="1400" dirty="0"/>
                  <a:t>“비교” 결과에는 영향을 </a:t>
                </a:r>
                <a:r>
                  <a:rPr lang="ko-KR" altLang="en-US" sz="1400" dirty="0" err="1"/>
                  <a:t>주지않는다</a:t>
                </a:r>
                <a:r>
                  <a:rPr lang="en-US" altLang="ko-KR" sz="1400" dirty="0"/>
                  <a:t>.</a:t>
                </a:r>
              </a:p>
              <a:p>
                <a:pPr>
                  <a:buNone/>
                </a:pPr>
                <a:endParaRPr lang="en-US" altLang="ko-KR" sz="1400" dirty="0"/>
              </a:p>
              <a:p>
                <a:pPr>
                  <a:buNone/>
                </a:pPr>
                <a:r>
                  <a:rPr lang="en-US" altLang="ko-KR" sz="1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400" b="0" i="1">
                            <a:latin typeface="Cambria Math" panose="02040503050406030204" pitchFamily="18" charset="0"/>
                          </a:rPr>
                          <m:t>split</m:t>
                        </m:r>
                      </m:sub>
                    </m:sSub>
                    <m:r>
                      <a:rPr lang="ko-KR" altLang="en-US" sz="1400" b="0" i="0">
                        <a:latin typeface="Cambria Math" panose="02040503050406030204" pitchFamily="18" charset="0"/>
                      </a:rPr>
                      <m:t>∝</m:t>
                    </m:r>
                    <m:d>
                      <m:dPr>
                        <m:ctrlPr>
                          <a:rPr lang="ko-KR" altLang="en-US" sz="14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𝑳</m:t>
                            </m:r>
                          </m:sub>
                        </m:sSub>
                        <m:r>
                          <a:rPr lang="ko-KR" altLang="en-US" sz="1400" b="1" i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𝑳</m:t>
                            </m:r>
                          </m:sub>
                        </m:sSub>
                        <m:r>
                          <a:rPr lang="en-US" altLang="ko-KR" sz="1400" b="1" i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  <m:r>
                          <a:rPr lang="ko-KR" altLang="en-US" sz="1400" b="1" i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</m:e>
                    </m:d>
                  </m:oMath>
                </a14:m>
                <a:endParaRPr lang="ko-KR" altLang="en-US" sz="1400" b="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3F17BA-6064-9F64-C048-2F7A0A5C4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9941" y="3743935"/>
                <a:ext cx="3193674" cy="1276440"/>
              </a:xfrm>
              <a:prstGeom prst="rect">
                <a:avLst/>
              </a:prstGeom>
              <a:blipFill>
                <a:blip r:embed="rId9"/>
                <a:stretch>
                  <a:fillRect l="-573" b="-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755A2671-C387-975A-72DC-99E898153C0D}"/>
              </a:ext>
            </a:extLst>
          </p:cNvPr>
          <p:cNvSpPr txBox="1"/>
          <p:nvPr/>
        </p:nvSpPr>
        <p:spPr>
          <a:xfrm>
            <a:off x="8792371" y="5020375"/>
            <a:ext cx="308919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/>
              <a:t>float</a:t>
            </a:r>
            <a:r>
              <a:rPr lang="ko-KR" altLang="en-US" sz="1400" dirty="0"/>
              <a:t> </a:t>
            </a:r>
            <a:r>
              <a:rPr lang="ko-KR" altLang="en-US" sz="1400" dirty="0" err="1"/>
              <a:t>cost</a:t>
            </a:r>
            <a:r>
              <a:rPr lang="ko-KR" altLang="en-US" sz="1400" dirty="0"/>
              <a:t> = S_L * N_L + S_R * N_R;</a:t>
            </a:r>
          </a:p>
          <a:p>
            <a:r>
              <a:rPr lang="ko-KR" altLang="en-US" sz="1400" dirty="0" err="1"/>
              <a:t>if</a:t>
            </a:r>
            <a:r>
              <a:rPr lang="ko-KR" altLang="en-US" sz="1400" dirty="0"/>
              <a:t> (</a:t>
            </a:r>
            <a:r>
              <a:rPr lang="ko-KR" altLang="en-US" sz="1400" dirty="0" err="1"/>
              <a:t>cost</a:t>
            </a:r>
            <a:r>
              <a:rPr lang="ko-KR" altLang="en-US" sz="1400" dirty="0"/>
              <a:t> &lt; </a:t>
            </a:r>
            <a:r>
              <a:rPr lang="ko-KR" altLang="en-US" sz="1400" dirty="0" err="1"/>
              <a:t>bestCost</a:t>
            </a:r>
            <a:r>
              <a:rPr lang="ko-KR" altLang="en-US" sz="1400" dirty="0"/>
              <a:t>) {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bestCost</a:t>
            </a:r>
            <a:r>
              <a:rPr lang="ko-KR" altLang="en-US" sz="1400" dirty="0"/>
              <a:t> = </a:t>
            </a:r>
            <a:r>
              <a:rPr lang="ko-KR" altLang="en-US" sz="1400" dirty="0" err="1"/>
              <a:t>cost</a:t>
            </a:r>
            <a:r>
              <a:rPr lang="ko-KR" altLang="en-US" sz="1400" dirty="0"/>
              <a:t>;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bestSplit</a:t>
            </a:r>
            <a:r>
              <a:rPr lang="ko-KR" altLang="en-US" sz="1400" dirty="0"/>
              <a:t> = </a:t>
            </a:r>
            <a:r>
              <a:rPr lang="ko-KR" altLang="en-US" sz="1400" dirty="0" err="1"/>
              <a:t>i</a:t>
            </a:r>
            <a:r>
              <a:rPr lang="ko-KR" altLang="en-US" sz="1400" dirty="0"/>
              <a:t>;</a:t>
            </a:r>
          </a:p>
          <a:p>
            <a:r>
              <a:rPr lang="ko-KR" altLang="en-US" sz="1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36525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6753B9-115B-9A01-0849-91905FE9F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086E55-91BC-611D-A11E-0E0B121A5666}"/>
              </a:ext>
            </a:extLst>
          </p:cNvPr>
          <p:cNvSpPr txBox="1"/>
          <p:nvPr/>
        </p:nvSpPr>
        <p:spPr>
          <a:xfrm>
            <a:off x="534075" y="1690688"/>
            <a:ext cx="87747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다수의 </a:t>
            </a:r>
            <a:r>
              <a:rPr lang="en-US" altLang="ko-KR" dirty="0"/>
              <a:t>AABB </a:t>
            </a:r>
            <a:r>
              <a:rPr lang="ko-KR" altLang="en-US" dirty="0"/>
              <a:t>배열을 준비하고 배열 기반의 정적 </a:t>
            </a:r>
            <a:r>
              <a:rPr lang="en-US" altLang="ko-KR" dirty="0"/>
              <a:t>BVH </a:t>
            </a:r>
            <a:r>
              <a:rPr lang="ko-KR" altLang="en-US" dirty="0"/>
              <a:t>트리를 구성합니다</a:t>
            </a:r>
            <a:r>
              <a:rPr lang="en-US" altLang="ko-KR" dirty="0"/>
              <a:t>. (BVH2)</a:t>
            </a:r>
          </a:p>
          <a:p>
            <a:r>
              <a:rPr lang="ko-KR" altLang="en-US" dirty="0"/>
              <a:t>트리 </a:t>
            </a:r>
            <a:r>
              <a:rPr lang="ko-KR" altLang="en-US" dirty="0" err="1"/>
              <a:t>빌드방법은</a:t>
            </a:r>
            <a:r>
              <a:rPr lang="ko-KR" altLang="en-US" dirty="0"/>
              <a:t> 오브젝트 수 기반 하향식 빌드를 사용합니다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큐브의 카메라 </a:t>
            </a:r>
            <a:r>
              <a:rPr lang="ko-KR" altLang="en-US" dirty="0" err="1"/>
              <a:t>컬링을</a:t>
            </a:r>
            <a:r>
              <a:rPr lang="ko-KR" altLang="en-US" dirty="0"/>
              <a:t> 단순 전체 루프</a:t>
            </a:r>
            <a:r>
              <a:rPr lang="en-US" altLang="ko-KR" dirty="0"/>
              <a:t>(Brute-force) </a:t>
            </a:r>
            <a:r>
              <a:rPr lang="ko-KR" altLang="en-US" dirty="0"/>
              <a:t>와 </a:t>
            </a:r>
            <a:r>
              <a:rPr lang="en-US" altLang="ko-KR" dirty="0"/>
              <a:t>BVH </a:t>
            </a:r>
            <a:r>
              <a:rPr lang="ko-KR" altLang="en-US" dirty="0"/>
              <a:t>트리를 이용한 </a:t>
            </a:r>
            <a:r>
              <a:rPr lang="ko-KR" altLang="en-US" dirty="0" err="1"/>
              <a:t>컬링</a:t>
            </a:r>
            <a:r>
              <a:rPr lang="ko-KR" altLang="en-US" dirty="0"/>
              <a:t> 을  </a:t>
            </a:r>
            <a:endParaRPr lang="en-US" altLang="ko-KR" dirty="0"/>
          </a:p>
          <a:p>
            <a:r>
              <a:rPr lang="ko-KR" altLang="en-US" dirty="0"/>
              <a:t>선택 작동 하게하고 </a:t>
            </a:r>
            <a:r>
              <a:rPr lang="ko-KR" altLang="en-US" dirty="0" err="1"/>
              <a:t>걸린시간과</a:t>
            </a:r>
            <a:r>
              <a:rPr lang="ko-KR" altLang="en-US" dirty="0"/>
              <a:t> </a:t>
            </a:r>
            <a:r>
              <a:rPr lang="en-US" altLang="ko-KR" dirty="0"/>
              <a:t>FPS</a:t>
            </a:r>
            <a:r>
              <a:rPr lang="ko-KR" altLang="en-US" dirty="0"/>
              <a:t>를 출력합니다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2789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1752</TotalTime>
  <Words>1858</Words>
  <Application>Microsoft Office PowerPoint</Application>
  <PresentationFormat>와이드스크린</PresentationFormat>
  <Paragraphs>315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Cambria Math</vt:lpstr>
      <vt:lpstr>Office 테마</vt:lpstr>
      <vt:lpstr>BoundingVolumeHierarchy</vt:lpstr>
      <vt:lpstr>QuadTree</vt:lpstr>
      <vt:lpstr>BVH (BoundingVolumeHierarchy)</vt:lpstr>
      <vt:lpstr>BVH 포인터 트리의  의사 코드</vt:lpstr>
      <vt:lpstr>BVH 배열 트리의 의사 코드</vt:lpstr>
      <vt:lpstr>BVH 배열 트리를 위한 공간</vt:lpstr>
      <vt:lpstr>트리의 품질(Tree Quality)</vt:lpstr>
      <vt:lpstr>트리 구축 방식</vt:lpstr>
      <vt:lpstr>하향식 – 오브젝트 수 분할점 결정 방식</vt:lpstr>
      <vt:lpstr>하향식 – 중간 거리 분할점 결정 방식</vt:lpstr>
      <vt:lpstr>하향식 – SAH (Surface Area Huristic)</vt:lpstr>
      <vt:lpstr>과제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Dongwon Lee</dc:creator>
  <cp:lastModifiedBy>Dongwon Lee</cp:lastModifiedBy>
  <cp:revision>379</cp:revision>
  <dcterms:created xsi:type="dcterms:W3CDTF">2025-11-04T12:33:20Z</dcterms:created>
  <dcterms:modified xsi:type="dcterms:W3CDTF">2025-11-06T20:50:50Z</dcterms:modified>
</cp:coreProperties>
</file>