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9" r:id="rId4"/>
    <p:sldId id="268" r:id="rId5"/>
    <p:sldId id="269" r:id="rId6"/>
    <p:sldId id="260" r:id="rId7"/>
    <p:sldId id="261" r:id="rId8"/>
    <p:sldId id="262" r:id="rId9"/>
    <p:sldId id="267" r:id="rId10"/>
    <p:sldId id="263" r:id="rId11"/>
    <p:sldId id="27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6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E314A-159A-5306-E914-204E45A73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DEF67D-9DF2-500F-A93B-59E05EE64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85FF00-48CE-5AA2-325E-1F2C5C63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4B257-33C6-50C8-E693-E0F3CCAF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F710E-09E2-E843-AB67-97ED85FB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73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32A5F-80DF-13ED-77B5-B447CE6D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CC81-25DF-740C-E3EF-21360711F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946FC-8CD2-3683-553C-9817E078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C3B94-407B-B3B0-2735-69E57093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9FCB8-F17A-F552-41B3-86679A42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6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42C32-9331-95D9-2325-2F40F29F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9C866-8F34-4879-DBB1-22F0C054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B2B45-0D3F-9A73-A18E-D195D3EF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6E52F-B9E6-ECEF-F3BD-E93C6576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5EF57-DAD2-9BB8-7A01-7CA16694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32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C4B74-E066-6824-8DDD-C93261CE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982F0-E099-69B1-8C7E-1D4CC162D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E67CD9-810A-39AA-F1F7-9D12C81F8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CA120C-38C7-1BA9-9495-55D850C0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F05EE4-78B6-6981-F99F-B3C88E8E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A9A2B6-1D9E-33F4-6865-E8540CD1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28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D2EAD-42AB-654C-7A64-2C37F20B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BA585D-B83F-6DD4-72F7-5C8578113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681B13-25CA-7B2B-D57D-D5A0E2D89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1CC30F-9266-AFC3-2DE7-410B20179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34DF90-B7E2-B00D-E7E0-2EFBF6552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841F6B-6786-1673-BD8B-3EE7BF93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873D53-B889-1CE2-3C59-EA426941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F89520-35A9-4C1D-144F-C6F7BFD3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8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99D77-FA13-D4F7-7FCF-8F3FDF97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259129-70AF-DA6A-0D49-8DF54B05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566D17-2C02-61CE-1FBD-CAA74D31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22C608-566C-F518-0D18-E2B6B31E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16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13C27C-E8DA-CA3F-1F20-13B11847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34BECB-E9B0-13BD-7F22-65428BE3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888A-AC47-57E2-2014-A01E0335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22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744D2-A265-3C02-364A-B8E8C2C0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18D1D-A257-477A-7565-D0658849D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449A78-781F-E180-267F-17AD62621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F19700-FEDD-2049-C3B5-C295EEA9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76578E-1B00-8040-0594-580D0EB0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830800-A835-9CA7-D7B6-D38520F7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33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8298B-D618-1ABA-FC38-417E80CF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D05A9B-785E-AE73-CF04-0E8B8DC17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20B5D5-B638-152E-90AB-2C7EDCB7D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03B65-9552-8557-97DF-2F3498A3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A6549-2752-612C-5542-1D09A79B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D1272-B0D8-A2D2-B63B-16A0E9A5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7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B087-8A1E-8545-387C-46CFC828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B1B64C-F77D-00B9-7857-3DC0EC732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296B6-091E-13F6-5673-61458602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0F964C-3FA5-D71B-EE6C-116AD845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3FD343-11FD-15E9-EDE5-ED2C1338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5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EEF779-B55C-2DA8-701D-C9187E1B3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98DE32-FC5B-EE67-A05C-EDE89CB9B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BA089-C06B-937D-64EF-A7882309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9F748B-941D-ED90-BA5E-50BA1BCC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BCEAE-90AD-99D3-5995-AF75F06E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50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106B79-E96A-8F8D-819F-056D304D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295A23-C37B-F250-05AF-3C04E0D98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CFA5C-C0BE-F93E-F4FE-B7F4FE6B4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EDAE8-372D-4E5B-BC55-512BC2C23F36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53306-E5C8-73FD-FE10-A5E7D3F86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EC1E0-68BE-F6EB-DCDC-076AB7165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57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piro.github.io/DynamicBVH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42201-CAE5-359D-F9EF-C7068A61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9" y="1122363"/>
            <a:ext cx="9753599" cy="23876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BoundingVolumeHierarchy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3587FF-5D7F-833D-4635-71A2BA3685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AABB </a:t>
            </a:r>
            <a:r>
              <a:rPr lang="ko-KR" altLang="en-US" dirty="0"/>
              <a:t>트리를 이용한 교차 테스트 가속 및 </a:t>
            </a:r>
            <a:r>
              <a:rPr lang="ko-KR" altLang="en-US" dirty="0" err="1"/>
              <a:t>컬링</a:t>
            </a:r>
            <a:r>
              <a:rPr lang="ko-KR" altLang="en-US" dirty="0"/>
              <a:t> 최적화</a:t>
            </a:r>
          </a:p>
        </p:txBody>
      </p:sp>
    </p:spTree>
    <p:extLst>
      <p:ext uri="{BB962C8B-B14F-4D97-AF65-F5344CB8AC3E}">
        <p14:creationId xmlns:p14="http://schemas.microsoft.com/office/powerpoint/2010/main" val="90914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992E-CB49-BE35-5C5A-E8EE8D28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EED75-EB05-CC00-60B6-4933114B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QuadTree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9E856-0EC6-E65C-85B8-C696948F3F2A}"/>
              </a:ext>
            </a:extLst>
          </p:cNvPr>
          <p:cNvSpPr txBox="1"/>
          <p:nvPr/>
        </p:nvSpPr>
        <p:spPr>
          <a:xfrm>
            <a:off x="333827" y="5042118"/>
            <a:ext cx="56678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struct Object { AABB bound;  }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struct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QuadNode</a:t>
            </a:r>
            <a:endParaRPr lang="ko-KR" altLang="en-US" sz="1400" dirty="0"/>
          </a:p>
          <a:p>
            <a:r>
              <a:rPr lang="ko-KR" altLang="en-US" sz="1400" dirty="0"/>
              <a:t>{</a:t>
            </a:r>
          </a:p>
          <a:p>
            <a:r>
              <a:rPr lang="ko-KR" altLang="en-US" sz="1400" dirty="0"/>
              <a:t>    AABB </a:t>
            </a:r>
            <a:r>
              <a:rPr lang="ko-KR" altLang="en-US" sz="1400" dirty="0" err="1"/>
              <a:t>bounds</a:t>
            </a:r>
            <a:r>
              <a:rPr lang="ko-KR" altLang="en-US" sz="1400" dirty="0"/>
              <a:t>;          </a:t>
            </a:r>
            <a:r>
              <a:rPr lang="en-US" altLang="ko-KR" sz="1400" dirty="0"/>
              <a:t>	</a:t>
            </a:r>
            <a:r>
              <a:rPr lang="ko-KR" altLang="en-US" sz="1400" dirty="0"/>
              <a:t>// 노드가 담당하는 영역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std</a:t>
            </a:r>
            <a:r>
              <a:rPr lang="ko-KR" altLang="en-US" sz="1400" dirty="0"/>
              <a:t>::</a:t>
            </a:r>
            <a:r>
              <a:rPr lang="ko-KR" altLang="en-US" sz="1400" dirty="0" err="1"/>
              <a:t>vector</a:t>
            </a:r>
            <a:r>
              <a:rPr lang="ko-KR" altLang="en-US" sz="1400" dirty="0"/>
              <a:t>&lt;</a:t>
            </a:r>
            <a:r>
              <a:rPr lang="ko-KR" altLang="en-US" sz="1400" dirty="0" err="1"/>
              <a:t>Object</a:t>
            </a:r>
            <a:r>
              <a:rPr lang="ko-KR" altLang="en-US" sz="1400" dirty="0"/>
              <a:t>*&gt; </a:t>
            </a:r>
            <a:r>
              <a:rPr lang="ko-KR" altLang="en-US" sz="1400" dirty="0" err="1"/>
              <a:t>objects</a:t>
            </a:r>
            <a:r>
              <a:rPr lang="ko-KR" altLang="en-US" sz="1400" dirty="0"/>
              <a:t>; </a:t>
            </a:r>
            <a:r>
              <a:rPr lang="en-US" altLang="ko-KR" sz="1400" dirty="0"/>
              <a:t>	</a:t>
            </a:r>
            <a:r>
              <a:rPr lang="ko-KR" altLang="en-US" sz="1400" dirty="0"/>
              <a:t>// 여기에 포함된 오브젝트들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QuadNode</a:t>
            </a:r>
            <a:r>
              <a:rPr lang="ko-KR" altLang="en-US" sz="1400" dirty="0"/>
              <a:t>* </a:t>
            </a:r>
            <a:r>
              <a:rPr lang="ko-KR" altLang="en-US" sz="1400" dirty="0" err="1"/>
              <a:t>children</a:t>
            </a:r>
            <a:r>
              <a:rPr lang="ko-KR" altLang="en-US" sz="1400" dirty="0"/>
              <a:t>[4]; </a:t>
            </a:r>
            <a:r>
              <a:rPr lang="en-US" altLang="ko-KR" sz="1400" dirty="0"/>
              <a:t>	</a:t>
            </a:r>
            <a:r>
              <a:rPr lang="ko-KR" altLang="en-US" sz="1400" dirty="0"/>
              <a:t>// 4개의 자식 (NW, NE, SW, SE)</a:t>
            </a:r>
          </a:p>
          <a:p>
            <a:r>
              <a:rPr lang="ko-KR" altLang="en-US" sz="1400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6812C-22EA-BCE3-A92C-74E53C58AC28}"/>
              </a:ext>
            </a:extLst>
          </p:cNvPr>
          <p:cNvSpPr txBox="1"/>
          <p:nvPr/>
        </p:nvSpPr>
        <p:spPr>
          <a:xfrm>
            <a:off x="99061" y="1628170"/>
            <a:ext cx="12001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공간을 미리 구분해놓고 오브젝트의 위치와 크기 맞는 노드에 삽입 하는 공간 분할 트리 구조 이다</a:t>
            </a:r>
            <a:r>
              <a:rPr lang="en-US" altLang="ko-KR" dirty="0"/>
              <a:t>.  </a:t>
            </a:r>
            <a:r>
              <a:rPr lang="ko-KR" altLang="en-US" dirty="0"/>
              <a:t>부모 노드의 </a:t>
            </a:r>
            <a:r>
              <a:rPr lang="en-US" altLang="ko-KR" dirty="0"/>
              <a:t>AABB</a:t>
            </a:r>
            <a:r>
              <a:rPr lang="ko-KR" altLang="en-US" dirty="0"/>
              <a:t>와 교차검사를 하여 교차 여부에 따라 자식 노드 가지 치기</a:t>
            </a:r>
            <a:r>
              <a:rPr lang="en-US" altLang="ko-KR" dirty="0"/>
              <a:t>(pruning)</a:t>
            </a:r>
            <a:r>
              <a:rPr lang="ko-KR" altLang="en-US" dirty="0"/>
              <a:t>를 할 수 있다</a:t>
            </a:r>
            <a:r>
              <a:rPr lang="en-US" altLang="ko-KR" dirty="0"/>
              <a:t>. </a:t>
            </a:r>
            <a:r>
              <a:rPr lang="ko-KR" altLang="en-US" dirty="0"/>
              <a:t>즉 해당 노드에 </a:t>
            </a:r>
            <a:r>
              <a:rPr lang="en-US" altLang="ko-KR" dirty="0"/>
              <a:t> </a:t>
            </a:r>
            <a:r>
              <a:rPr lang="ko-KR" altLang="en-US" dirty="0"/>
              <a:t>오브젝트가 없어도  서브 트리에 오브젝트가 </a:t>
            </a:r>
            <a:r>
              <a:rPr lang="ko-KR" altLang="en-US" dirty="0" err="1"/>
              <a:t>어딘가에</a:t>
            </a:r>
            <a:r>
              <a:rPr lang="ko-KR" altLang="en-US" dirty="0"/>
              <a:t> 있다면 해당 서브 트리 전체에 대해 교차 검사를 </a:t>
            </a:r>
            <a:r>
              <a:rPr lang="ko-KR" altLang="en-US" dirty="0" err="1"/>
              <a:t>해야한다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넓은 공간에 균일하게 퍼져 있는 경우 효율이 좋고 좁은 공간에 몰려 있는 경우 트리가 한쪽으로 깊어지고 비어 있는 노드가 많아져 공간</a:t>
            </a:r>
            <a:r>
              <a:rPr lang="en-US" altLang="ko-KR" dirty="0"/>
              <a:t>(</a:t>
            </a:r>
            <a:r>
              <a:rPr lang="ko-KR" altLang="en-US" dirty="0"/>
              <a:t>메모리</a:t>
            </a:r>
            <a:r>
              <a:rPr lang="en-US" altLang="ko-KR" dirty="0"/>
              <a:t>)·</a:t>
            </a:r>
            <a:r>
              <a:rPr lang="ko-KR" altLang="en-US" dirty="0"/>
              <a:t>시간</a:t>
            </a:r>
            <a:r>
              <a:rPr lang="en-US" altLang="ko-KR" dirty="0"/>
              <a:t>(</a:t>
            </a:r>
            <a:r>
              <a:rPr lang="ko-KR" altLang="en-US" dirty="0"/>
              <a:t>비교회수</a:t>
            </a:r>
            <a:r>
              <a:rPr lang="en-US" altLang="ko-KR" dirty="0"/>
              <a:t>)</a:t>
            </a:r>
            <a:r>
              <a:rPr lang="ko-KR" altLang="en-US" dirty="0"/>
              <a:t> 효율이 떨어진다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5E150B5-91D3-4D80-2B56-BC94B305A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31" y="3105498"/>
            <a:ext cx="3206271" cy="193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A2B73C-A759-2EFB-77D8-BDAAF05C71E8}"/>
              </a:ext>
            </a:extLst>
          </p:cNvPr>
          <p:cNvSpPr txBox="1"/>
          <p:nvPr/>
        </p:nvSpPr>
        <p:spPr>
          <a:xfrm>
            <a:off x="6502765" y="3333958"/>
            <a:ext cx="52921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CullNode</a:t>
            </a:r>
            <a:r>
              <a:rPr lang="ko-KR" altLang="en-US" sz="1200" dirty="0"/>
              <a:t>(</a:t>
            </a:r>
            <a:r>
              <a:rPr lang="ko-KR" altLang="en-US" sz="1200" dirty="0" err="1"/>
              <a:t>QuadNode</a:t>
            </a:r>
            <a:r>
              <a:rPr lang="ko-KR" altLang="en-US" sz="1200" dirty="0"/>
              <a:t>* </a:t>
            </a:r>
            <a:r>
              <a:rPr lang="ko-KR" altLang="en-US" sz="1200" dirty="0" err="1"/>
              <a:t>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const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Frustum</a:t>
            </a:r>
            <a:r>
              <a:rPr lang="ko-KR" altLang="en-US" sz="1200" dirty="0"/>
              <a:t>&amp; </a:t>
            </a:r>
            <a:r>
              <a:rPr lang="ko-KR" altLang="en-US" sz="1200" dirty="0" err="1"/>
              <a:t>F</a:t>
            </a:r>
            <a:r>
              <a:rPr lang="ko-KR" altLang="en-US" sz="1200" dirty="0"/>
              <a:t>)</a:t>
            </a:r>
          </a:p>
          <a:p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(!</a:t>
            </a:r>
            <a:r>
              <a:rPr lang="ko-KR" altLang="en-US" sz="1200" dirty="0" err="1"/>
              <a:t>n</a:t>
            </a:r>
            <a:r>
              <a:rPr lang="ko-KR" altLang="en-US" sz="1200" dirty="0"/>
              <a:t>) 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;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// 0) </a:t>
            </a:r>
            <a:r>
              <a:rPr lang="ko-KR" altLang="en-US" sz="1200" dirty="0" err="1"/>
              <a:t>서브트리에</a:t>
            </a:r>
            <a:r>
              <a:rPr lang="ko-KR" altLang="en-US" sz="1200" dirty="0"/>
              <a:t> 오브젝트가 하나도 없으면 바로 리턴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n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subtreeCount</a:t>
            </a:r>
            <a:r>
              <a:rPr lang="ko-KR" altLang="en-US" sz="1200" dirty="0"/>
              <a:t> == 0) 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;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// 1) 부모 노드 AABB </a:t>
            </a:r>
            <a:r>
              <a:rPr lang="ko-KR" altLang="en-US" sz="1200" dirty="0" err="1"/>
              <a:t>vs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프러스텀</a:t>
            </a:r>
            <a:r>
              <a:rPr lang="ko-KR" altLang="en-US" sz="1200" dirty="0"/>
              <a:t>: 교차 안 하면 </a:t>
            </a:r>
            <a:r>
              <a:rPr lang="ko-KR" altLang="en-US" sz="1200" dirty="0" err="1"/>
              <a:t>서브트리</a:t>
            </a:r>
            <a:r>
              <a:rPr lang="ko-KR" altLang="en-US" sz="1200" dirty="0"/>
              <a:t> 통째로 </a:t>
            </a:r>
            <a:r>
              <a:rPr lang="ko-KR" altLang="en-US" sz="1200" dirty="0" err="1"/>
              <a:t>스킵</a:t>
            </a:r>
            <a:r>
              <a:rPr lang="ko-KR" altLang="en-US" sz="1200" dirty="0"/>
              <a:t>!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(!</a:t>
            </a:r>
            <a:r>
              <a:rPr lang="ko-KR" altLang="en-US" sz="1200" dirty="0" err="1"/>
              <a:t>Intersects</a:t>
            </a:r>
            <a:r>
              <a:rPr lang="ko-KR" altLang="en-US" sz="1200" dirty="0"/>
              <a:t>(</a:t>
            </a:r>
            <a:r>
              <a:rPr lang="ko-KR" altLang="en-US" sz="1200" dirty="0" err="1"/>
              <a:t>F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n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bounds</a:t>
            </a:r>
            <a:r>
              <a:rPr lang="ko-KR" altLang="en-US" sz="1200" dirty="0"/>
              <a:t>)) 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;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// 2) 이 노드에 직속된 오브젝트 검사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for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auto</a:t>
            </a:r>
            <a:r>
              <a:rPr lang="ko-KR" altLang="en-US" sz="1200" dirty="0"/>
              <a:t>* </a:t>
            </a:r>
            <a:r>
              <a:rPr lang="ko-KR" altLang="en-US" sz="1200" dirty="0" err="1"/>
              <a:t>obj</a:t>
            </a:r>
            <a:r>
              <a:rPr lang="ko-KR" altLang="en-US" sz="1200" dirty="0"/>
              <a:t> : </a:t>
            </a:r>
            <a:r>
              <a:rPr lang="ko-KR" altLang="en-US" sz="1200" dirty="0" err="1"/>
              <a:t>n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objects</a:t>
            </a:r>
            <a:r>
              <a:rPr lang="ko-KR" altLang="en-US" sz="1200" dirty="0"/>
              <a:t>)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Intersects</a:t>
            </a:r>
            <a:r>
              <a:rPr lang="ko-KR" altLang="en-US" sz="1200" dirty="0"/>
              <a:t>(</a:t>
            </a:r>
            <a:r>
              <a:rPr lang="ko-KR" altLang="en-US" sz="1200" dirty="0" err="1"/>
              <a:t>F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obj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aabb</a:t>
            </a:r>
            <a:r>
              <a:rPr lang="ko-KR" altLang="en-US" sz="1200" dirty="0"/>
              <a:t>)) </a:t>
            </a:r>
            <a:r>
              <a:rPr lang="ko-KR" altLang="en-US" sz="1200" dirty="0" err="1"/>
              <a:t>visible.push_back</a:t>
            </a:r>
            <a:r>
              <a:rPr lang="ko-KR" altLang="en-US" sz="1200" dirty="0"/>
              <a:t>(</a:t>
            </a:r>
            <a:r>
              <a:rPr lang="ko-KR" altLang="en-US" sz="1200" dirty="0" err="1"/>
              <a:t>obj</a:t>
            </a:r>
            <a:r>
              <a:rPr lang="ko-KR" altLang="en-US" sz="1200" dirty="0"/>
              <a:t>);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// 3) 자식 재귀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for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auto</a:t>
            </a:r>
            <a:r>
              <a:rPr lang="ko-KR" altLang="en-US" sz="1200" dirty="0"/>
              <a:t>* </a:t>
            </a:r>
            <a:r>
              <a:rPr lang="ko-KR" altLang="en-US" sz="1200" dirty="0" err="1"/>
              <a:t>child</a:t>
            </a:r>
            <a:r>
              <a:rPr lang="ko-KR" altLang="en-US" sz="1200" dirty="0"/>
              <a:t> : </a:t>
            </a:r>
            <a:r>
              <a:rPr lang="ko-KR" altLang="en-US" sz="1200" dirty="0" err="1"/>
              <a:t>n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children</a:t>
            </a:r>
            <a:r>
              <a:rPr lang="ko-KR" altLang="en-US" sz="1200" dirty="0"/>
              <a:t>)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CullNode</a:t>
            </a:r>
            <a:r>
              <a:rPr lang="ko-KR" altLang="en-US" sz="1200" dirty="0"/>
              <a:t>(</a:t>
            </a:r>
            <a:r>
              <a:rPr lang="ko-KR" altLang="en-US" sz="1200" dirty="0" err="1"/>
              <a:t>child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F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6C860-0253-1434-CC38-1CB22B04F567}"/>
              </a:ext>
            </a:extLst>
          </p:cNvPr>
          <p:cNvSpPr txBox="1"/>
          <p:nvPr/>
        </p:nvSpPr>
        <p:spPr>
          <a:xfrm>
            <a:off x="6556105" y="3007479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i="1" dirty="0"/>
              <a:t>의사 코드</a:t>
            </a:r>
          </a:p>
        </p:txBody>
      </p:sp>
    </p:spTree>
    <p:extLst>
      <p:ext uri="{BB962C8B-B14F-4D97-AF65-F5344CB8AC3E}">
        <p14:creationId xmlns:p14="http://schemas.microsoft.com/office/powerpoint/2010/main" val="250480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9A6A6-E7A3-1D99-23BE-FAF223D6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BVH (</a:t>
            </a:r>
            <a:r>
              <a:rPr lang="en-US" altLang="ko-KR" dirty="0" err="1"/>
              <a:t>BoundingVolumeHierarchy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C1021-6512-E229-CE69-F78AE64ABD4E}"/>
              </a:ext>
            </a:extLst>
          </p:cNvPr>
          <p:cNvSpPr txBox="1"/>
          <p:nvPr/>
        </p:nvSpPr>
        <p:spPr>
          <a:xfrm>
            <a:off x="-98010" y="419895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공간이 아니라 오브젝트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ko-KR" altLang="en-US" dirty="0" err="1"/>
              <a:t>프리미티브</a:t>
            </a:r>
            <a:r>
              <a:rPr lang="en-US" altLang="ko-KR" dirty="0"/>
              <a:t>)</a:t>
            </a:r>
            <a:r>
              <a:rPr lang="ko-KR" altLang="en-US" dirty="0"/>
              <a:t>를 기준으로 노드를 생성하고</a:t>
            </a:r>
            <a:r>
              <a:rPr lang="en-US" altLang="ko-KR" dirty="0"/>
              <a:t>,</a:t>
            </a:r>
            <a:r>
              <a:rPr lang="ko-KR" altLang="en-US" dirty="0"/>
              <a:t> 계층적으로 묶어 트리를 구성하는 구조다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* </a:t>
            </a:r>
            <a:r>
              <a:rPr lang="ko-KR" altLang="en-US" dirty="0"/>
              <a:t>각 </a:t>
            </a:r>
            <a:r>
              <a:rPr lang="ko-KR" altLang="en-US" b="1" dirty="0"/>
              <a:t>리프</a:t>
            </a:r>
            <a:r>
              <a:rPr lang="en-US" altLang="ko-KR" b="1" dirty="0"/>
              <a:t>(Leaf) </a:t>
            </a:r>
            <a:r>
              <a:rPr lang="ko-KR" altLang="en-US" b="1" dirty="0"/>
              <a:t>노드</a:t>
            </a:r>
            <a:r>
              <a:rPr lang="ko-KR" altLang="en-US" dirty="0"/>
              <a:t>는 실제 </a:t>
            </a:r>
            <a:r>
              <a:rPr lang="ko-KR" altLang="en-US" b="1" dirty="0"/>
              <a:t>오브젝트의 </a:t>
            </a:r>
            <a:r>
              <a:rPr lang="en-US" altLang="ko-KR" b="1" dirty="0"/>
              <a:t>AABB</a:t>
            </a:r>
            <a:r>
              <a:rPr lang="ko-KR" altLang="en-US" dirty="0"/>
              <a:t>를 포함한다</a:t>
            </a:r>
            <a:r>
              <a:rPr lang="en-US" altLang="ko-KR" dirty="0"/>
              <a:t>. 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오브젝트 수는 최대 자식 노드 수와 같지 않아도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* </a:t>
            </a:r>
            <a:r>
              <a:rPr lang="ko-KR" altLang="en-US" dirty="0"/>
              <a:t>각 </a:t>
            </a:r>
            <a:r>
              <a:rPr lang="ko-KR" altLang="en-US" b="1" dirty="0"/>
              <a:t>부모 노드의 </a:t>
            </a:r>
            <a:r>
              <a:rPr lang="en-US" altLang="ko-KR" b="1" dirty="0"/>
              <a:t>AABB</a:t>
            </a:r>
            <a:r>
              <a:rPr lang="ko-KR" altLang="en-US" dirty="0"/>
              <a:t>는 </a:t>
            </a:r>
            <a:r>
              <a:rPr lang="ko-KR" altLang="en-US" b="1" dirty="0"/>
              <a:t>자식 노드 </a:t>
            </a:r>
            <a:r>
              <a:rPr lang="en-US" altLang="ko-KR" b="1" dirty="0"/>
              <a:t>AABB</a:t>
            </a:r>
            <a:r>
              <a:rPr lang="ko-KR" altLang="en-US" b="1" dirty="0"/>
              <a:t>들의 합집합</a:t>
            </a:r>
            <a:r>
              <a:rPr lang="en-US" altLang="ko-KR" b="1" dirty="0"/>
              <a:t>(Union)</a:t>
            </a:r>
            <a:r>
              <a:rPr lang="ko-KR" altLang="en-US" dirty="0"/>
              <a:t> 이다</a:t>
            </a:r>
            <a:r>
              <a:rPr lang="en-US" altLang="ko-KR" dirty="0"/>
              <a:t>. </a:t>
            </a:r>
            <a:r>
              <a:rPr lang="ko-KR" altLang="en-US" dirty="0"/>
              <a:t>완전히 감싸는 최소 경계 상자를 의미한다</a:t>
            </a:r>
            <a:endParaRPr lang="en-US" altLang="ko-KR" dirty="0"/>
          </a:p>
          <a:p>
            <a:r>
              <a:rPr lang="en-US" altLang="ko-KR" dirty="0"/>
              <a:t> * </a:t>
            </a:r>
            <a:r>
              <a:rPr lang="ko-KR" altLang="en-US" dirty="0"/>
              <a:t>교차 검사 시</a:t>
            </a:r>
            <a:r>
              <a:rPr lang="en-US" altLang="ko-KR" dirty="0"/>
              <a:t>, </a:t>
            </a:r>
            <a:r>
              <a:rPr lang="ko-KR" altLang="en-US" b="1" dirty="0"/>
              <a:t>부모 </a:t>
            </a:r>
            <a:r>
              <a:rPr lang="en-US" altLang="ko-KR" b="1" dirty="0"/>
              <a:t>AABB</a:t>
            </a:r>
            <a:r>
              <a:rPr lang="ko-KR" altLang="en-US" b="1" dirty="0"/>
              <a:t>와의 교차 여부</a:t>
            </a:r>
            <a:r>
              <a:rPr lang="ko-KR" altLang="en-US" dirty="0"/>
              <a:t>를 먼저 검사하여 </a:t>
            </a:r>
            <a:r>
              <a:rPr lang="ko-KR" altLang="en-US" b="1" dirty="0"/>
              <a:t>하위 노드를 가지치기</a:t>
            </a:r>
            <a:r>
              <a:rPr lang="en-US" altLang="ko-KR" b="1" dirty="0"/>
              <a:t>(Pruning)</a:t>
            </a:r>
            <a:r>
              <a:rPr lang="ko-KR" altLang="en-US" dirty="0"/>
              <a:t>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7833A3D-0186-D26A-D4BC-B26176CFCB73}"/>
              </a:ext>
            </a:extLst>
          </p:cNvPr>
          <p:cNvGrpSpPr/>
          <p:nvPr/>
        </p:nvGrpSpPr>
        <p:grpSpPr>
          <a:xfrm>
            <a:off x="980475" y="1756949"/>
            <a:ext cx="4668428" cy="2020435"/>
            <a:chOff x="457014" y="1690688"/>
            <a:chExt cx="4668428" cy="2020435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B2708F5-40A2-ADF7-258C-E53C0CECAF75}"/>
                </a:ext>
              </a:extLst>
            </p:cNvPr>
            <p:cNvGrpSpPr/>
            <p:nvPr/>
          </p:nvGrpSpPr>
          <p:grpSpPr>
            <a:xfrm>
              <a:off x="457014" y="1869097"/>
              <a:ext cx="4668428" cy="1842026"/>
              <a:chOff x="334437" y="2380311"/>
              <a:chExt cx="5408411" cy="2097378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1C8EAF85-4A1C-058D-FE88-6C77E7C5A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578"/>
              <a:stretch>
                <a:fillRect/>
              </a:stretch>
            </p:blipFill>
            <p:spPr>
              <a:xfrm>
                <a:off x="334437" y="2380311"/>
                <a:ext cx="5408411" cy="2097378"/>
              </a:xfrm>
              <a:prstGeom prst="rect">
                <a:avLst/>
              </a:prstGeom>
            </p:spPr>
          </p:pic>
          <p:sp>
            <p:nvSpPr>
              <p:cNvPr id="9" name="이등변 삼각형 8">
                <a:extLst>
                  <a:ext uri="{FF2B5EF4-FFF2-40B4-BE49-F238E27FC236}">
                    <a16:creationId xmlns:a16="http://schemas.microsoft.com/office/drawing/2014/main" id="{C888D605-4F55-5335-BC39-2DC97EAF3FAE}"/>
                  </a:ext>
                </a:extLst>
              </p:cNvPr>
              <p:cNvSpPr/>
              <p:nvPr/>
            </p:nvSpPr>
            <p:spPr>
              <a:xfrm rot="9028807">
                <a:off x="1792211" y="2527683"/>
                <a:ext cx="1025379" cy="1621416"/>
              </a:xfrm>
              <a:prstGeom prst="triangl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158642-2F94-50AE-7608-A2918ADD932E}"/>
                </a:ext>
              </a:extLst>
            </p:cNvPr>
            <p:cNvSpPr txBox="1"/>
            <p:nvPr/>
          </p:nvSpPr>
          <p:spPr>
            <a:xfrm>
              <a:off x="2390140" y="1690688"/>
              <a:ext cx="1162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이상적인 구성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7F95EA2-A0EF-6143-631E-38D24873A579}"/>
              </a:ext>
            </a:extLst>
          </p:cNvPr>
          <p:cNvSpPr txBox="1"/>
          <p:nvPr/>
        </p:nvSpPr>
        <p:spPr>
          <a:xfrm>
            <a:off x="6765560" y="2575491"/>
            <a:ext cx="4254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https://sopiro.github.io/DynamicBVH/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942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BB42-26EA-2562-A842-A880DEEFF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06F3D-0739-F3F1-9A1F-1F3D023B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BVH </a:t>
            </a:r>
            <a:r>
              <a:rPr lang="ko-KR" altLang="en-US" dirty="0"/>
              <a:t>포인터 트리의 </a:t>
            </a:r>
            <a:r>
              <a:rPr lang="en-US" altLang="ko-KR" dirty="0"/>
              <a:t> </a:t>
            </a:r>
            <a:r>
              <a:rPr lang="ko-KR" altLang="en-US" dirty="0"/>
              <a:t>의사 코드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0F2B3-F3EF-DA0E-E262-CB01FFC48063}"/>
              </a:ext>
            </a:extLst>
          </p:cNvPr>
          <p:cNvSpPr txBox="1"/>
          <p:nvPr/>
        </p:nvSpPr>
        <p:spPr>
          <a:xfrm>
            <a:off x="357809" y="3510748"/>
            <a:ext cx="573819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struct</a:t>
            </a:r>
            <a:r>
              <a:rPr lang="ko-KR" altLang="en-US" sz="1400" dirty="0"/>
              <a:t> </a:t>
            </a:r>
            <a:r>
              <a:rPr lang="en-US" altLang="ko-KR" sz="1400" dirty="0"/>
              <a:t>Object</a:t>
            </a:r>
            <a:r>
              <a:rPr lang="ko-KR" altLang="en-US" sz="1400" dirty="0"/>
              <a:t> { </a:t>
            </a:r>
            <a:r>
              <a:rPr lang="en-US" altLang="ko-KR" sz="1400" dirty="0"/>
              <a:t>AABB bound</a:t>
            </a:r>
            <a:r>
              <a:rPr lang="ko-KR" altLang="en-US" sz="1400" dirty="0"/>
              <a:t>; };</a:t>
            </a:r>
          </a:p>
          <a:p>
            <a:r>
              <a:rPr lang="en-US" altLang="ko-KR" sz="1400" dirty="0"/>
              <a:t>std::vector&lt;Object*&gt; </a:t>
            </a:r>
            <a:r>
              <a:rPr lang="ko-KR" altLang="en-US" sz="1400" dirty="0" err="1"/>
              <a:t>gObject</a:t>
            </a:r>
            <a:r>
              <a:rPr lang="en-US" altLang="ko-KR" sz="1400" dirty="0"/>
              <a:t>s;  </a:t>
            </a:r>
            <a:r>
              <a:rPr lang="ko-KR" altLang="en-US" sz="1400" dirty="0" err="1"/>
              <a:t>똔느</a:t>
            </a:r>
            <a:r>
              <a:rPr lang="ko-KR" altLang="en-US" sz="1400" dirty="0"/>
              <a:t> </a:t>
            </a:r>
            <a:r>
              <a:rPr lang="en-US" altLang="ko-KR" sz="1400" dirty="0"/>
              <a:t>std::vector&lt;AABB&gt;</a:t>
            </a:r>
            <a:endParaRPr lang="ko-KR" altLang="en-US" sz="1400" dirty="0"/>
          </a:p>
          <a:p>
            <a:r>
              <a:rPr lang="en-US" altLang="ko-KR" sz="1400" dirty="0"/>
              <a:t>struct </a:t>
            </a:r>
            <a:r>
              <a:rPr lang="en-US" altLang="ko-KR" sz="1400" dirty="0" err="1"/>
              <a:t>BVHNode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    AABB      bounds;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BVHNode</a:t>
            </a:r>
            <a:r>
              <a:rPr lang="en-US" altLang="ko-KR" sz="1400" dirty="0"/>
              <a:t>*  left  = </a:t>
            </a:r>
            <a:r>
              <a:rPr lang="en-US" altLang="ko-KR" sz="1400" dirty="0" err="1"/>
              <a:t>nullptr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BVHNode</a:t>
            </a:r>
            <a:r>
              <a:rPr lang="en-US" altLang="ko-KR" sz="1400" dirty="0"/>
              <a:t>*  right = </a:t>
            </a:r>
            <a:r>
              <a:rPr lang="en-US" altLang="ko-KR" sz="1400" dirty="0" err="1"/>
              <a:t>nullptr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std::vector&lt;uint32_t&gt; objects; // </a:t>
            </a:r>
            <a:r>
              <a:rPr lang="ko-KR" altLang="en-US" sz="1400" dirty="0"/>
              <a:t>리프용 </a:t>
            </a:r>
            <a:r>
              <a:rPr lang="en-US" altLang="ko-KR" sz="1400" dirty="0"/>
              <a:t>(</a:t>
            </a:r>
            <a:r>
              <a:rPr lang="ko-KR" altLang="en-US" sz="1400" dirty="0"/>
              <a:t>여기에 개체 인덱스 보관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bool </a:t>
            </a:r>
            <a:r>
              <a:rPr lang="en-US" altLang="ko-KR" sz="1400" dirty="0" err="1"/>
              <a:t>IsLeaf</a:t>
            </a:r>
            <a:r>
              <a:rPr lang="en-US" altLang="ko-KR" sz="1400" dirty="0"/>
              <a:t>() const { return left == </a:t>
            </a:r>
            <a:r>
              <a:rPr lang="en-US" altLang="ko-KR" sz="1400" dirty="0" err="1"/>
              <a:t>nullptr</a:t>
            </a:r>
            <a:r>
              <a:rPr lang="en-US" altLang="ko-KR" sz="1400" dirty="0"/>
              <a:t> &amp;&amp; right == </a:t>
            </a:r>
            <a:r>
              <a:rPr lang="en-US" altLang="ko-KR" sz="1400" dirty="0" err="1"/>
              <a:t>nullptr</a:t>
            </a:r>
            <a:r>
              <a:rPr lang="en-US" altLang="ko-KR" sz="1400" dirty="0"/>
              <a:t>; }</a:t>
            </a:r>
          </a:p>
          <a:p>
            <a:r>
              <a:rPr lang="en-US" altLang="ko-KR" sz="1400" dirty="0"/>
              <a:t>};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EC4A9-83A1-5FF3-2BB4-2A0D3C127414}"/>
              </a:ext>
            </a:extLst>
          </p:cNvPr>
          <p:cNvSpPr txBox="1"/>
          <p:nvPr/>
        </p:nvSpPr>
        <p:spPr>
          <a:xfrm>
            <a:off x="6215531" y="2100497"/>
            <a:ext cx="552713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// 가시 오브젝트 인덱스들을 </a:t>
            </a:r>
            <a:r>
              <a:rPr lang="ko-KR" altLang="en-US" sz="1200" dirty="0" err="1"/>
              <a:t>outVisible에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push_back</a:t>
            </a:r>
            <a:endParaRPr lang="ko-KR" altLang="en-US" sz="1200" dirty="0"/>
          </a:p>
          <a:p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FrustumCullBVH</a:t>
            </a:r>
            <a:r>
              <a:rPr lang="ko-KR" altLang="en-US" sz="1200" dirty="0"/>
              <a:t>(</a:t>
            </a:r>
            <a:r>
              <a:rPr lang="ko-KR" altLang="en-US" sz="1200" dirty="0" err="1"/>
              <a:t>BVHNode</a:t>
            </a:r>
            <a:r>
              <a:rPr lang="ko-KR" altLang="en-US" sz="1200" dirty="0"/>
              <a:t>* </a:t>
            </a:r>
            <a:r>
              <a:rPr lang="ko-KR" altLang="en-US" sz="1200" dirty="0" err="1"/>
              <a:t>node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const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FrustumPlanes</a:t>
            </a:r>
            <a:r>
              <a:rPr lang="ko-KR" altLang="en-US" sz="1200" dirty="0"/>
              <a:t>&amp; </a:t>
            </a:r>
            <a:r>
              <a:rPr lang="ko-KR" altLang="en-US" sz="1200" dirty="0" err="1"/>
              <a:t>F</a:t>
            </a:r>
            <a:r>
              <a:rPr lang="ko-KR" altLang="en-US" sz="1200" dirty="0"/>
              <a:t>,</a:t>
            </a:r>
            <a:endParaRPr lang="en-US" altLang="ko-KR" sz="1200" dirty="0"/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	</a:t>
            </a:r>
            <a:r>
              <a:rPr lang="ko-KR" altLang="en-US" sz="1200" dirty="0" err="1"/>
              <a:t>std</a:t>
            </a:r>
            <a:r>
              <a:rPr lang="ko-KR" altLang="en-US" sz="1200" dirty="0"/>
              <a:t>::</a:t>
            </a:r>
            <a:r>
              <a:rPr lang="ko-KR" altLang="en-US" sz="1200" dirty="0" err="1"/>
              <a:t>vector</a:t>
            </a:r>
            <a:r>
              <a:rPr lang="ko-KR" altLang="en-US" sz="1200" dirty="0"/>
              <a:t>&lt;uint32_t&gt;&amp; </a:t>
            </a:r>
            <a:r>
              <a:rPr lang="ko-KR" altLang="en-US" sz="1200" dirty="0" err="1"/>
              <a:t>outVisible</a:t>
            </a:r>
            <a:r>
              <a:rPr lang="ko-KR" altLang="en-US" sz="1200" dirty="0"/>
              <a:t>) </a:t>
            </a:r>
            <a:endParaRPr lang="en-US" altLang="ko-KR" sz="1200" dirty="0"/>
          </a:p>
          <a:p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(!</a:t>
            </a:r>
            <a:r>
              <a:rPr lang="ko-KR" altLang="en-US" sz="1200" dirty="0" err="1"/>
              <a:t>node</a:t>
            </a:r>
            <a:r>
              <a:rPr lang="ko-KR" altLang="en-US" sz="1200" dirty="0"/>
              <a:t>) 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;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// 1) 부모 노드의 </a:t>
            </a:r>
            <a:r>
              <a:rPr lang="ko-KR" altLang="en-US" sz="1200" dirty="0" err="1"/>
              <a:t>AABB와</a:t>
            </a:r>
            <a:r>
              <a:rPr lang="ko-KR" altLang="en-US" sz="1200" dirty="0"/>
              <a:t> 먼저 교차 검사 → 가지치기!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(!</a:t>
            </a:r>
            <a:r>
              <a:rPr lang="ko-KR" altLang="en-US" sz="1200" dirty="0" err="1"/>
              <a:t>IntersectsFrustumAABB</a:t>
            </a:r>
            <a:r>
              <a:rPr lang="ko-KR" altLang="en-US" sz="1200" dirty="0"/>
              <a:t>(</a:t>
            </a:r>
            <a:r>
              <a:rPr lang="ko-KR" altLang="en-US" sz="1200" dirty="0" err="1"/>
              <a:t>F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node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bounds</a:t>
            </a:r>
            <a:r>
              <a:rPr lang="ko-KR" altLang="en-US" sz="1200" dirty="0"/>
              <a:t>)) 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;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node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IsLeaf</a:t>
            </a:r>
            <a:r>
              <a:rPr lang="ko-KR" altLang="en-US" sz="1200" dirty="0"/>
              <a:t>()) {</a:t>
            </a:r>
          </a:p>
          <a:p>
            <a:r>
              <a:rPr lang="ko-KR" altLang="en-US" sz="1200" dirty="0"/>
              <a:t>        // 2) 리프면 들어있는 오브젝트 개별 검사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for</a:t>
            </a:r>
            <a:r>
              <a:rPr lang="ko-KR" altLang="en-US" sz="1200" dirty="0"/>
              <a:t> (uint32_t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 : </a:t>
            </a:r>
            <a:r>
              <a:rPr lang="ko-KR" altLang="en-US" sz="1200" dirty="0" err="1"/>
              <a:t>node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objects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            // 오브젝트 </a:t>
            </a:r>
            <a:r>
              <a:rPr lang="ko-KR" altLang="en-US" sz="1200" dirty="0" err="1"/>
              <a:t>AABB가</a:t>
            </a:r>
            <a:r>
              <a:rPr lang="ko-KR" altLang="en-US" sz="1200" dirty="0"/>
              <a:t> 필요함: </a:t>
            </a:r>
            <a:r>
              <a:rPr lang="ko-KR" altLang="en-US" sz="1200" dirty="0" err="1"/>
              <a:t>호출측에서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aabbs</a:t>
            </a:r>
            <a:r>
              <a:rPr lang="ko-KR" altLang="en-US" sz="1200" dirty="0"/>
              <a:t>[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]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알 수 있어야 </a:t>
            </a:r>
            <a:endParaRPr lang="en-US" altLang="ko-KR" sz="1200" dirty="0"/>
          </a:p>
          <a:p>
            <a:r>
              <a:rPr lang="en-US" altLang="ko-KR" sz="1200" dirty="0"/>
              <a:t>        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IntersectsFrustumAABB</a:t>
            </a:r>
            <a:r>
              <a:rPr lang="ko-KR" altLang="en-US" sz="1200" dirty="0"/>
              <a:t>(</a:t>
            </a:r>
            <a:r>
              <a:rPr lang="ko-KR" altLang="en-US" sz="1200" dirty="0" err="1"/>
              <a:t>F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gObject</a:t>
            </a:r>
            <a:r>
              <a:rPr lang="en-US" altLang="ko-KR" sz="1200" dirty="0"/>
              <a:t>s</a:t>
            </a:r>
            <a:r>
              <a:rPr lang="ko-KR" altLang="en-US" sz="1200" dirty="0"/>
              <a:t>[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]</a:t>
            </a:r>
            <a:r>
              <a:rPr lang="en-US" altLang="ko-KR" sz="1200" dirty="0"/>
              <a:t>.bound</a:t>
            </a:r>
            <a:r>
              <a:rPr lang="ko-KR" altLang="en-US" sz="1200" dirty="0"/>
              <a:t>))</a:t>
            </a:r>
          </a:p>
          <a:p>
            <a:r>
              <a:rPr lang="ko-KR" altLang="en-US" sz="1200" dirty="0"/>
              <a:t>                </a:t>
            </a:r>
            <a:r>
              <a:rPr lang="ko-KR" altLang="en-US" sz="1200" dirty="0" err="1"/>
              <a:t>outVisible.push_back</a:t>
            </a:r>
            <a:r>
              <a:rPr lang="ko-KR" altLang="en-US" sz="1200" dirty="0"/>
              <a:t>(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        }</a:t>
            </a:r>
          </a:p>
          <a:p>
            <a:r>
              <a:rPr lang="ko-KR" altLang="en-US" sz="1200" dirty="0"/>
              <a:t>    }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{</a:t>
            </a:r>
          </a:p>
          <a:p>
            <a:r>
              <a:rPr lang="ko-KR" altLang="en-US" sz="1200" dirty="0"/>
              <a:t>        // 3) 내부면 자식으로 </a:t>
            </a:r>
            <a:r>
              <a:rPr lang="ko-KR" altLang="en-US" sz="1200" dirty="0" err="1"/>
              <a:t>내려감</a:t>
            </a:r>
            <a:endParaRPr lang="ko-KR" altLang="en-US" sz="1200" dirty="0"/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FrustumCullBVH</a:t>
            </a:r>
            <a:r>
              <a:rPr lang="ko-KR" altLang="en-US" sz="1200" dirty="0"/>
              <a:t>(</a:t>
            </a:r>
            <a:r>
              <a:rPr lang="ko-KR" altLang="en-US" sz="1200" dirty="0" err="1"/>
              <a:t>node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left</a:t>
            </a:r>
            <a:r>
              <a:rPr lang="ko-KR" altLang="en-US" sz="1200" dirty="0"/>
              <a:t>,  </a:t>
            </a:r>
            <a:r>
              <a:rPr lang="ko-KR" altLang="en-US" sz="1200" dirty="0" err="1"/>
              <a:t>F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outVisible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FrustumCullBVH</a:t>
            </a:r>
            <a:r>
              <a:rPr lang="ko-KR" altLang="en-US" sz="1200" dirty="0"/>
              <a:t>(</a:t>
            </a:r>
            <a:r>
              <a:rPr lang="ko-KR" altLang="en-US" sz="1200" dirty="0" err="1"/>
              <a:t>node</a:t>
            </a:r>
            <a:r>
              <a:rPr lang="ko-KR" altLang="en-US" sz="1200" dirty="0"/>
              <a:t>-&gt;</a:t>
            </a:r>
            <a:r>
              <a:rPr lang="ko-KR" altLang="en-US" sz="1200" dirty="0" err="1"/>
              <a:t>right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F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outVisible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    }</a:t>
            </a:r>
          </a:p>
          <a:p>
            <a:r>
              <a:rPr lang="ko-KR" altLang="en-US" sz="12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11498-C759-F11B-36F2-D33DC99908B9}"/>
              </a:ext>
            </a:extLst>
          </p:cNvPr>
          <p:cNvSpPr txBox="1"/>
          <p:nvPr/>
        </p:nvSpPr>
        <p:spPr>
          <a:xfrm>
            <a:off x="6215531" y="1864183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i="1" dirty="0"/>
              <a:t>의사 코드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75C3557-562A-8515-EA27-219A1D71D424}"/>
              </a:ext>
            </a:extLst>
          </p:cNvPr>
          <p:cNvGrpSpPr/>
          <p:nvPr/>
        </p:nvGrpSpPr>
        <p:grpSpPr>
          <a:xfrm>
            <a:off x="1355427" y="1855450"/>
            <a:ext cx="2200752" cy="1490535"/>
            <a:chOff x="3168690" y="5090562"/>
            <a:chExt cx="2200752" cy="1490535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9E395E8-F342-7D6F-8036-C22391B030DE}"/>
                </a:ext>
              </a:extLst>
            </p:cNvPr>
            <p:cNvSpPr/>
            <p:nvPr/>
          </p:nvSpPr>
          <p:spPr>
            <a:xfrm>
              <a:off x="3168690" y="6108622"/>
              <a:ext cx="384620" cy="38425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오각형 13">
              <a:extLst>
                <a:ext uri="{FF2B5EF4-FFF2-40B4-BE49-F238E27FC236}">
                  <a16:creationId xmlns:a16="http://schemas.microsoft.com/office/drawing/2014/main" id="{6DACE16E-6723-8952-E8C7-B945340883B1}"/>
                </a:ext>
              </a:extLst>
            </p:cNvPr>
            <p:cNvSpPr/>
            <p:nvPr/>
          </p:nvSpPr>
          <p:spPr>
            <a:xfrm>
              <a:off x="3709285" y="6108622"/>
              <a:ext cx="384620" cy="384253"/>
            </a:xfrm>
            <a:prstGeom prst="pentagon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64054D43-B339-07F9-295D-72C5ECB96311}"/>
                </a:ext>
              </a:extLst>
            </p:cNvPr>
            <p:cNvSpPr/>
            <p:nvPr/>
          </p:nvSpPr>
          <p:spPr>
            <a:xfrm>
              <a:off x="4524874" y="6103184"/>
              <a:ext cx="384620" cy="389691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4843C008-4443-8E3C-8C59-E1B515D94328}"/>
                </a:ext>
              </a:extLst>
            </p:cNvPr>
            <p:cNvSpPr/>
            <p:nvPr/>
          </p:nvSpPr>
          <p:spPr>
            <a:xfrm rot="19025059">
              <a:off x="5092060" y="6021653"/>
              <a:ext cx="277382" cy="55944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2830B21-2E2A-C155-F9D8-2EC044EF54A2}"/>
                </a:ext>
              </a:extLst>
            </p:cNvPr>
            <p:cNvSpPr/>
            <p:nvPr/>
          </p:nvSpPr>
          <p:spPr>
            <a:xfrm>
              <a:off x="3553310" y="5567320"/>
              <a:ext cx="274223" cy="25894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4A801FB-526F-34A9-8B0C-FF5E326AF950}"/>
                </a:ext>
              </a:extLst>
            </p:cNvPr>
            <p:cNvSpPr/>
            <p:nvPr/>
          </p:nvSpPr>
          <p:spPr>
            <a:xfrm>
              <a:off x="4772480" y="5567319"/>
              <a:ext cx="274223" cy="258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B061343-6C66-4E65-A302-90A0388CB26A}"/>
                </a:ext>
              </a:extLst>
            </p:cNvPr>
            <p:cNvSpPr/>
            <p:nvPr/>
          </p:nvSpPr>
          <p:spPr>
            <a:xfrm>
              <a:off x="4207769" y="5090562"/>
              <a:ext cx="274223" cy="2589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9BEDA25F-E078-0CCC-C65F-CDF1CC1A277B}"/>
                </a:ext>
              </a:extLst>
            </p:cNvPr>
            <p:cNvCxnSpPr>
              <a:stCxn id="17" idx="2"/>
              <a:endCxn id="12" idx="7"/>
            </p:cNvCxnSpPr>
            <p:nvPr/>
          </p:nvCxnSpPr>
          <p:spPr>
            <a:xfrm flipH="1">
              <a:off x="3496984" y="5826265"/>
              <a:ext cx="193438" cy="3386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327B705-D7C3-D127-4838-DC4E74BF8B8F}"/>
                </a:ext>
              </a:extLst>
            </p:cNvPr>
            <p:cNvCxnSpPr>
              <a:cxnSpLocks/>
              <a:stCxn id="17" idx="2"/>
              <a:endCxn id="14" idx="0"/>
            </p:cNvCxnSpPr>
            <p:nvPr/>
          </p:nvCxnSpPr>
          <p:spPr>
            <a:xfrm>
              <a:off x="3690422" y="5826265"/>
              <a:ext cx="211173" cy="2823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4060FEC-09E2-9C15-93E8-098FF2AC2409}"/>
                </a:ext>
              </a:extLst>
            </p:cNvPr>
            <p:cNvCxnSpPr>
              <a:cxnSpLocks/>
              <a:stCxn id="18" idx="2"/>
              <a:endCxn id="15" idx="0"/>
            </p:cNvCxnSpPr>
            <p:nvPr/>
          </p:nvCxnSpPr>
          <p:spPr>
            <a:xfrm flipH="1">
              <a:off x="4717184" y="5826264"/>
              <a:ext cx="192408" cy="2769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FBD8ED35-CEA2-749E-444C-50504B6D22B9}"/>
                </a:ext>
              </a:extLst>
            </p:cNvPr>
            <p:cNvCxnSpPr>
              <a:cxnSpLocks/>
              <a:stCxn id="18" idx="2"/>
              <a:endCxn id="16" idx="5"/>
            </p:cNvCxnSpPr>
            <p:nvPr/>
          </p:nvCxnSpPr>
          <p:spPr>
            <a:xfrm>
              <a:off x="4909592" y="5826264"/>
              <a:ext cx="371945" cy="4278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49638092-CA8E-792A-0723-E9571667DD04}"/>
                </a:ext>
              </a:extLst>
            </p:cNvPr>
            <p:cNvCxnSpPr>
              <a:cxnSpLocks/>
              <a:stCxn id="19" idx="2"/>
              <a:endCxn id="17" idx="0"/>
            </p:cNvCxnSpPr>
            <p:nvPr/>
          </p:nvCxnSpPr>
          <p:spPr>
            <a:xfrm flipH="1">
              <a:off x="3690422" y="5349507"/>
              <a:ext cx="654459" cy="2178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649B106-EA19-36E5-B5ED-70C2DA643664}"/>
                </a:ext>
              </a:extLst>
            </p:cNvPr>
            <p:cNvCxnSpPr>
              <a:cxnSpLocks/>
              <a:stCxn id="19" idx="2"/>
              <a:endCxn id="18" idx="0"/>
            </p:cNvCxnSpPr>
            <p:nvPr/>
          </p:nvCxnSpPr>
          <p:spPr>
            <a:xfrm>
              <a:off x="4344881" y="5349507"/>
              <a:ext cx="564711" cy="2178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973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963D3-B358-510A-D2CC-673D089DE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BVH </a:t>
            </a:r>
            <a:r>
              <a:rPr lang="ko-KR" altLang="en-US" dirty="0"/>
              <a:t>배열 트리의 의사 코드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5BB7C46-3E6B-CE5D-1372-0E61FDC30118}"/>
              </a:ext>
            </a:extLst>
          </p:cNvPr>
          <p:cNvGrpSpPr/>
          <p:nvPr/>
        </p:nvGrpSpPr>
        <p:grpSpPr>
          <a:xfrm>
            <a:off x="990992" y="1890733"/>
            <a:ext cx="2200752" cy="1490535"/>
            <a:chOff x="3168690" y="5090562"/>
            <a:chExt cx="2200752" cy="1490535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80F6F542-F1EB-6A4B-C378-28481CA15A65}"/>
                </a:ext>
              </a:extLst>
            </p:cNvPr>
            <p:cNvSpPr/>
            <p:nvPr/>
          </p:nvSpPr>
          <p:spPr>
            <a:xfrm>
              <a:off x="3168690" y="6108622"/>
              <a:ext cx="384620" cy="38425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오각형 4">
              <a:extLst>
                <a:ext uri="{FF2B5EF4-FFF2-40B4-BE49-F238E27FC236}">
                  <a16:creationId xmlns:a16="http://schemas.microsoft.com/office/drawing/2014/main" id="{37583BB6-C748-4EC4-B981-4FD16B46D0F1}"/>
                </a:ext>
              </a:extLst>
            </p:cNvPr>
            <p:cNvSpPr/>
            <p:nvPr/>
          </p:nvSpPr>
          <p:spPr>
            <a:xfrm>
              <a:off x="3709285" y="6108622"/>
              <a:ext cx="384620" cy="384253"/>
            </a:xfrm>
            <a:prstGeom prst="pentagon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94E8D1A8-7753-2422-2936-789385194E26}"/>
                </a:ext>
              </a:extLst>
            </p:cNvPr>
            <p:cNvSpPr/>
            <p:nvPr/>
          </p:nvSpPr>
          <p:spPr>
            <a:xfrm>
              <a:off x="4524874" y="6103184"/>
              <a:ext cx="384620" cy="389691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74BD055A-5EF7-8313-299B-45FADC667E66}"/>
                </a:ext>
              </a:extLst>
            </p:cNvPr>
            <p:cNvSpPr/>
            <p:nvPr/>
          </p:nvSpPr>
          <p:spPr>
            <a:xfrm rot="19025059">
              <a:off x="5092060" y="6021653"/>
              <a:ext cx="277382" cy="55944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FE4D52C-EF12-D73B-06FE-C9EDB724D6F9}"/>
                </a:ext>
              </a:extLst>
            </p:cNvPr>
            <p:cNvSpPr/>
            <p:nvPr/>
          </p:nvSpPr>
          <p:spPr>
            <a:xfrm>
              <a:off x="3553310" y="5567320"/>
              <a:ext cx="274223" cy="25894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3B2AFBC-1A03-9266-1153-99DF48795793}"/>
                </a:ext>
              </a:extLst>
            </p:cNvPr>
            <p:cNvSpPr/>
            <p:nvPr/>
          </p:nvSpPr>
          <p:spPr>
            <a:xfrm>
              <a:off x="4772480" y="5567319"/>
              <a:ext cx="274223" cy="258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077FEED-F53E-8D78-2121-01965B1C64D1}"/>
                </a:ext>
              </a:extLst>
            </p:cNvPr>
            <p:cNvSpPr/>
            <p:nvPr/>
          </p:nvSpPr>
          <p:spPr>
            <a:xfrm>
              <a:off x="4207769" y="5090562"/>
              <a:ext cx="274223" cy="2589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4016129-CBE2-85D2-ED7F-A55FE60D5818}"/>
                </a:ext>
              </a:extLst>
            </p:cNvPr>
            <p:cNvCxnSpPr>
              <a:stCxn id="8" idx="2"/>
              <a:endCxn id="4" idx="7"/>
            </p:cNvCxnSpPr>
            <p:nvPr/>
          </p:nvCxnSpPr>
          <p:spPr>
            <a:xfrm flipH="1">
              <a:off x="3496984" y="5826265"/>
              <a:ext cx="193438" cy="3386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C168E8A-9450-6372-0C09-4849A26D21CC}"/>
                </a:ext>
              </a:extLst>
            </p:cNvPr>
            <p:cNvCxnSpPr>
              <a:cxnSpLocks/>
              <a:stCxn id="8" idx="2"/>
              <a:endCxn id="5" idx="0"/>
            </p:cNvCxnSpPr>
            <p:nvPr/>
          </p:nvCxnSpPr>
          <p:spPr>
            <a:xfrm>
              <a:off x="3690422" y="5826265"/>
              <a:ext cx="211173" cy="2823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12B968B-2038-1EEB-50AD-869EB30A9734}"/>
                </a:ext>
              </a:extLst>
            </p:cNvPr>
            <p:cNvCxnSpPr>
              <a:cxnSpLocks/>
              <a:stCxn id="9" idx="2"/>
              <a:endCxn id="6" idx="0"/>
            </p:cNvCxnSpPr>
            <p:nvPr/>
          </p:nvCxnSpPr>
          <p:spPr>
            <a:xfrm flipH="1">
              <a:off x="4717184" y="5826264"/>
              <a:ext cx="192408" cy="2769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0E96D81-D8C0-62EC-FFA9-3C0642FD0FBA}"/>
                </a:ext>
              </a:extLst>
            </p:cNvPr>
            <p:cNvCxnSpPr>
              <a:cxnSpLocks/>
              <a:stCxn id="9" idx="2"/>
              <a:endCxn id="7" idx="5"/>
            </p:cNvCxnSpPr>
            <p:nvPr/>
          </p:nvCxnSpPr>
          <p:spPr>
            <a:xfrm>
              <a:off x="4909592" y="5826264"/>
              <a:ext cx="371945" cy="4278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C0FC877-7090-2F29-CCA6-CFC86CC940F8}"/>
                </a:ext>
              </a:extLst>
            </p:cNvPr>
            <p:cNvCxnSpPr>
              <a:cxnSpLocks/>
              <a:stCxn id="10" idx="2"/>
              <a:endCxn id="8" idx="0"/>
            </p:cNvCxnSpPr>
            <p:nvPr/>
          </p:nvCxnSpPr>
          <p:spPr>
            <a:xfrm flipH="1">
              <a:off x="3690422" y="5349507"/>
              <a:ext cx="654459" cy="2178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A76616B-F1C2-D0BC-656D-284BEC59329B}"/>
                </a:ext>
              </a:extLst>
            </p:cNvPr>
            <p:cNvCxnSpPr>
              <a:cxnSpLocks/>
              <a:stCxn id="10" idx="2"/>
              <a:endCxn id="9" idx="0"/>
            </p:cNvCxnSpPr>
            <p:nvPr/>
          </p:nvCxnSpPr>
          <p:spPr>
            <a:xfrm>
              <a:off x="4344881" y="5349507"/>
              <a:ext cx="564711" cy="2178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F9B27E4-A3AA-899D-CA58-A54926A63E04}"/>
              </a:ext>
            </a:extLst>
          </p:cNvPr>
          <p:cNvSpPr txBox="1"/>
          <p:nvPr/>
        </p:nvSpPr>
        <p:spPr>
          <a:xfrm>
            <a:off x="3713811" y="1532761"/>
            <a:ext cx="831248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// </a:t>
            </a:r>
            <a:r>
              <a:rPr lang="ko-KR" altLang="en-US" sz="1600" dirty="0" err="1"/>
              <a:t>DirectX</a:t>
            </a:r>
            <a:r>
              <a:rPr lang="ko-KR" altLang="en-US" sz="1600" dirty="0"/>
              <a:t> C/C++ 표현</a:t>
            </a:r>
          </a:p>
          <a:p>
            <a:r>
              <a:rPr lang="ko-KR" altLang="en-US" sz="1600" dirty="0" err="1"/>
              <a:t>struct</a:t>
            </a:r>
            <a:r>
              <a:rPr lang="ko-KR" altLang="en-US" sz="1600" dirty="0"/>
              <a:t> AABB {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DirectX</a:t>
            </a:r>
            <a:r>
              <a:rPr lang="ko-KR" altLang="en-US" sz="1600" dirty="0"/>
              <a:t>::XMFLOAT3 </a:t>
            </a:r>
            <a:r>
              <a:rPr lang="ko-KR" altLang="en-US" sz="1600" dirty="0" err="1"/>
              <a:t>min</a:t>
            </a:r>
            <a:r>
              <a:rPr lang="ko-KR" altLang="en-US" sz="1600" dirty="0"/>
              <a:t>; // (</a:t>
            </a:r>
            <a:r>
              <a:rPr lang="ko-KR" altLang="en-US" sz="1600" dirty="0" err="1"/>
              <a:t>x,y,z</a:t>
            </a:r>
            <a:r>
              <a:rPr lang="ko-KR" altLang="en-US" sz="1600" dirty="0"/>
              <a:t>)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DirectX</a:t>
            </a:r>
            <a:r>
              <a:rPr lang="ko-KR" altLang="en-US" sz="1600" dirty="0"/>
              <a:t>::XMFLOAT3 </a:t>
            </a:r>
            <a:r>
              <a:rPr lang="ko-KR" altLang="en-US" sz="1600" dirty="0" err="1"/>
              <a:t>max</a:t>
            </a:r>
            <a:r>
              <a:rPr lang="ko-KR" altLang="en-US" sz="1600" dirty="0"/>
              <a:t>; // (</a:t>
            </a:r>
            <a:r>
              <a:rPr lang="ko-KR" altLang="en-US" sz="1600" dirty="0" err="1"/>
              <a:t>x,y,z</a:t>
            </a:r>
            <a:r>
              <a:rPr lang="ko-KR" altLang="en-US" sz="1600" dirty="0"/>
              <a:t>)</a:t>
            </a:r>
          </a:p>
          <a:p>
            <a:r>
              <a:rPr lang="ko-KR" altLang="en-US" sz="1600" dirty="0"/>
              <a:t>};</a:t>
            </a:r>
          </a:p>
          <a:p>
            <a:endParaRPr lang="ko-KR" altLang="en-US" sz="1600" dirty="0"/>
          </a:p>
          <a:p>
            <a:r>
              <a:rPr lang="ko-KR" altLang="en-US" sz="1600" dirty="0" err="1"/>
              <a:t>struct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BVHNode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  AABB      </a:t>
            </a:r>
            <a:r>
              <a:rPr lang="ko-KR" altLang="en-US" sz="1600" dirty="0" err="1"/>
              <a:t>bounds</a:t>
            </a:r>
            <a:r>
              <a:rPr lang="ko-KR" altLang="en-US" sz="1600" dirty="0"/>
              <a:t>;       // 이 노드의 AABB</a:t>
            </a:r>
          </a:p>
          <a:p>
            <a:r>
              <a:rPr lang="ko-KR" altLang="en-US" sz="1600" dirty="0"/>
              <a:t>    uint32_t  </a:t>
            </a:r>
            <a:r>
              <a:rPr lang="ko-KR" altLang="en-US" sz="1600" dirty="0" err="1"/>
              <a:t>left</a:t>
            </a:r>
            <a:r>
              <a:rPr lang="ko-KR" altLang="en-US" sz="1600" dirty="0"/>
              <a:t>;         // 왼쪽 자식 노드 인덱스 (리프면 </a:t>
            </a:r>
            <a:r>
              <a:rPr lang="ko-KR" altLang="en-US" sz="1600" dirty="0" err="1"/>
              <a:t>firstObject</a:t>
            </a:r>
            <a:r>
              <a:rPr lang="ko-KR" altLang="en-US" sz="1600" dirty="0"/>
              <a:t>)</a:t>
            </a:r>
          </a:p>
          <a:p>
            <a:r>
              <a:rPr lang="ko-KR" altLang="en-US" sz="1600" dirty="0"/>
              <a:t>    uint32_t  </a:t>
            </a:r>
            <a:r>
              <a:rPr lang="ko-KR" altLang="en-US" sz="1600" dirty="0" err="1"/>
              <a:t>right</a:t>
            </a:r>
            <a:r>
              <a:rPr lang="ko-KR" altLang="en-US" sz="1600" dirty="0"/>
              <a:t>;        // 오른쪽 자식 노드 인덱스 (리프면 </a:t>
            </a:r>
            <a:r>
              <a:rPr lang="ko-KR" altLang="en-US" sz="1600" dirty="0" err="1"/>
              <a:t>objectCount와</a:t>
            </a:r>
            <a:r>
              <a:rPr lang="ko-KR" altLang="en-US" sz="1600" dirty="0"/>
              <a:t> 혼용 가능)</a:t>
            </a:r>
          </a:p>
          <a:p>
            <a:r>
              <a:rPr lang="ko-KR" altLang="en-US" sz="1600" dirty="0"/>
              <a:t>    uint32_t  </a:t>
            </a:r>
            <a:r>
              <a:rPr lang="ko-KR" altLang="en-US" sz="1600" dirty="0" err="1"/>
              <a:t>firstObject</a:t>
            </a:r>
            <a:r>
              <a:rPr lang="ko-KR" altLang="en-US" sz="1600" dirty="0"/>
              <a:t>;  // 리프일 때: 오브젝트 시작 인덱스</a:t>
            </a:r>
          </a:p>
          <a:p>
            <a:r>
              <a:rPr lang="ko-KR" altLang="en-US" sz="1600" dirty="0"/>
              <a:t>    uint32_t  </a:t>
            </a:r>
            <a:r>
              <a:rPr lang="ko-KR" altLang="en-US" sz="1600" dirty="0" err="1"/>
              <a:t>objectCount</a:t>
            </a:r>
            <a:r>
              <a:rPr lang="ko-KR" altLang="en-US" sz="1600" dirty="0"/>
              <a:t>;  // 리프일 때: 오브젝트 개수 (0이면 내부 노드)</a:t>
            </a:r>
          </a:p>
          <a:p>
            <a:r>
              <a:rPr lang="ko-KR" altLang="en-US" sz="1600" dirty="0"/>
              <a:t>    // </a:t>
            </a:r>
            <a:r>
              <a:rPr lang="ko-KR" altLang="en-US" sz="1600" dirty="0" err="1"/>
              <a:t>내부노드면</a:t>
            </a:r>
            <a:r>
              <a:rPr lang="ko-KR" altLang="en-US" sz="1600" dirty="0"/>
              <a:t> </a:t>
            </a:r>
            <a:r>
              <a:rPr lang="ko-KR" altLang="en-US" sz="1600" dirty="0" err="1"/>
              <a:t>objectCount</a:t>
            </a:r>
            <a:r>
              <a:rPr lang="ko-KR" altLang="en-US" sz="1600" dirty="0"/>
              <a:t>==0, </a:t>
            </a:r>
            <a:r>
              <a:rPr lang="ko-KR" altLang="en-US" sz="1600" dirty="0" err="1"/>
              <a:t>left</a:t>
            </a:r>
            <a:r>
              <a:rPr lang="ko-KR" altLang="en-US" sz="1600" dirty="0"/>
              <a:t>/</a:t>
            </a:r>
            <a:r>
              <a:rPr lang="ko-KR" altLang="en-US" sz="1600" dirty="0" err="1"/>
              <a:t>right는</a:t>
            </a:r>
            <a:r>
              <a:rPr lang="ko-KR" altLang="en-US" sz="1600" dirty="0"/>
              <a:t> 유효한 노드 인덱스</a:t>
            </a:r>
          </a:p>
          <a:p>
            <a:r>
              <a:rPr lang="ko-KR" altLang="en-US" sz="1600" dirty="0"/>
              <a:t>    // </a:t>
            </a:r>
            <a:r>
              <a:rPr lang="ko-KR" altLang="en-US" sz="1600" dirty="0" err="1"/>
              <a:t>리프노드면</a:t>
            </a:r>
            <a:r>
              <a:rPr lang="ko-KR" altLang="en-US" sz="1600" dirty="0"/>
              <a:t> </a:t>
            </a:r>
            <a:r>
              <a:rPr lang="ko-KR" altLang="en-US" sz="1600" dirty="0" err="1"/>
              <a:t>left</a:t>
            </a:r>
            <a:r>
              <a:rPr lang="ko-KR" altLang="en-US" sz="1600" dirty="0"/>
              <a:t>/</a:t>
            </a:r>
            <a:r>
              <a:rPr lang="ko-KR" altLang="en-US" sz="1600" dirty="0" err="1"/>
              <a:t>right는</a:t>
            </a:r>
            <a:r>
              <a:rPr lang="ko-KR" altLang="en-US" sz="1600" dirty="0"/>
              <a:t> 사용하지 않음(또는 압축 인코딩 사용)</a:t>
            </a:r>
          </a:p>
          <a:p>
            <a:r>
              <a:rPr lang="ko-KR" altLang="en-US" sz="1600" dirty="0"/>
              <a:t>};</a:t>
            </a:r>
          </a:p>
          <a:p>
            <a:endParaRPr lang="ko-KR" altLang="en-US" sz="1600" dirty="0"/>
          </a:p>
          <a:p>
            <a:r>
              <a:rPr lang="ko-KR" altLang="en-US" sz="1600" dirty="0" err="1"/>
              <a:t>std</a:t>
            </a:r>
            <a:r>
              <a:rPr lang="ko-KR" altLang="en-US" sz="1600" dirty="0"/>
              <a:t>::</a:t>
            </a:r>
            <a:r>
              <a:rPr lang="ko-KR" altLang="en-US" sz="1600" dirty="0" err="1"/>
              <a:t>vector</a:t>
            </a:r>
            <a:r>
              <a:rPr lang="ko-KR" altLang="en-US" sz="1600" dirty="0"/>
              <a:t>&lt;</a:t>
            </a:r>
            <a:r>
              <a:rPr lang="ko-KR" altLang="en-US" sz="1600" dirty="0" err="1"/>
              <a:t>BVHNode</a:t>
            </a:r>
            <a:r>
              <a:rPr lang="ko-KR" altLang="en-US" sz="1600" dirty="0"/>
              <a:t>&gt;    </a:t>
            </a:r>
            <a:r>
              <a:rPr lang="ko-KR" altLang="en-US" sz="1600" dirty="0" err="1"/>
              <a:t>gNodes</a:t>
            </a:r>
            <a:r>
              <a:rPr lang="ko-KR" altLang="en-US" sz="1600" dirty="0"/>
              <a:t>;      // 연속 배열로 저장되는 트리</a:t>
            </a:r>
          </a:p>
          <a:p>
            <a:r>
              <a:rPr lang="ko-KR" altLang="en-US" sz="1600" dirty="0"/>
              <a:t>uint32_t                </a:t>
            </a:r>
            <a:r>
              <a:rPr lang="ko-KR" altLang="en-US" sz="1600" dirty="0" err="1"/>
              <a:t>gRoot</a:t>
            </a:r>
            <a:r>
              <a:rPr lang="ko-KR" altLang="en-US" sz="1600" dirty="0"/>
              <a:t> = 0;   // 루트 노드 인덱스</a:t>
            </a:r>
          </a:p>
          <a:p>
            <a:r>
              <a:rPr lang="ko-KR" altLang="en-US" sz="1600" dirty="0" err="1"/>
              <a:t>std</a:t>
            </a:r>
            <a:r>
              <a:rPr lang="ko-KR" altLang="en-US" sz="1600" dirty="0"/>
              <a:t>::</a:t>
            </a:r>
            <a:r>
              <a:rPr lang="ko-KR" altLang="en-US" sz="1600" dirty="0" err="1"/>
              <a:t>vector</a:t>
            </a:r>
            <a:r>
              <a:rPr lang="ko-KR" altLang="en-US" sz="1600" dirty="0"/>
              <a:t>&lt;uint32_t&gt;   </a:t>
            </a:r>
            <a:r>
              <a:rPr lang="ko-KR" altLang="en-US" sz="1600" dirty="0" err="1"/>
              <a:t>gObjectIdx</a:t>
            </a:r>
            <a:r>
              <a:rPr lang="ko-KR" altLang="en-US" sz="1600" dirty="0"/>
              <a:t>;  // 리프가 가리키는 오브젝트 인덱스들(연속 저장)</a:t>
            </a:r>
          </a:p>
          <a:p>
            <a:r>
              <a:rPr lang="ko-KR" altLang="en-US" sz="1600" dirty="0" err="1"/>
              <a:t>std</a:t>
            </a:r>
            <a:r>
              <a:rPr lang="ko-KR" altLang="en-US" sz="1600" dirty="0"/>
              <a:t>::</a:t>
            </a:r>
            <a:r>
              <a:rPr lang="ko-KR" altLang="en-US" sz="1600" dirty="0" err="1"/>
              <a:t>vector</a:t>
            </a:r>
            <a:r>
              <a:rPr lang="ko-KR" altLang="en-US" sz="1600" dirty="0"/>
              <a:t>&lt;AABB&gt;       </a:t>
            </a:r>
            <a:r>
              <a:rPr lang="ko-KR" altLang="en-US" sz="1600" dirty="0" err="1"/>
              <a:t>gObjectAABB</a:t>
            </a:r>
            <a:r>
              <a:rPr lang="ko-KR" altLang="en-US" sz="1600" dirty="0"/>
              <a:t>; // 원본 오브젝트 AABB</a:t>
            </a:r>
          </a:p>
        </p:txBody>
      </p:sp>
    </p:spTree>
    <p:extLst>
      <p:ext uri="{BB962C8B-B14F-4D97-AF65-F5344CB8AC3E}">
        <p14:creationId xmlns:p14="http://schemas.microsoft.com/office/powerpoint/2010/main" val="84088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C6328-852D-DD9D-1218-87A2F021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트리의 품질</a:t>
            </a:r>
            <a:r>
              <a:rPr lang="en-US" altLang="ko-KR" dirty="0"/>
              <a:t>(Tree Quality)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43798-2FA9-90D3-3E69-8F24535DEEEA}"/>
              </a:ext>
            </a:extLst>
          </p:cNvPr>
          <p:cNvSpPr txBox="1"/>
          <p:nvPr/>
        </p:nvSpPr>
        <p:spPr>
          <a:xfrm>
            <a:off x="640080" y="1508493"/>
            <a:ext cx="11018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BVH</a:t>
            </a:r>
            <a:r>
              <a:rPr lang="ko-KR" altLang="en-US" b="1" dirty="0"/>
              <a:t>의 트리 품질</a:t>
            </a:r>
            <a:r>
              <a:rPr lang="ko-KR" altLang="en-US" dirty="0"/>
              <a:t>이란</a:t>
            </a:r>
            <a:r>
              <a:rPr lang="en-US" altLang="ko-KR" dirty="0"/>
              <a:t>, “</a:t>
            </a:r>
            <a:r>
              <a:rPr lang="ko-KR" altLang="en-US" dirty="0"/>
              <a:t>주어진 오브젝트 집합을 얼마나 효율적으로 계층 구조로 나누고 오브젝트를 묶어서 불필요한 탐색을 줄이느냐</a:t>
            </a:r>
            <a:r>
              <a:rPr lang="en-US" altLang="ko-KR" dirty="0"/>
              <a:t>”</a:t>
            </a:r>
            <a:r>
              <a:rPr lang="ko-KR" altLang="en-US" dirty="0"/>
              <a:t>를 의미한다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174D2-AA87-649C-F483-9AB5126F0E28}"/>
              </a:ext>
            </a:extLst>
          </p:cNvPr>
          <p:cNvSpPr txBox="1"/>
          <p:nvPr/>
        </p:nvSpPr>
        <p:spPr>
          <a:xfrm>
            <a:off x="5394960" y="2090473"/>
            <a:ext cx="6705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en-US" altLang="ko-KR" sz="1400" dirty="0"/>
              <a:t>Surface Area </a:t>
            </a:r>
            <a:r>
              <a:rPr lang="ko-KR" altLang="en-US" sz="1400" dirty="0"/>
              <a:t>최소화</a:t>
            </a:r>
            <a:endParaRPr lang="en-US" altLang="ko-KR" sz="1400" dirty="0"/>
          </a:p>
          <a:p>
            <a:r>
              <a:rPr lang="ko-KR" altLang="en-US" sz="1400" dirty="0"/>
              <a:t>부모 </a:t>
            </a:r>
            <a:r>
              <a:rPr lang="en-US" altLang="ko-KR" sz="1400" dirty="0"/>
              <a:t>AABB</a:t>
            </a:r>
            <a:r>
              <a:rPr lang="ko-KR" altLang="en-US" sz="1400" dirty="0"/>
              <a:t>의 표면적이 작을수록 교차할 확률이 작아져 전체 방문 수가 감소</a:t>
            </a:r>
            <a:endParaRPr lang="en-US" altLang="ko-KR" sz="1400" dirty="0"/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 dirty="0"/>
              <a:t>(2) AABB</a:t>
            </a:r>
            <a:r>
              <a:rPr lang="ko-KR" altLang="en-US" sz="1400" dirty="0"/>
              <a:t> </a:t>
            </a:r>
            <a:r>
              <a:rPr lang="en-US" altLang="ko-KR" sz="1400" dirty="0"/>
              <a:t>Overlap </a:t>
            </a:r>
            <a:r>
              <a:rPr lang="ko-KR" altLang="en-US" sz="1400" dirty="0"/>
              <a:t>최소화</a:t>
            </a:r>
            <a:endParaRPr lang="en-US" altLang="ko-KR" sz="1400" dirty="0"/>
          </a:p>
          <a:p>
            <a:r>
              <a:rPr lang="ko-KR" altLang="en-US" sz="1400" dirty="0"/>
              <a:t>형제 노드 </a:t>
            </a:r>
            <a:r>
              <a:rPr lang="en-US" altLang="ko-KR" sz="1400" dirty="0"/>
              <a:t>AABB</a:t>
            </a:r>
            <a:r>
              <a:rPr lang="ko-KR" altLang="en-US" sz="1400" dirty="0"/>
              <a:t>가 서로 겹치는 부피</a:t>
            </a:r>
            <a:r>
              <a:rPr lang="en-US" altLang="ko-KR" sz="1400" dirty="0"/>
              <a:t>(Volume)</a:t>
            </a:r>
            <a:r>
              <a:rPr lang="ko-KR" altLang="en-US" sz="1400" dirty="0"/>
              <a:t> 가 작을수록 좋음</a:t>
            </a:r>
            <a:r>
              <a:rPr lang="en-US" altLang="ko-KR" sz="1400" dirty="0"/>
              <a:t>. </a:t>
            </a:r>
            <a:r>
              <a:rPr lang="ko-KR" altLang="en-US" sz="1400" dirty="0"/>
              <a:t>작은 부분에서 겹칠 수는 있으나  많으면 비슷한 영역이므로 다른 자식도 방문해야 하는 경우가 많아져 효율이 급감</a:t>
            </a:r>
            <a:r>
              <a:rPr lang="en-US" altLang="ko-KR" sz="1400" dirty="0"/>
              <a:t>.(</a:t>
            </a:r>
            <a:r>
              <a:rPr lang="ko-KR" altLang="en-US" sz="1400" dirty="0"/>
              <a:t>가지치기 실패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(3) </a:t>
            </a:r>
            <a:r>
              <a:rPr lang="ko-KR" altLang="en-US" sz="1400" dirty="0"/>
              <a:t>균형 잡힌 깊이 </a:t>
            </a:r>
            <a:r>
              <a:rPr lang="en-US" altLang="ko-KR" sz="1400" dirty="0"/>
              <a:t>(Balanced Depth)</a:t>
            </a:r>
          </a:p>
          <a:p>
            <a:r>
              <a:rPr lang="ko-KR" altLang="en-US" sz="1400" dirty="0"/>
              <a:t>트리의 좌우 서브 트리 깊이 차이가 너무 크면 노드 방문</a:t>
            </a:r>
            <a:r>
              <a:rPr lang="en-US" altLang="ko-KR" sz="1400" dirty="0"/>
              <a:t>(</a:t>
            </a:r>
            <a:r>
              <a:rPr lang="ko-KR" altLang="en-US" sz="1400" dirty="0"/>
              <a:t>교차테스트</a:t>
            </a:r>
            <a:r>
              <a:rPr lang="en-US" altLang="ko-KR" sz="1400" dirty="0"/>
              <a:t>)</a:t>
            </a:r>
            <a:r>
              <a:rPr lang="ko-KR" altLang="en-US" sz="1400" dirty="0"/>
              <a:t>증가</a:t>
            </a:r>
            <a:r>
              <a:rPr lang="en-US" altLang="ko-KR" sz="1400" dirty="0"/>
              <a:t> </a:t>
            </a:r>
            <a:r>
              <a:rPr lang="ko-KR" altLang="en-US" sz="1400" dirty="0"/>
              <a:t>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(4) </a:t>
            </a:r>
            <a:r>
              <a:rPr lang="ko-KR" altLang="en-US" sz="1400" dirty="0"/>
              <a:t>리프당 오브젝트 수 최적화</a:t>
            </a:r>
            <a:endParaRPr lang="en-US" altLang="ko-KR" sz="1400" dirty="0"/>
          </a:p>
          <a:p>
            <a:r>
              <a:rPr lang="ko-KR" altLang="en-US" sz="1400" dirty="0"/>
              <a:t>리프에 포함된 오브젝트가 너무 많으면 내부 검사 과다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/>
              <a:t>너무 적으면 노드 수 폭증하여 교차 테스트 증가</a:t>
            </a:r>
            <a:endParaRPr lang="en-US" altLang="ko-KR" sz="14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39355F56-B985-05BA-96FF-C8C56132CCEC}"/>
              </a:ext>
            </a:extLst>
          </p:cNvPr>
          <p:cNvGrpSpPr/>
          <p:nvPr/>
        </p:nvGrpSpPr>
        <p:grpSpPr>
          <a:xfrm>
            <a:off x="91440" y="2736911"/>
            <a:ext cx="2191051" cy="1785656"/>
            <a:chOff x="354360" y="5073816"/>
            <a:chExt cx="2441204" cy="1736994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5C01F321-B125-E713-ADD3-851E840AD2D1}"/>
                </a:ext>
              </a:extLst>
            </p:cNvPr>
            <p:cNvGrpSpPr/>
            <p:nvPr/>
          </p:nvGrpSpPr>
          <p:grpSpPr>
            <a:xfrm>
              <a:off x="380328" y="5902479"/>
              <a:ext cx="2026200" cy="892147"/>
              <a:chOff x="3494412" y="5600728"/>
              <a:chExt cx="2026200" cy="892147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6407793-D706-E96A-F24C-39B193F921D8}"/>
                  </a:ext>
                </a:extLst>
              </p:cNvPr>
              <p:cNvSpPr/>
              <p:nvPr/>
            </p:nvSpPr>
            <p:spPr>
              <a:xfrm>
                <a:off x="3510595" y="5616912"/>
                <a:ext cx="665501" cy="574535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오각형 20">
                <a:extLst>
                  <a:ext uri="{FF2B5EF4-FFF2-40B4-BE49-F238E27FC236}">
                    <a16:creationId xmlns:a16="http://schemas.microsoft.com/office/drawing/2014/main" id="{B67D0B9C-7168-3B48-BD65-7EA6683F01BC}"/>
                  </a:ext>
                </a:extLst>
              </p:cNvPr>
              <p:cNvSpPr/>
              <p:nvPr/>
            </p:nvSpPr>
            <p:spPr>
              <a:xfrm>
                <a:off x="4921801" y="5902156"/>
                <a:ext cx="582626" cy="574535"/>
              </a:xfrm>
              <a:prstGeom prst="pentagon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BAF78F6-F1AB-9BB4-E9D0-340B3DC953D8}"/>
                  </a:ext>
                </a:extLst>
              </p:cNvPr>
              <p:cNvSpPr/>
              <p:nvPr/>
            </p:nvSpPr>
            <p:spPr>
              <a:xfrm>
                <a:off x="3510595" y="5616912"/>
                <a:ext cx="665501" cy="57453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71542E7-731D-23B9-6F47-E331096F0356}"/>
                  </a:ext>
                </a:extLst>
              </p:cNvPr>
              <p:cNvSpPr/>
              <p:nvPr/>
            </p:nvSpPr>
            <p:spPr>
              <a:xfrm>
                <a:off x="4921801" y="5906202"/>
                <a:ext cx="582626" cy="570489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5D44EDB1-000E-E841-C255-72DCE3147523}"/>
                  </a:ext>
                </a:extLst>
              </p:cNvPr>
              <p:cNvSpPr/>
              <p:nvPr/>
            </p:nvSpPr>
            <p:spPr>
              <a:xfrm>
                <a:off x="3494412" y="5600728"/>
                <a:ext cx="2026200" cy="89214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C5B615A-802D-4EFA-DFDF-C71DE355FF14}"/>
                </a:ext>
              </a:extLst>
            </p:cNvPr>
            <p:cNvGrpSpPr/>
            <p:nvPr/>
          </p:nvGrpSpPr>
          <p:grpSpPr>
            <a:xfrm>
              <a:off x="969627" y="5073816"/>
              <a:ext cx="1809753" cy="1733719"/>
              <a:chOff x="6937144" y="5322053"/>
              <a:chExt cx="1796610" cy="1278041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CF58E8F2-E1F8-30A3-270D-9C5EEE11F863}"/>
                  </a:ext>
                </a:extLst>
              </p:cNvPr>
              <p:cNvGrpSpPr/>
              <p:nvPr/>
            </p:nvGrpSpPr>
            <p:grpSpPr>
              <a:xfrm>
                <a:off x="6948001" y="6009375"/>
                <a:ext cx="665501" cy="574535"/>
                <a:chOff x="6939909" y="5825399"/>
                <a:chExt cx="665501" cy="574535"/>
              </a:xfrm>
            </p:grpSpPr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C9DE79FF-9AAA-8EA5-6C89-386BAEBC78BF}"/>
                    </a:ext>
                  </a:extLst>
                </p:cNvPr>
                <p:cNvSpPr/>
                <p:nvPr/>
              </p:nvSpPr>
              <p:spPr>
                <a:xfrm>
                  <a:off x="6939909" y="5825399"/>
                  <a:ext cx="665501" cy="574535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이등변 삼각형 28">
                  <a:extLst>
                    <a:ext uri="{FF2B5EF4-FFF2-40B4-BE49-F238E27FC236}">
                      <a16:creationId xmlns:a16="http://schemas.microsoft.com/office/drawing/2014/main" id="{450571AE-B481-5B81-86FF-639F4DD7EEAA}"/>
                    </a:ext>
                  </a:extLst>
                </p:cNvPr>
                <p:cNvSpPr/>
                <p:nvPr/>
              </p:nvSpPr>
              <p:spPr>
                <a:xfrm>
                  <a:off x="6939909" y="5825399"/>
                  <a:ext cx="665501" cy="574535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F3ED821F-B3E0-27EB-F2BB-9A54B1D3390C}"/>
                  </a:ext>
                </a:extLst>
              </p:cNvPr>
              <p:cNvGrpSpPr/>
              <p:nvPr/>
            </p:nvGrpSpPr>
            <p:grpSpPr>
              <a:xfrm>
                <a:off x="7960604" y="5322053"/>
                <a:ext cx="740782" cy="846583"/>
                <a:chOff x="6939909" y="5709751"/>
                <a:chExt cx="740782" cy="846583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7CBF1165-41CA-861D-9004-A13A6CB0238E}"/>
                    </a:ext>
                  </a:extLst>
                </p:cNvPr>
                <p:cNvSpPr/>
                <p:nvPr/>
              </p:nvSpPr>
              <p:spPr>
                <a:xfrm>
                  <a:off x="6939909" y="5825399"/>
                  <a:ext cx="740782" cy="728166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이등변 삼각형 32">
                  <a:extLst>
                    <a:ext uri="{FF2B5EF4-FFF2-40B4-BE49-F238E27FC236}">
                      <a16:creationId xmlns:a16="http://schemas.microsoft.com/office/drawing/2014/main" id="{BB3D1401-85DB-7C42-3FFF-FC055A5BE02F}"/>
                    </a:ext>
                  </a:extLst>
                </p:cNvPr>
                <p:cNvSpPr/>
                <p:nvPr/>
              </p:nvSpPr>
              <p:spPr>
                <a:xfrm rot="19025059">
                  <a:off x="7043091" y="5709751"/>
                  <a:ext cx="403348" cy="846583"/>
                </a:xfrm>
                <a:prstGeom prst="triangl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E605309C-DFC9-4717-DE11-4E1F96B797E1}"/>
                  </a:ext>
                </a:extLst>
              </p:cNvPr>
              <p:cNvSpPr/>
              <p:nvPr/>
            </p:nvSpPr>
            <p:spPr>
              <a:xfrm>
                <a:off x="6937144" y="5412587"/>
                <a:ext cx="1796610" cy="11875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A1F2DAD-6473-D36B-9B7A-BD6F9D13BE2B}"/>
                </a:ext>
              </a:extLst>
            </p:cNvPr>
            <p:cNvSpPr/>
            <p:nvPr/>
          </p:nvSpPr>
          <p:spPr>
            <a:xfrm>
              <a:off x="354360" y="5179837"/>
              <a:ext cx="2441204" cy="16309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70139A5-5630-79F1-4BB5-9CF0CDBD432E}"/>
              </a:ext>
            </a:extLst>
          </p:cNvPr>
          <p:cNvGrpSpPr/>
          <p:nvPr/>
        </p:nvGrpSpPr>
        <p:grpSpPr>
          <a:xfrm>
            <a:off x="3018963" y="2834056"/>
            <a:ext cx="2200752" cy="1490535"/>
            <a:chOff x="3168690" y="5090562"/>
            <a:chExt cx="2200752" cy="1490535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6334225C-63DC-5508-343C-8FF70D752B82}"/>
                </a:ext>
              </a:extLst>
            </p:cNvPr>
            <p:cNvSpPr/>
            <p:nvPr/>
          </p:nvSpPr>
          <p:spPr>
            <a:xfrm>
              <a:off x="3168690" y="6108622"/>
              <a:ext cx="384620" cy="38425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오각형 38">
              <a:extLst>
                <a:ext uri="{FF2B5EF4-FFF2-40B4-BE49-F238E27FC236}">
                  <a16:creationId xmlns:a16="http://schemas.microsoft.com/office/drawing/2014/main" id="{1B3E323F-48AE-11F3-D219-CF0598769BD1}"/>
                </a:ext>
              </a:extLst>
            </p:cNvPr>
            <p:cNvSpPr/>
            <p:nvPr/>
          </p:nvSpPr>
          <p:spPr>
            <a:xfrm>
              <a:off x="3709285" y="6108622"/>
              <a:ext cx="384620" cy="384253"/>
            </a:xfrm>
            <a:prstGeom prst="pentagon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05914AFA-00CE-5D0D-695B-56F84D3EC068}"/>
                </a:ext>
              </a:extLst>
            </p:cNvPr>
            <p:cNvSpPr/>
            <p:nvPr/>
          </p:nvSpPr>
          <p:spPr>
            <a:xfrm>
              <a:off x="4524874" y="6103184"/>
              <a:ext cx="384620" cy="389691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0BBAD038-ED53-0612-ADB6-3C6FB239F0D7}"/>
                </a:ext>
              </a:extLst>
            </p:cNvPr>
            <p:cNvSpPr/>
            <p:nvPr/>
          </p:nvSpPr>
          <p:spPr>
            <a:xfrm rot="19025059">
              <a:off x="5092060" y="6021653"/>
              <a:ext cx="277382" cy="55944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538E073-0D45-FFEE-49B7-D9789994E3D3}"/>
                </a:ext>
              </a:extLst>
            </p:cNvPr>
            <p:cNvSpPr/>
            <p:nvPr/>
          </p:nvSpPr>
          <p:spPr>
            <a:xfrm>
              <a:off x="3553310" y="5567320"/>
              <a:ext cx="274223" cy="25894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B0EE0C6-F150-E9F9-C20A-728DEC07562D}"/>
                </a:ext>
              </a:extLst>
            </p:cNvPr>
            <p:cNvSpPr/>
            <p:nvPr/>
          </p:nvSpPr>
          <p:spPr>
            <a:xfrm>
              <a:off x="4772480" y="5567319"/>
              <a:ext cx="274223" cy="258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8506228-9B3D-DE1B-C090-470AAD7D6CEB}"/>
                </a:ext>
              </a:extLst>
            </p:cNvPr>
            <p:cNvSpPr/>
            <p:nvPr/>
          </p:nvSpPr>
          <p:spPr>
            <a:xfrm>
              <a:off x="4207769" y="5090562"/>
              <a:ext cx="274223" cy="2589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35C1F4D2-F88C-2363-99C8-C5BB24A24686}"/>
                </a:ext>
              </a:extLst>
            </p:cNvPr>
            <p:cNvCxnSpPr>
              <a:stCxn id="42" idx="2"/>
              <a:endCxn id="38" idx="7"/>
            </p:cNvCxnSpPr>
            <p:nvPr/>
          </p:nvCxnSpPr>
          <p:spPr>
            <a:xfrm flipH="1">
              <a:off x="3496984" y="5826265"/>
              <a:ext cx="193438" cy="3386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30001CDB-6E90-7F16-A16F-3DE2C111E42D}"/>
                </a:ext>
              </a:extLst>
            </p:cNvPr>
            <p:cNvCxnSpPr>
              <a:cxnSpLocks/>
              <a:stCxn id="42" idx="2"/>
              <a:endCxn id="39" idx="0"/>
            </p:cNvCxnSpPr>
            <p:nvPr/>
          </p:nvCxnSpPr>
          <p:spPr>
            <a:xfrm>
              <a:off x="3690422" y="5826265"/>
              <a:ext cx="211173" cy="2823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61B23981-3D57-092A-D7DE-750ECC1DDDFC}"/>
                </a:ext>
              </a:extLst>
            </p:cNvPr>
            <p:cNvCxnSpPr>
              <a:cxnSpLocks/>
              <a:stCxn id="43" idx="2"/>
              <a:endCxn id="40" idx="0"/>
            </p:cNvCxnSpPr>
            <p:nvPr/>
          </p:nvCxnSpPr>
          <p:spPr>
            <a:xfrm flipH="1">
              <a:off x="4717184" y="5826264"/>
              <a:ext cx="192408" cy="2769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B8891B76-C9DD-CC9C-5478-7B720C9A3D85}"/>
                </a:ext>
              </a:extLst>
            </p:cNvPr>
            <p:cNvCxnSpPr>
              <a:cxnSpLocks/>
              <a:stCxn id="43" idx="2"/>
              <a:endCxn id="41" idx="5"/>
            </p:cNvCxnSpPr>
            <p:nvPr/>
          </p:nvCxnSpPr>
          <p:spPr>
            <a:xfrm>
              <a:off x="4909592" y="5826264"/>
              <a:ext cx="371945" cy="4278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8386BED-19E0-14B4-37DA-EA169062B960}"/>
                </a:ext>
              </a:extLst>
            </p:cNvPr>
            <p:cNvCxnSpPr>
              <a:cxnSpLocks/>
              <a:stCxn id="44" idx="2"/>
              <a:endCxn id="42" idx="0"/>
            </p:cNvCxnSpPr>
            <p:nvPr/>
          </p:nvCxnSpPr>
          <p:spPr>
            <a:xfrm flipH="1">
              <a:off x="3690422" y="5349507"/>
              <a:ext cx="654459" cy="2178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961B5E52-F125-54D8-0C99-F45E2047AF2E}"/>
                </a:ext>
              </a:extLst>
            </p:cNvPr>
            <p:cNvCxnSpPr>
              <a:cxnSpLocks/>
              <a:stCxn id="44" idx="2"/>
              <a:endCxn id="43" idx="0"/>
            </p:cNvCxnSpPr>
            <p:nvPr/>
          </p:nvCxnSpPr>
          <p:spPr>
            <a:xfrm>
              <a:off x="4344881" y="5349507"/>
              <a:ext cx="564711" cy="2178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B62EDB7-0106-D2C2-C72D-9F4B6AF3F5A0}"/>
              </a:ext>
            </a:extLst>
          </p:cNvPr>
          <p:cNvSpPr txBox="1"/>
          <p:nvPr/>
        </p:nvSpPr>
        <p:spPr>
          <a:xfrm>
            <a:off x="2402425" y="2931791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저 품질 구조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C6C23297-D6AC-C645-2586-5B68E8DD4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64" y="4801557"/>
            <a:ext cx="2428032" cy="18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92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3E731-D06F-C672-E97B-DC8B3AF7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 구축 방식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ABB80-840C-75A0-8563-C84265E16E27}"/>
              </a:ext>
            </a:extLst>
          </p:cNvPr>
          <p:cNvSpPr txBox="1"/>
          <p:nvPr/>
        </p:nvSpPr>
        <p:spPr>
          <a:xfrm>
            <a:off x="4528047" y="2132760"/>
            <a:ext cx="77170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상향식</a:t>
            </a:r>
            <a:r>
              <a:rPr lang="en-US" altLang="ko-KR" dirty="0"/>
              <a:t>(</a:t>
            </a:r>
            <a:r>
              <a:rPr lang="ko-KR" altLang="en-US" dirty="0"/>
              <a:t>정적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리프 노드를 만들면서 부모 노드 생성하는 방식 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하향식</a:t>
            </a:r>
            <a:r>
              <a:rPr lang="en-US" altLang="ko-KR" dirty="0"/>
              <a:t>(</a:t>
            </a:r>
            <a:r>
              <a:rPr lang="ko-KR" altLang="en-US" dirty="0"/>
              <a:t>정적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긴 축 정렬을 하면서 분할점에 따라 자식 노드를 추가 하는 방식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 err="1"/>
              <a:t>오브젝트수</a:t>
            </a:r>
            <a:r>
              <a:rPr lang="ko-KR" altLang="en-US" dirty="0"/>
              <a:t> </a:t>
            </a:r>
            <a:r>
              <a:rPr lang="en-US" altLang="ko-KR" dirty="0"/>
              <a:t>½ </a:t>
            </a:r>
            <a:r>
              <a:rPr lang="ko-KR" altLang="en-US" dirty="0" err="1"/>
              <a:t>분할점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중간거리 </a:t>
            </a:r>
            <a:r>
              <a:rPr lang="ko-KR" altLang="en-US" dirty="0" err="1"/>
              <a:t>분할점</a:t>
            </a:r>
            <a:br>
              <a:rPr lang="en-US" altLang="ko-KR" dirty="0"/>
            </a:br>
            <a:r>
              <a:rPr lang="en-US" altLang="ko-KR" dirty="0"/>
              <a:t>3) SAH(Surface Area </a:t>
            </a:r>
            <a:r>
              <a:rPr lang="en-US" altLang="ko-KR" dirty="0" err="1"/>
              <a:t>Huristic</a:t>
            </a:r>
            <a:r>
              <a:rPr lang="en-US" altLang="ko-KR" dirty="0"/>
              <a:t>) </a:t>
            </a:r>
            <a:r>
              <a:rPr lang="ko-KR" altLang="en-US" dirty="0"/>
              <a:t>최적분할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추가식</a:t>
            </a:r>
            <a:r>
              <a:rPr lang="en-US" altLang="ko-KR" dirty="0"/>
              <a:t>(</a:t>
            </a:r>
            <a:r>
              <a:rPr lang="ko-KR" altLang="en-US" dirty="0"/>
              <a:t>동적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개씩 추가하면서  트리를 점차 구성하는 방식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24C871-912A-8655-1AFB-F71D546F9D19}"/>
              </a:ext>
            </a:extLst>
          </p:cNvPr>
          <p:cNvGrpSpPr/>
          <p:nvPr/>
        </p:nvGrpSpPr>
        <p:grpSpPr>
          <a:xfrm>
            <a:off x="975937" y="1629486"/>
            <a:ext cx="2200752" cy="1490535"/>
            <a:chOff x="3168690" y="5090562"/>
            <a:chExt cx="2200752" cy="1490535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C3FD6E4-90BB-15F8-3A1D-699D01C3D51E}"/>
                </a:ext>
              </a:extLst>
            </p:cNvPr>
            <p:cNvSpPr/>
            <p:nvPr/>
          </p:nvSpPr>
          <p:spPr>
            <a:xfrm>
              <a:off x="3168690" y="6108622"/>
              <a:ext cx="384620" cy="38425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오각형 7">
              <a:extLst>
                <a:ext uri="{FF2B5EF4-FFF2-40B4-BE49-F238E27FC236}">
                  <a16:creationId xmlns:a16="http://schemas.microsoft.com/office/drawing/2014/main" id="{C0DF30B2-8553-59EA-05A5-C532E8F56581}"/>
                </a:ext>
              </a:extLst>
            </p:cNvPr>
            <p:cNvSpPr/>
            <p:nvPr/>
          </p:nvSpPr>
          <p:spPr>
            <a:xfrm>
              <a:off x="3709285" y="6108622"/>
              <a:ext cx="384620" cy="384253"/>
            </a:xfrm>
            <a:prstGeom prst="pentagon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207E93C1-58FD-9063-5ED3-71D1698228FA}"/>
                </a:ext>
              </a:extLst>
            </p:cNvPr>
            <p:cNvSpPr/>
            <p:nvPr/>
          </p:nvSpPr>
          <p:spPr>
            <a:xfrm>
              <a:off x="4524874" y="6103184"/>
              <a:ext cx="384620" cy="389691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ED314158-8A93-6C21-A94B-554B52211EF3}"/>
                </a:ext>
              </a:extLst>
            </p:cNvPr>
            <p:cNvSpPr/>
            <p:nvPr/>
          </p:nvSpPr>
          <p:spPr>
            <a:xfrm rot="19025059">
              <a:off x="5092060" y="6021653"/>
              <a:ext cx="277382" cy="55944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B6D15F6-0646-E23A-5306-90808C4EE53F}"/>
                </a:ext>
              </a:extLst>
            </p:cNvPr>
            <p:cNvSpPr/>
            <p:nvPr/>
          </p:nvSpPr>
          <p:spPr>
            <a:xfrm>
              <a:off x="3553310" y="5567320"/>
              <a:ext cx="274223" cy="25894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67322B7-5207-1DD5-515E-5E2C4D1BE35F}"/>
                </a:ext>
              </a:extLst>
            </p:cNvPr>
            <p:cNvSpPr/>
            <p:nvPr/>
          </p:nvSpPr>
          <p:spPr>
            <a:xfrm>
              <a:off x="4772480" y="5567319"/>
              <a:ext cx="274223" cy="258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3FC423B-079C-BF2E-0013-225CD76423B0}"/>
                </a:ext>
              </a:extLst>
            </p:cNvPr>
            <p:cNvSpPr/>
            <p:nvPr/>
          </p:nvSpPr>
          <p:spPr>
            <a:xfrm>
              <a:off x="4207769" y="5090562"/>
              <a:ext cx="274223" cy="2589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9073446F-6B05-BE53-36D1-35FCEBF7DA92}"/>
                </a:ext>
              </a:extLst>
            </p:cNvPr>
            <p:cNvCxnSpPr>
              <a:stCxn id="11" idx="2"/>
              <a:endCxn id="7" idx="7"/>
            </p:cNvCxnSpPr>
            <p:nvPr/>
          </p:nvCxnSpPr>
          <p:spPr>
            <a:xfrm flipH="1">
              <a:off x="3496984" y="5826265"/>
              <a:ext cx="193438" cy="3386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2ACC022-4BDE-186D-8C30-4E03CD5E805B}"/>
                </a:ext>
              </a:extLst>
            </p:cNvPr>
            <p:cNvCxnSpPr>
              <a:cxnSpLocks/>
              <a:stCxn id="11" idx="2"/>
              <a:endCxn id="8" idx="0"/>
            </p:cNvCxnSpPr>
            <p:nvPr/>
          </p:nvCxnSpPr>
          <p:spPr>
            <a:xfrm>
              <a:off x="3690422" y="5826265"/>
              <a:ext cx="211173" cy="2823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71AA59B-AB16-22F4-BEF6-6BF4402C3770}"/>
                </a:ext>
              </a:extLst>
            </p:cNvPr>
            <p:cNvCxnSpPr>
              <a:cxnSpLocks/>
              <a:stCxn id="12" idx="2"/>
              <a:endCxn id="9" idx="0"/>
            </p:cNvCxnSpPr>
            <p:nvPr/>
          </p:nvCxnSpPr>
          <p:spPr>
            <a:xfrm flipH="1">
              <a:off x="4717184" y="5826264"/>
              <a:ext cx="192408" cy="2769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F02A89B-B8AA-6662-A6D8-29F29D46207E}"/>
                </a:ext>
              </a:extLst>
            </p:cNvPr>
            <p:cNvCxnSpPr>
              <a:cxnSpLocks/>
              <a:stCxn id="12" idx="2"/>
              <a:endCxn id="10" idx="5"/>
            </p:cNvCxnSpPr>
            <p:nvPr/>
          </p:nvCxnSpPr>
          <p:spPr>
            <a:xfrm>
              <a:off x="4909592" y="5826264"/>
              <a:ext cx="371945" cy="4278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AAB7F7F0-CB4C-6FEA-03A5-69850ABC9669}"/>
                </a:ext>
              </a:extLst>
            </p:cNvPr>
            <p:cNvCxnSpPr>
              <a:cxnSpLocks/>
              <a:stCxn id="13" idx="2"/>
              <a:endCxn id="11" idx="0"/>
            </p:cNvCxnSpPr>
            <p:nvPr/>
          </p:nvCxnSpPr>
          <p:spPr>
            <a:xfrm flipH="1">
              <a:off x="3690422" y="5349507"/>
              <a:ext cx="654459" cy="2178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E64C544-92E0-DC1A-7FB3-F45D5C1385BD}"/>
                </a:ext>
              </a:extLst>
            </p:cNvPr>
            <p:cNvCxnSpPr>
              <a:cxnSpLocks/>
              <a:stCxn id="13" idx="2"/>
              <a:endCxn id="12" idx="0"/>
            </p:cNvCxnSpPr>
            <p:nvPr/>
          </p:nvCxnSpPr>
          <p:spPr>
            <a:xfrm>
              <a:off x="4344881" y="5349507"/>
              <a:ext cx="564711" cy="2178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E45A927-A848-71F9-7192-E9052E24DB32}"/>
              </a:ext>
            </a:extLst>
          </p:cNvPr>
          <p:cNvGrpSpPr/>
          <p:nvPr/>
        </p:nvGrpSpPr>
        <p:grpSpPr>
          <a:xfrm>
            <a:off x="371207" y="3554136"/>
            <a:ext cx="3557836" cy="2710322"/>
            <a:chOff x="-112460" y="2044506"/>
            <a:chExt cx="4398888" cy="3167716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F154F54-F4BE-1B66-A7ED-11F1010FC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271" y="2044506"/>
              <a:ext cx="3854157" cy="301629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7D9C192-0492-3F92-A527-B7048747499F}"/>
                    </a:ext>
                  </a:extLst>
                </p:cNvPr>
                <p:cNvSpPr txBox="1"/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7D9C192-0492-3F92-A527-B704874749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blipFill>
                  <a:blip r:embed="rId3"/>
                  <a:stretch>
                    <a:fillRect b="-930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ABC4F71-6758-4A5F-A1DC-6DA737EF9F0D}"/>
                    </a:ext>
                  </a:extLst>
                </p:cNvPr>
                <p:cNvSpPr txBox="1"/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ABC4F71-6758-4A5F-A1DC-6DA737EF9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blipFill>
                  <a:blip r:embed="rId4"/>
                  <a:stretch>
                    <a:fillRect b="-1395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78DCD69-419E-6500-559A-4EEFCBA1F72F}"/>
                    </a:ext>
                  </a:extLst>
                </p:cNvPr>
                <p:cNvSpPr txBox="1"/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78DCD69-419E-6500-559A-4EEFCBA1F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blipFill>
                  <a:blip r:embed="rId5"/>
                  <a:stretch>
                    <a:fillRect b="-209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2FA85D2-8974-FA86-AA3E-08FF4F3B484B}"/>
                    </a:ext>
                  </a:extLst>
                </p:cNvPr>
                <p:cNvSpPr txBox="1"/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2FA85D2-8974-FA86-AA3E-08FF4F3B4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blipFill>
                  <a:blip r:embed="rId6"/>
                  <a:stretch>
                    <a:fillRect b="-209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525518-653B-B6F7-815E-55588B878A36}"/>
                </a:ext>
              </a:extLst>
            </p:cNvPr>
            <p:cNvSpPr txBox="1"/>
            <p:nvPr/>
          </p:nvSpPr>
          <p:spPr>
            <a:xfrm>
              <a:off x="2056062" y="2497499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AD4F81-A373-EF1F-64E5-B0007632D065}"/>
                </a:ext>
              </a:extLst>
            </p:cNvPr>
            <p:cNvSpPr txBox="1"/>
            <p:nvPr/>
          </p:nvSpPr>
          <p:spPr>
            <a:xfrm>
              <a:off x="2207706" y="305016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895420-81E7-5640-C6DD-A67C7D9FE91D}"/>
                </a:ext>
              </a:extLst>
            </p:cNvPr>
            <p:cNvSpPr txBox="1"/>
            <p:nvPr/>
          </p:nvSpPr>
          <p:spPr>
            <a:xfrm>
              <a:off x="2402862" y="3429000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44B560-6807-3AF2-2A12-C2D23B006983}"/>
                </a:ext>
              </a:extLst>
            </p:cNvPr>
            <p:cNvSpPr txBox="1"/>
            <p:nvPr/>
          </p:nvSpPr>
          <p:spPr>
            <a:xfrm>
              <a:off x="3416395" y="380739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A3B9A4-15BF-8AAF-8667-6AADE7AD96F8}"/>
                </a:ext>
              </a:extLst>
            </p:cNvPr>
            <p:cNvSpPr txBox="1"/>
            <p:nvPr/>
          </p:nvSpPr>
          <p:spPr>
            <a:xfrm>
              <a:off x="1731481" y="4008964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EE5B4AA-DDC0-A4ED-5114-F2D875F90027}"/>
                </a:ext>
              </a:extLst>
            </p:cNvPr>
            <p:cNvSpPr txBox="1"/>
            <p:nvPr/>
          </p:nvSpPr>
          <p:spPr>
            <a:xfrm>
              <a:off x="2934580" y="427080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4222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B213F-C085-5E3C-AE3D-779B8B85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하향식 </a:t>
            </a:r>
            <a:r>
              <a:rPr lang="en-US" altLang="ko-KR" dirty="0"/>
              <a:t>– </a:t>
            </a:r>
            <a:r>
              <a:rPr lang="ko-KR" altLang="en-US" dirty="0"/>
              <a:t>오브젝트 수 </a:t>
            </a:r>
            <a:r>
              <a:rPr lang="ko-KR" altLang="en-US" dirty="0" err="1"/>
              <a:t>분할점</a:t>
            </a:r>
            <a:r>
              <a:rPr lang="ko-KR" altLang="en-US" dirty="0"/>
              <a:t> 결정 방식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574E72-A606-D8C4-4C50-B8DFA48BAFED}"/>
              </a:ext>
            </a:extLst>
          </p:cNvPr>
          <p:cNvSpPr txBox="1"/>
          <p:nvPr/>
        </p:nvSpPr>
        <p:spPr>
          <a:xfrm>
            <a:off x="574675" y="1535526"/>
            <a:ext cx="249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vector&lt;AABB&gt; array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83F45D-CBAA-D317-8176-7D1EBDCC6B57}"/>
              </a:ext>
            </a:extLst>
          </p:cNvPr>
          <p:cNvSpPr txBox="1"/>
          <p:nvPr/>
        </p:nvSpPr>
        <p:spPr>
          <a:xfrm>
            <a:off x="4125968" y="2263329"/>
            <a:ext cx="5762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구현이 쉽도록 자식이 </a:t>
            </a:r>
            <a:r>
              <a:rPr lang="en-US" altLang="ko-KR" sz="1200" dirty="0"/>
              <a:t>2</a:t>
            </a:r>
            <a:r>
              <a:rPr lang="ko-KR" altLang="en-US" sz="1200" dirty="0"/>
              <a:t>노드인 </a:t>
            </a:r>
            <a:r>
              <a:rPr lang="en-US" altLang="ko-KR" sz="1200" dirty="0"/>
              <a:t>BVH2</a:t>
            </a:r>
            <a:r>
              <a:rPr lang="ko-KR" altLang="en-US" sz="1200" dirty="0"/>
              <a:t>트리로 구성</a:t>
            </a:r>
            <a:r>
              <a:rPr lang="en-US" altLang="ko-KR" sz="1200" dirty="0"/>
              <a:t> </a:t>
            </a:r>
          </a:p>
          <a:p>
            <a:r>
              <a:rPr lang="ko-KR" altLang="en-US" sz="1200" dirty="0" err="1"/>
              <a:t>리프노드가</a:t>
            </a:r>
            <a:r>
              <a:rPr lang="en-US" altLang="ko-KR" sz="1200" dirty="0"/>
              <a:t> </a:t>
            </a:r>
            <a:r>
              <a:rPr lang="ko-KR" altLang="en-US" sz="1200" dirty="0"/>
              <a:t>포함하는 오브젝트 또는 </a:t>
            </a:r>
            <a:r>
              <a:rPr lang="en-US" altLang="ko-KR" sz="1200" dirty="0"/>
              <a:t>AABB</a:t>
            </a:r>
            <a:r>
              <a:rPr lang="ko-KR" altLang="en-US" sz="1200" dirty="0"/>
              <a:t>의 개수는 편의상 최대 </a:t>
            </a:r>
            <a:r>
              <a:rPr lang="en-US" altLang="ko-KR" sz="1200" dirty="0"/>
              <a:t>2</a:t>
            </a:r>
            <a:r>
              <a:rPr lang="ko-KR" altLang="en-US" sz="1200" dirty="0"/>
              <a:t>개</a:t>
            </a:r>
            <a:endParaRPr lang="en-US" altLang="ko-KR" sz="12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82984B4C-6402-3509-DFEF-548296BFC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48755"/>
              </p:ext>
            </p:extLst>
          </p:nvPr>
        </p:nvGraphicFramePr>
        <p:xfrm>
          <a:off x="5031300" y="4266395"/>
          <a:ext cx="220261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pSp>
        <p:nvGrpSpPr>
          <p:cNvPr id="89" name="그룹 88">
            <a:extLst>
              <a:ext uri="{FF2B5EF4-FFF2-40B4-BE49-F238E27FC236}">
                <a16:creationId xmlns:a16="http://schemas.microsoft.com/office/drawing/2014/main" id="{11A49EEC-D292-B3B6-4DD1-0E13F48F0E7E}"/>
              </a:ext>
            </a:extLst>
          </p:cNvPr>
          <p:cNvGrpSpPr/>
          <p:nvPr/>
        </p:nvGrpSpPr>
        <p:grpSpPr>
          <a:xfrm>
            <a:off x="-68326" y="2106578"/>
            <a:ext cx="3557836" cy="2710322"/>
            <a:chOff x="-112460" y="2044506"/>
            <a:chExt cx="4398888" cy="31677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C47CEED-F4FA-7175-32B2-41D03D3B6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271" y="2044506"/>
              <a:ext cx="3854157" cy="301629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29146B-7D31-E7C4-5F1B-6A6C1873DF18}"/>
                    </a:ext>
                  </a:extLst>
                </p:cNvPr>
                <p:cNvSpPr txBox="1"/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29146B-7D31-E7C4-5F1B-6A6C1873D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blipFill>
                  <a:blip r:embed="rId3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34363C7-853D-1745-2643-D0BDC5173357}"/>
                    </a:ext>
                  </a:extLst>
                </p:cNvPr>
                <p:cNvSpPr txBox="1"/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34363C7-853D-1745-2643-D0BDC5173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66D0A6F-253A-DCC7-F72E-D051BB8F3AA7}"/>
                    </a:ext>
                  </a:extLst>
                </p:cNvPr>
                <p:cNvSpPr txBox="1"/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66D0A6F-253A-DCC7-F72E-D051BB8F3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blipFill>
                  <a:blip r:embed="rId5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8F93D4-99C1-6606-091F-3670F5E99844}"/>
                    </a:ext>
                  </a:extLst>
                </p:cNvPr>
                <p:cNvSpPr txBox="1"/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8F93D4-99C1-6606-091F-3670F5E99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075C23A-2A06-9FF3-5583-A2338124E6E3}"/>
                </a:ext>
              </a:extLst>
            </p:cNvPr>
            <p:cNvSpPr txBox="1"/>
            <p:nvPr/>
          </p:nvSpPr>
          <p:spPr>
            <a:xfrm>
              <a:off x="2056062" y="2497499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5BEB6C-412E-E2B8-C3F9-A969A452BB6A}"/>
                </a:ext>
              </a:extLst>
            </p:cNvPr>
            <p:cNvSpPr txBox="1"/>
            <p:nvPr/>
          </p:nvSpPr>
          <p:spPr>
            <a:xfrm>
              <a:off x="2207706" y="305016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8764548-E9FC-79D7-F07F-1C9B29A20C34}"/>
                </a:ext>
              </a:extLst>
            </p:cNvPr>
            <p:cNvSpPr txBox="1"/>
            <p:nvPr/>
          </p:nvSpPr>
          <p:spPr>
            <a:xfrm>
              <a:off x="2402862" y="3429000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7EF78B8-AD3B-E5E6-49AE-E235BBB9D808}"/>
                </a:ext>
              </a:extLst>
            </p:cNvPr>
            <p:cNvSpPr txBox="1"/>
            <p:nvPr/>
          </p:nvSpPr>
          <p:spPr>
            <a:xfrm>
              <a:off x="3416395" y="380739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C3D9DDF-ED8B-D10A-78D4-FF6115C37C2B}"/>
                </a:ext>
              </a:extLst>
            </p:cNvPr>
            <p:cNvSpPr txBox="1"/>
            <p:nvPr/>
          </p:nvSpPr>
          <p:spPr>
            <a:xfrm>
              <a:off x="1731481" y="4008964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7149438-596D-2FCA-F8E4-7C641682D9C4}"/>
                </a:ext>
              </a:extLst>
            </p:cNvPr>
            <p:cNvSpPr txBox="1"/>
            <p:nvPr/>
          </p:nvSpPr>
          <p:spPr>
            <a:xfrm>
              <a:off x="2934580" y="427080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</p:grp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5A331AA9-4BAE-07B3-8D08-DC0693322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205786"/>
              </p:ext>
            </p:extLst>
          </p:nvPr>
        </p:nvGraphicFramePr>
        <p:xfrm>
          <a:off x="4478649" y="5000484"/>
          <a:ext cx="110130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BEDEE197-3871-3D8F-B610-82BCE7E29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61493"/>
              </p:ext>
            </p:extLst>
          </p:nvPr>
        </p:nvGraphicFramePr>
        <p:xfrm>
          <a:off x="6408217" y="5000484"/>
          <a:ext cx="110130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5658C4F4-0567-0751-1098-0B1E829CE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286139"/>
              </p:ext>
            </p:extLst>
          </p:nvPr>
        </p:nvGraphicFramePr>
        <p:xfrm>
          <a:off x="4064668" y="5755501"/>
          <a:ext cx="367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5512334C-DEDD-2D55-11F2-6A6A1129D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77120"/>
              </p:ext>
            </p:extLst>
          </p:nvPr>
        </p:nvGraphicFramePr>
        <p:xfrm>
          <a:off x="4696001" y="5755501"/>
          <a:ext cx="73420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3D9AF5AA-48E6-8AED-C602-9D52FC24A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481018"/>
              </p:ext>
            </p:extLst>
          </p:nvPr>
        </p:nvGraphicFramePr>
        <p:xfrm>
          <a:off x="6283012" y="5755501"/>
          <a:ext cx="367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8269D36D-93DF-CD7D-796D-93A31CADC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60425"/>
              </p:ext>
            </p:extLst>
          </p:nvPr>
        </p:nvGraphicFramePr>
        <p:xfrm>
          <a:off x="7356162" y="5744915"/>
          <a:ext cx="73420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D3FAD6C0-F44E-6EAF-5A2F-39DC8DBDCC40}"/>
              </a:ext>
            </a:extLst>
          </p:cNvPr>
          <p:cNvSpPr txBox="1"/>
          <p:nvPr/>
        </p:nvSpPr>
        <p:spPr>
          <a:xfrm>
            <a:off x="4168814" y="3783061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y</a:t>
            </a:r>
            <a:r>
              <a:rPr lang="ko-KR" altLang="en-US" sz="1200" dirty="0"/>
              <a:t>축 정렬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441B43-B9D6-1023-5678-E026255FFFC1}"/>
              </a:ext>
            </a:extLst>
          </p:cNvPr>
          <p:cNvSpPr txBox="1"/>
          <p:nvPr/>
        </p:nvSpPr>
        <p:spPr>
          <a:xfrm>
            <a:off x="4092008" y="4522484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x</a:t>
            </a:r>
            <a:r>
              <a:rPr lang="ko-KR" altLang="en-US" sz="1200" dirty="0"/>
              <a:t>축 정렬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D91790-E1CD-D0BA-D9DD-B7954562514E}"/>
              </a:ext>
            </a:extLst>
          </p:cNvPr>
          <p:cNvSpPr txBox="1"/>
          <p:nvPr/>
        </p:nvSpPr>
        <p:spPr>
          <a:xfrm>
            <a:off x="7232585" y="4532579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y</a:t>
            </a:r>
            <a:r>
              <a:rPr lang="ko-KR" altLang="en-US" sz="1200" dirty="0"/>
              <a:t>축 정렬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BDAF652D-79A4-44B0-55E4-F6C599A88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129508"/>
              </p:ext>
            </p:extLst>
          </p:nvPr>
        </p:nvGraphicFramePr>
        <p:xfrm>
          <a:off x="5031300" y="3267703"/>
          <a:ext cx="220261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03E27BC4-AA48-7DBF-C3BA-C663DFEE9544}"/>
              </a:ext>
            </a:extLst>
          </p:cNvPr>
          <p:cNvSpPr txBox="1"/>
          <p:nvPr/>
        </p:nvSpPr>
        <p:spPr>
          <a:xfrm>
            <a:off x="5623167" y="284460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초기배열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C6C34BA-B7C3-3D3D-F0F4-E831420221CD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5029303" y="4632155"/>
            <a:ext cx="550655" cy="368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0B450E6-DF5E-C6BE-31F9-99394E6C670E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6562228" y="4644772"/>
            <a:ext cx="396643" cy="3557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6538638-7D1E-A602-85CC-46B5F0D5C07D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 flipH="1">
            <a:off x="4248219" y="5366244"/>
            <a:ext cx="781084" cy="389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7495EDC-3461-8E05-DC91-0D3AF99836CD}"/>
              </a:ext>
            </a:extLst>
          </p:cNvPr>
          <p:cNvCxnSpPr>
            <a:cxnSpLocks/>
            <a:stCxn id="41" idx="2"/>
            <a:endCxn id="44" idx="0"/>
          </p:cNvCxnSpPr>
          <p:nvPr/>
        </p:nvCxnSpPr>
        <p:spPr>
          <a:xfrm>
            <a:off x="5029303" y="5366244"/>
            <a:ext cx="33801" cy="389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E4BF4FF-26B1-D2CB-89F3-ADB501C1A160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6466563" y="5366244"/>
            <a:ext cx="439923" cy="389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7EA59FC-4A1B-8B70-60BD-28E905B5CABF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>
            <a:off x="6958871" y="5366244"/>
            <a:ext cx="764394" cy="378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대각선 줄무늬 99">
            <a:extLst>
              <a:ext uri="{FF2B5EF4-FFF2-40B4-BE49-F238E27FC236}">
                <a16:creationId xmlns:a16="http://schemas.microsoft.com/office/drawing/2014/main" id="{F5C45C7E-9125-2D7E-9DDB-A5D90966C8E2}"/>
              </a:ext>
            </a:extLst>
          </p:cNvPr>
          <p:cNvSpPr/>
          <p:nvPr/>
        </p:nvSpPr>
        <p:spPr>
          <a:xfrm>
            <a:off x="6099980" y="4107714"/>
            <a:ext cx="61264" cy="674626"/>
          </a:xfrm>
          <a:prstGeom prst="diagStrip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대각선 줄무늬 100">
            <a:extLst>
              <a:ext uri="{FF2B5EF4-FFF2-40B4-BE49-F238E27FC236}">
                <a16:creationId xmlns:a16="http://schemas.microsoft.com/office/drawing/2014/main" id="{28CBC9FF-5EC0-F5D1-4096-91C348344086}"/>
              </a:ext>
            </a:extLst>
          </p:cNvPr>
          <p:cNvSpPr/>
          <p:nvPr/>
        </p:nvSpPr>
        <p:spPr>
          <a:xfrm>
            <a:off x="4820877" y="4831140"/>
            <a:ext cx="61264" cy="674626"/>
          </a:xfrm>
          <a:prstGeom prst="diagStrip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2" name="대각선 줄무늬 101">
            <a:extLst>
              <a:ext uri="{FF2B5EF4-FFF2-40B4-BE49-F238E27FC236}">
                <a16:creationId xmlns:a16="http://schemas.microsoft.com/office/drawing/2014/main" id="{EC0C55D6-DD20-8396-F820-414A1EE07537}"/>
              </a:ext>
            </a:extLst>
          </p:cNvPr>
          <p:cNvSpPr/>
          <p:nvPr/>
        </p:nvSpPr>
        <p:spPr>
          <a:xfrm>
            <a:off x="6760549" y="4846051"/>
            <a:ext cx="61264" cy="674626"/>
          </a:xfrm>
          <a:prstGeom prst="diagStrip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9794AD-B17F-55BF-7BA8-974AB4ECB1CA}"/>
              </a:ext>
            </a:extLst>
          </p:cNvPr>
          <p:cNvSpPr txBox="1"/>
          <p:nvPr/>
        </p:nvSpPr>
        <p:spPr>
          <a:xfrm>
            <a:off x="5650527" y="4008761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 AABB</a:t>
            </a:r>
            <a:endParaRPr lang="ko-KR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D7CD5B8-5EC7-8755-27EE-BBA074E5EA94}"/>
              </a:ext>
            </a:extLst>
          </p:cNvPr>
          <p:cNvSpPr txBox="1"/>
          <p:nvPr/>
        </p:nvSpPr>
        <p:spPr>
          <a:xfrm>
            <a:off x="6496371" y="4767865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 AABB</a:t>
            </a:r>
            <a:endParaRPr lang="ko-KR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ADF3881-F9D9-F2DD-69F9-7937312ED9C6}"/>
              </a:ext>
            </a:extLst>
          </p:cNvPr>
          <p:cNvSpPr txBox="1"/>
          <p:nvPr/>
        </p:nvSpPr>
        <p:spPr>
          <a:xfrm>
            <a:off x="4642663" y="4767827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 AABB</a:t>
            </a:r>
            <a:endParaRPr lang="ko-KR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155F936-0F45-7072-C77E-CD12A8BA0804}"/>
              </a:ext>
            </a:extLst>
          </p:cNvPr>
          <p:cNvSpPr txBox="1"/>
          <p:nvPr/>
        </p:nvSpPr>
        <p:spPr>
          <a:xfrm>
            <a:off x="8090368" y="3213300"/>
            <a:ext cx="37188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ko-KR" altLang="en-US" dirty="0"/>
              <a:t>부분 영역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(leaf)</a:t>
            </a:r>
            <a:r>
              <a:rPr lang="ko-KR" altLang="en-US" dirty="0"/>
              <a:t> 이하인가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아니면 합집합</a:t>
            </a:r>
            <a:r>
              <a:rPr lang="en-US" altLang="ko-KR" dirty="0"/>
              <a:t> AABB </a:t>
            </a:r>
            <a:r>
              <a:rPr lang="ko-KR" altLang="en-US" dirty="0"/>
              <a:t>계산</a:t>
            </a:r>
            <a:br>
              <a:rPr lang="en-US" altLang="ko-KR" dirty="0"/>
            </a:br>
            <a:r>
              <a:rPr lang="ko-KR" altLang="en-US" dirty="0"/>
              <a:t>맞으면 </a:t>
            </a:r>
            <a:r>
              <a:rPr lang="en-US" altLang="ko-KR" dirty="0"/>
              <a:t>AABB</a:t>
            </a:r>
            <a:r>
              <a:rPr lang="ko-KR" altLang="en-US" dirty="0"/>
              <a:t> </a:t>
            </a:r>
            <a:r>
              <a:rPr lang="en-US" altLang="ko-KR" dirty="0"/>
              <a:t>index or </a:t>
            </a:r>
            <a:r>
              <a:rPr lang="en-US" altLang="ko-KR" dirty="0" err="1"/>
              <a:t>ptr</a:t>
            </a:r>
            <a:r>
              <a:rPr lang="ko-KR" altLang="en-US" dirty="0"/>
              <a:t> 저장</a:t>
            </a:r>
            <a:endParaRPr lang="en-US" altLang="ko-KR" dirty="0"/>
          </a:p>
          <a:p>
            <a:pPr marL="342900" indent="-342900">
              <a:buAutoNum type="alphaLcPeriod"/>
            </a:pPr>
            <a:endParaRPr lang="en-US" altLang="ko-KR" dirty="0"/>
          </a:p>
          <a:p>
            <a:pPr marL="342900" indent="-342900">
              <a:buAutoNum type="alphaLcPeriod"/>
            </a:pPr>
            <a:r>
              <a:rPr lang="en-US" altLang="ko-KR" dirty="0"/>
              <a:t>a </a:t>
            </a:r>
            <a:r>
              <a:rPr lang="ko-KR" altLang="en-US" dirty="0"/>
              <a:t>범위를 긴 축</a:t>
            </a:r>
            <a:r>
              <a:rPr lang="en-US" altLang="ko-KR" dirty="0"/>
              <a:t> </a:t>
            </a:r>
            <a:r>
              <a:rPr lang="ko-KR" altLang="en-US" dirty="0"/>
              <a:t>기준 부분 정렬</a:t>
            </a:r>
            <a:endParaRPr lang="en-US" altLang="ko-KR" dirty="0"/>
          </a:p>
          <a:p>
            <a:pPr marL="342900" indent="-342900">
              <a:buAutoNum type="alphaLcPeriod"/>
            </a:pPr>
            <a:endParaRPr lang="en-US" altLang="ko-KR" dirty="0"/>
          </a:p>
          <a:p>
            <a:pPr marL="342900" indent="-342900">
              <a:buAutoNum type="alphaLcPeriod"/>
            </a:pPr>
            <a:r>
              <a:rPr lang="ko-KR" altLang="en-US" dirty="0"/>
              <a:t>개수 절반 좌</a:t>
            </a:r>
            <a:r>
              <a:rPr lang="en-US" altLang="ko-KR" dirty="0"/>
              <a:t>/</a:t>
            </a:r>
            <a:r>
              <a:rPr lang="ko-KR" altLang="en-US" dirty="0"/>
              <a:t>우 영역 </a:t>
            </a:r>
            <a:r>
              <a:rPr lang="en-US" altLang="ko-KR" dirty="0"/>
              <a:t>a </a:t>
            </a:r>
            <a:r>
              <a:rPr lang="ko-KR" altLang="en-US" dirty="0"/>
              <a:t>시도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BB52018-F52B-86D4-2F0A-1706F7BD8C38}"/>
              </a:ext>
            </a:extLst>
          </p:cNvPr>
          <p:cNvSpPr txBox="1"/>
          <p:nvPr/>
        </p:nvSpPr>
        <p:spPr>
          <a:xfrm>
            <a:off x="4098070" y="1641476"/>
            <a:ext cx="706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긴 축 정렬을 하고 숫자를 절반씩 나누어 합집합 </a:t>
            </a:r>
            <a:r>
              <a:rPr lang="en-US" altLang="ko-KR" dirty="0"/>
              <a:t>AABB</a:t>
            </a:r>
            <a:r>
              <a:rPr lang="ko-KR" altLang="en-US" dirty="0"/>
              <a:t>를 계산한다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5360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70E3B-0BEE-5AF0-F5EE-CF26557A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하향식 </a:t>
            </a:r>
            <a:r>
              <a:rPr lang="en-US" altLang="ko-KR" dirty="0"/>
              <a:t>– </a:t>
            </a:r>
            <a:r>
              <a:rPr lang="ko-KR" altLang="en-US" dirty="0"/>
              <a:t>중간 거리 </a:t>
            </a:r>
            <a:r>
              <a:rPr lang="ko-KR" altLang="en-US" dirty="0" err="1"/>
              <a:t>분할점</a:t>
            </a:r>
            <a:r>
              <a:rPr lang="ko-KR" altLang="en-US" dirty="0"/>
              <a:t> 결정 방식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E7318B4-925B-F777-5C5E-2ABC83E5DDA7}"/>
              </a:ext>
            </a:extLst>
          </p:cNvPr>
          <p:cNvGrpSpPr/>
          <p:nvPr/>
        </p:nvGrpSpPr>
        <p:grpSpPr>
          <a:xfrm>
            <a:off x="262978" y="2245726"/>
            <a:ext cx="3557836" cy="2710322"/>
            <a:chOff x="-112460" y="2044506"/>
            <a:chExt cx="4398888" cy="31677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0817884-C120-0BE6-0BFB-F2AEC38FC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271" y="2044506"/>
              <a:ext cx="3854157" cy="301629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6BF605-18BF-EF3D-DB0E-6067B05B025B}"/>
                    </a:ext>
                  </a:extLst>
                </p:cNvPr>
                <p:cNvSpPr txBox="1"/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26BF605-18BF-EF3D-DB0E-6067B05B02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blipFill>
                  <a:blip r:embed="rId3"/>
                  <a:stretch>
                    <a:fillRect b="-930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A3FB102-2526-FB6A-4D2C-080AF4517E0A}"/>
                    </a:ext>
                  </a:extLst>
                </p:cNvPr>
                <p:cNvSpPr txBox="1"/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A3FB102-2526-FB6A-4D2C-080AF4517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blipFill>
                  <a:blip r:embed="rId4"/>
                  <a:stretch>
                    <a:fillRect b="-1395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B525FB-0A7A-C959-A66A-5EBE0AD9AC38}"/>
                    </a:ext>
                  </a:extLst>
                </p:cNvPr>
                <p:cNvSpPr txBox="1"/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B525FB-0A7A-C959-A66A-5EBE0AD9A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blipFill>
                  <a:blip r:embed="rId5"/>
                  <a:stretch>
                    <a:fillRect b="-209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2AF09EF-C3C7-2417-33F9-027A4A500894}"/>
                    </a:ext>
                  </a:extLst>
                </p:cNvPr>
                <p:cNvSpPr txBox="1"/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2AF09EF-C3C7-2417-33F9-027A4A500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4DBB64-862C-27F0-3FEC-A1D4E61DD209}"/>
                </a:ext>
              </a:extLst>
            </p:cNvPr>
            <p:cNvSpPr txBox="1"/>
            <p:nvPr/>
          </p:nvSpPr>
          <p:spPr>
            <a:xfrm>
              <a:off x="2056062" y="2497499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71DE6F-4C7F-9F35-3459-0EAA25A56B48}"/>
                </a:ext>
              </a:extLst>
            </p:cNvPr>
            <p:cNvSpPr txBox="1"/>
            <p:nvPr/>
          </p:nvSpPr>
          <p:spPr>
            <a:xfrm>
              <a:off x="2207706" y="305016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E680BF-5941-8730-600A-8E50E85AD125}"/>
                </a:ext>
              </a:extLst>
            </p:cNvPr>
            <p:cNvSpPr txBox="1"/>
            <p:nvPr/>
          </p:nvSpPr>
          <p:spPr>
            <a:xfrm>
              <a:off x="2402862" y="3429000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2E7373-948B-EECF-179B-E9F4210D703E}"/>
                </a:ext>
              </a:extLst>
            </p:cNvPr>
            <p:cNvSpPr txBox="1"/>
            <p:nvPr/>
          </p:nvSpPr>
          <p:spPr>
            <a:xfrm>
              <a:off x="3416395" y="380739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0D0082B-A0B7-E6C4-F799-B8BE65BACE72}"/>
                </a:ext>
              </a:extLst>
            </p:cNvPr>
            <p:cNvSpPr txBox="1"/>
            <p:nvPr/>
          </p:nvSpPr>
          <p:spPr>
            <a:xfrm>
              <a:off x="1731481" y="4008964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AD74536-B318-39F0-26DC-D2CABFF579AB}"/>
                </a:ext>
              </a:extLst>
            </p:cNvPr>
            <p:cNvSpPr txBox="1"/>
            <p:nvPr/>
          </p:nvSpPr>
          <p:spPr>
            <a:xfrm>
              <a:off x="2934580" y="427080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64DE848-D48B-8082-BC91-BC70E5CA0FD6}"/>
              </a:ext>
            </a:extLst>
          </p:cNvPr>
          <p:cNvSpPr txBox="1"/>
          <p:nvPr/>
        </p:nvSpPr>
        <p:spPr>
          <a:xfrm>
            <a:off x="4351466" y="2238476"/>
            <a:ext cx="5762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구현이 쉽도록 자식이 </a:t>
            </a:r>
            <a:r>
              <a:rPr lang="en-US" altLang="ko-KR" sz="1200" dirty="0"/>
              <a:t>2</a:t>
            </a:r>
            <a:r>
              <a:rPr lang="ko-KR" altLang="en-US" sz="1200" dirty="0"/>
              <a:t>노드인 </a:t>
            </a:r>
            <a:r>
              <a:rPr lang="en-US" altLang="ko-KR" sz="1200" dirty="0"/>
              <a:t>BVH2</a:t>
            </a:r>
            <a:r>
              <a:rPr lang="ko-KR" altLang="en-US" sz="1200" dirty="0"/>
              <a:t>트리로 구성</a:t>
            </a:r>
            <a:r>
              <a:rPr lang="en-US" altLang="ko-KR" sz="1200" dirty="0"/>
              <a:t> </a:t>
            </a:r>
          </a:p>
          <a:p>
            <a:r>
              <a:rPr lang="ko-KR" altLang="en-US" sz="1200" dirty="0" err="1"/>
              <a:t>리프노드가</a:t>
            </a:r>
            <a:r>
              <a:rPr lang="en-US" altLang="ko-KR" sz="1200" dirty="0"/>
              <a:t> </a:t>
            </a:r>
            <a:r>
              <a:rPr lang="ko-KR" altLang="en-US" sz="1200" dirty="0"/>
              <a:t>포함하는 오브젝트 또는 </a:t>
            </a:r>
            <a:r>
              <a:rPr lang="en-US" altLang="ko-KR" sz="1200" dirty="0"/>
              <a:t>AABB</a:t>
            </a:r>
            <a:r>
              <a:rPr lang="ko-KR" altLang="en-US" sz="1200" dirty="0"/>
              <a:t>의 개수는 편의상 최대 </a:t>
            </a:r>
            <a:r>
              <a:rPr lang="en-US" altLang="ko-KR" sz="1200" dirty="0"/>
              <a:t>2</a:t>
            </a:r>
            <a:r>
              <a:rPr lang="ko-KR" altLang="en-US" sz="1200" dirty="0"/>
              <a:t>개</a:t>
            </a:r>
            <a:endParaRPr lang="en-US" altLang="ko-KR" sz="1200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E70DA4A-4E71-9CD0-2A1F-BF4A4D87C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456035"/>
              </p:ext>
            </p:extLst>
          </p:nvPr>
        </p:nvGraphicFramePr>
        <p:xfrm>
          <a:off x="5031300" y="4266395"/>
          <a:ext cx="220261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32F65D9-0E9B-403D-F0C9-0D7A2F6A5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08672"/>
              </p:ext>
            </p:extLst>
          </p:nvPr>
        </p:nvGraphicFramePr>
        <p:xfrm>
          <a:off x="4192987" y="5000484"/>
          <a:ext cx="138697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4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46743">
                  <a:extLst>
                    <a:ext uri="{9D8B030D-6E8A-4147-A177-3AD203B41FA5}">
                      <a16:colId xmlns:a16="http://schemas.microsoft.com/office/drawing/2014/main" val="820706003"/>
                    </a:ext>
                  </a:extLst>
                </a:gridCol>
                <a:gridCol w="34674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4674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</a:tblGrid>
              <a:tr h="3617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2AE3216-5B47-5168-A7A8-F5B07CFC1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35881"/>
              </p:ext>
            </p:extLst>
          </p:nvPr>
        </p:nvGraphicFramePr>
        <p:xfrm>
          <a:off x="3764025" y="5755501"/>
          <a:ext cx="73420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1610703556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4172645-2693-264B-B7F8-598AB6C5F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90131"/>
              </p:ext>
            </p:extLst>
          </p:nvPr>
        </p:nvGraphicFramePr>
        <p:xfrm>
          <a:off x="4696001" y="5755501"/>
          <a:ext cx="73420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0F2D23E-73C7-CA5D-1274-FF72EE160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533941"/>
              </p:ext>
            </p:extLst>
          </p:nvPr>
        </p:nvGraphicFramePr>
        <p:xfrm>
          <a:off x="6612043" y="5029005"/>
          <a:ext cx="73420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22548EA-8BA5-BF39-8B07-2C4DD67AF293}"/>
              </a:ext>
            </a:extLst>
          </p:cNvPr>
          <p:cNvSpPr txBox="1"/>
          <p:nvPr/>
        </p:nvSpPr>
        <p:spPr>
          <a:xfrm>
            <a:off x="4168814" y="3783061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y</a:t>
            </a:r>
            <a:r>
              <a:rPr lang="ko-KR" altLang="en-US" sz="1200" dirty="0"/>
              <a:t>축 정렬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991216-80A5-2390-4BCB-D91F529F07A4}"/>
              </a:ext>
            </a:extLst>
          </p:cNvPr>
          <p:cNvSpPr txBox="1"/>
          <p:nvPr/>
        </p:nvSpPr>
        <p:spPr>
          <a:xfrm>
            <a:off x="4092008" y="4522484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x</a:t>
            </a:r>
            <a:r>
              <a:rPr lang="ko-KR" altLang="en-US" sz="1200" dirty="0"/>
              <a:t>축 정렬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9C4D68-37B1-D647-7FA5-0EEF8910BAE8}"/>
              </a:ext>
            </a:extLst>
          </p:cNvPr>
          <p:cNvSpPr txBox="1"/>
          <p:nvPr/>
        </p:nvSpPr>
        <p:spPr>
          <a:xfrm>
            <a:off x="7232585" y="4532579"/>
            <a:ext cx="981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긴 </a:t>
            </a:r>
            <a:r>
              <a:rPr lang="en-US" altLang="ko-KR" sz="1200" dirty="0"/>
              <a:t>x</a:t>
            </a:r>
            <a:r>
              <a:rPr lang="ko-KR" altLang="en-US" sz="1200" dirty="0"/>
              <a:t>축 정렬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221B490-4487-90CE-6DCC-53E52880D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504571"/>
              </p:ext>
            </p:extLst>
          </p:nvPr>
        </p:nvGraphicFramePr>
        <p:xfrm>
          <a:off x="5031300" y="3267703"/>
          <a:ext cx="220261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03">
                  <a:extLst>
                    <a:ext uri="{9D8B030D-6E8A-4147-A177-3AD203B41FA5}">
                      <a16:colId xmlns:a16="http://schemas.microsoft.com/office/drawing/2014/main" val="3868258126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268963472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7497773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3597030864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834693455"/>
                    </a:ext>
                  </a:extLst>
                </a:gridCol>
                <a:gridCol w="367103">
                  <a:extLst>
                    <a:ext uri="{9D8B030D-6E8A-4147-A177-3AD203B41FA5}">
                      <a16:colId xmlns:a16="http://schemas.microsoft.com/office/drawing/2014/main" val="78896765"/>
                    </a:ext>
                  </a:extLst>
                </a:gridCol>
              </a:tblGrid>
              <a:tr h="34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28805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7AD8095-2359-52D9-E35E-DE1424155DD0}"/>
              </a:ext>
            </a:extLst>
          </p:cNvPr>
          <p:cNvSpPr txBox="1"/>
          <p:nvPr/>
        </p:nvSpPr>
        <p:spPr>
          <a:xfrm>
            <a:off x="5623167" y="284460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초기배열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53B4D61-ED8D-8384-3638-F19B0A73DE92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4886473" y="4632155"/>
            <a:ext cx="693485" cy="368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4D6D799-30A7-C5DE-8BB0-7DD7BD946861}"/>
              </a:ext>
            </a:extLst>
          </p:cNvPr>
          <p:cNvCxnSpPr>
            <a:cxnSpLocks/>
          </p:cNvCxnSpPr>
          <p:nvPr/>
        </p:nvCxnSpPr>
        <p:spPr>
          <a:xfrm>
            <a:off x="6757803" y="4660983"/>
            <a:ext cx="201068" cy="3395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22E8F69-1166-01F5-1D30-70EA6549D54F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4131128" y="5366244"/>
            <a:ext cx="755345" cy="389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E6B5C08-B4B8-B5B1-43C5-4E325EF6EB5D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4886473" y="5366244"/>
            <a:ext cx="176631" cy="389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대각선 줄무늬 33">
            <a:extLst>
              <a:ext uri="{FF2B5EF4-FFF2-40B4-BE49-F238E27FC236}">
                <a16:creationId xmlns:a16="http://schemas.microsoft.com/office/drawing/2014/main" id="{D38FA419-EAF7-2C7A-1268-798EC6CCD7D1}"/>
              </a:ext>
            </a:extLst>
          </p:cNvPr>
          <p:cNvSpPr/>
          <p:nvPr/>
        </p:nvSpPr>
        <p:spPr>
          <a:xfrm>
            <a:off x="6500964" y="4041295"/>
            <a:ext cx="61264" cy="674626"/>
          </a:xfrm>
          <a:prstGeom prst="diagStrip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대각선 줄무늬 34">
            <a:extLst>
              <a:ext uri="{FF2B5EF4-FFF2-40B4-BE49-F238E27FC236}">
                <a16:creationId xmlns:a16="http://schemas.microsoft.com/office/drawing/2014/main" id="{2C98096A-FD71-162D-3AF5-35BA3AB38EE8}"/>
              </a:ext>
            </a:extLst>
          </p:cNvPr>
          <p:cNvSpPr/>
          <p:nvPr/>
        </p:nvSpPr>
        <p:spPr>
          <a:xfrm>
            <a:off x="4820877" y="4831140"/>
            <a:ext cx="61264" cy="674626"/>
          </a:xfrm>
          <a:prstGeom prst="diagStrip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10175A-F574-7368-9F13-410C82CF4B15}"/>
              </a:ext>
            </a:extLst>
          </p:cNvPr>
          <p:cNvSpPr txBox="1"/>
          <p:nvPr/>
        </p:nvSpPr>
        <p:spPr>
          <a:xfrm>
            <a:off x="5650527" y="4008761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 AABB</a:t>
            </a:r>
            <a:endParaRPr lang="ko-KR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C1C33D-F989-D6B2-82CB-2EE66DC917FD}"/>
              </a:ext>
            </a:extLst>
          </p:cNvPr>
          <p:cNvSpPr txBox="1"/>
          <p:nvPr/>
        </p:nvSpPr>
        <p:spPr>
          <a:xfrm>
            <a:off x="4642663" y="4767827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 AABB</a:t>
            </a:r>
            <a:endParaRPr lang="ko-KR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A9E96C-2BA8-FF26-CEF8-196EB303644A}"/>
              </a:ext>
            </a:extLst>
          </p:cNvPr>
          <p:cNvSpPr txBox="1"/>
          <p:nvPr/>
        </p:nvSpPr>
        <p:spPr>
          <a:xfrm>
            <a:off x="8090368" y="3213300"/>
            <a:ext cx="41016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ko-KR" altLang="en-US" dirty="0"/>
              <a:t>부분 영역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(leaf)</a:t>
            </a:r>
            <a:r>
              <a:rPr lang="ko-KR" altLang="en-US" dirty="0"/>
              <a:t> 이하인가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아니면 합집합</a:t>
            </a:r>
            <a:r>
              <a:rPr lang="en-US" altLang="ko-KR" dirty="0"/>
              <a:t> AABB </a:t>
            </a:r>
            <a:r>
              <a:rPr lang="ko-KR" altLang="en-US" dirty="0"/>
              <a:t>계산</a:t>
            </a:r>
            <a:br>
              <a:rPr lang="en-US" altLang="ko-KR" dirty="0"/>
            </a:br>
            <a:r>
              <a:rPr lang="ko-KR" altLang="en-US" dirty="0"/>
              <a:t>맞으면 </a:t>
            </a:r>
            <a:r>
              <a:rPr lang="en-US" altLang="ko-KR" dirty="0"/>
              <a:t>AABB</a:t>
            </a:r>
            <a:r>
              <a:rPr lang="ko-KR" altLang="en-US" dirty="0"/>
              <a:t> </a:t>
            </a:r>
            <a:r>
              <a:rPr lang="en-US" altLang="ko-KR" dirty="0"/>
              <a:t>index or </a:t>
            </a:r>
            <a:r>
              <a:rPr lang="en-US" altLang="ko-KR" dirty="0" err="1"/>
              <a:t>ptr</a:t>
            </a:r>
            <a:r>
              <a:rPr lang="ko-KR" altLang="en-US" dirty="0"/>
              <a:t> 저장</a:t>
            </a:r>
            <a:endParaRPr lang="en-US" altLang="ko-KR" dirty="0"/>
          </a:p>
          <a:p>
            <a:pPr marL="342900" indent="-342900">
              <a:buAutoNum type="alphaLcPeriod"/>
            </a:pPr>
            <a:endParaRPr lang="en-US" altLang="ko-KR" dirty="0"/>
          </a:p>
          <a:p>
            <a:pPr marL="342900" indent="-342900">
              <a:buAutoNum type="alphaLcPeriod"/>
            </a:pPr>
            <a:r>
              <a:rPr lang="en-US" altLang="ko-KR" dirty="0"/>
              <a:t>a </a:t>
            </a:r>
            <a:r>
              <a:rPr lang="ko-KR" altLang="en-US" dirty="0"/>
              <a:t>범위를 긴 축</a:t>
            </a:r>
            <a:r>
              <a:rPr lang="en-US" altLang="ko-KR" dirty="0"/>
              <a:t> </a:t>
            </a:r>
            <a:r>
              <a:rPr lang="ko-KR" altLang="en-US" dirty="0"/>
              <a:t>기준 부분 정렬</a:t>
            </a:r>
            <a:endParaRPr lang="en-US" altLang="ko-KR" dirty="0"/>
          </a:p>
          <a:p>
            <a:pPr marL="342900" indent="-342900">
              <a:buAutoNum type="alphaLcPeriod"/>
            </a:pPr>
            <a:endParaRPr lang="en-US" altLang="ko-KR" dirty="0"/>
          </a:p>
          <a:p>
            <a:pPr marL="342900" indent="-342900">
              <a:buAutoNum type="alphaLcPeriod"/>
            </a:pPr>
            <a:r>
              <a:rPr lang="ko-KR" altLang="en-US" dirty="0"/>
              <a:t>긴 축 중간기준 좌</a:t>
            </a:r>
            <a:r>
              <a:rPr lang="en-US" altLang="ko-KR" dirty="0"/>
              <a:t>/</a:t>
            </a:r>
            <a:r>
              <a:rPr lang="ko-KR" altLang="en-US" dirty="0"/>
              <a:t>우 영역 </a:t>
            </a:r>
            <a:r>
              <a:rPr lang="en-US" altLang="ko-KR" dirty="0"/>
              <a:t>a </a:t>
            </a:r>
            <a:r>
              <a:rPr lang="ko-KR" altLang="en-US" dirty="0"/>
              <a:t>시도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FDBBC04-2A28-7E0D-3C2D-DDEFDA3D5431}"/>
              </a:ext>
            </a:extLst>
          </p:cNvPr>
          <p:cNvCxnSpPr>
            <a:stCxn id="4" idx="1"/>
          </p:cNvCxnSpPr>
          <p:nvPr/>
        </p:nvCxnSpPr>
        <p:spPr>
          <a:xfrm flipV="1">
            <a:off x="703558" y="3491948"/>
            <a:ext cx="2887781" cy="4416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8CC524B-A725-BA29-EAFA-765D8A303F53}"/>
              </a:ext>
            </a:extLst>
          </p:cNvPr>
          <p:cNvSpPr txBox="1"/>
          <p:nvPr/>
        </p:nvSpPr>
        <p:spPr>
          <a:xfrm>
            <a:off x="1497947" y="1684980"/>
            <a:ext cx="917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긴 축 정렬을 하고 해당 축 중간거리 기준으로 절반씩 나누어 합집합 </a:t>
            </a:r>
            <a:r>
              <a:rPr lang="en-US" altLang="ko-KR" dirty="0"/>
              <a:t>AABB</a:t>
            </a:r>
            <a:r>
              <a:rPr lang="ko-KR" altLang="en-US" dirty="0"/>
              <a:t>를 계산한다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F1BA8ED-31DB-4104-2D91-070FD8B8F232}"/>
              </a:ext>
            </a:extLst>
          </p:cNvPr>
          <p:cNvCxnSpPr>
            <a:cxnSpLocks/>
          </p:cNvCxnSpPr>
          <p:nvPr/>
        </p:nvCxnSpPr>
        <p:spPr>
          <a:xfrm flipV="1">
            <a:off x="2297379" y="3754063"/>
            <a:ext cx="0" cy="9069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0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A4C71-0952-4348-CD30-44902368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하향식 </a:t>
            </a:r>
            <a:r>
              <a:rPr lang="en-US" altLang="ko-KR" dirty="0"/>
              <a:t>– SAH (Surface Area </a:t>
            </a:r>
            <a:r>
              <a:rPr lang="en-US" altLang="ko-KR" dirty="0" err="1"/>
              <a:t>Huristic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94EEF56-6395-9309-D7CF-FA31AE131909}"/>
              </a:ext>
            </a:extLst>
          </p:cNvPr>
          <p:cNvGrpSpPr/>
          <p:nvPr/>
        </p:nvGrpSpPr>
        <p:grpSpPr>
          <a:xfrm>
            <a:off x="-70155" y="3007763"/>
            <a:ext cx="3136204" cy="2318863"/>
            <a:chOff x="-112460" y="2044506"/>
            <a:chExt cx="4398888" cy="31677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281204F-8A36-143F-A1FD-D0184DFBC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271" y="2044506"/>
              <a:ext cx="3854157" cy="301629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A4C5389-2353-69BC-3226-1B14873E59F4}"/>
                    </a:ext>
                  </a:extLst>
                </p:cNvPr>
                <p:cNvSpPr txBox="1"/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A4C5389-2353-69BC-3226-1B14873E5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2180" y="4909382"/>
                  <a:ext cx="843455" cy="302840"/>
                </a:xfrm>
                <a:prstGeom prst="rect">
                  <a:avLst/>
                </a:prstGeom>
                <a:blipFill>
                  <a:blip r:embed="rId3"/>
                  <a:stretch>
                    <a:fillRect b="-2702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E892DD9-9F85-972E-79A0-A09FB37022AB}"/>
                    </a:ext>
                  </a:extLst>
                </p:cNvPr>
                <p:cNvSpPr txBox="1"/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E892DD9-9F85-972E-79A0-A09FB3702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241" y="4909382"/>
                  <a:ext cx="843455" cy="302840"/>
                </a:xfrm>
                <a:prstGeom prst="rect">
                  <a:avLst/>
                </a:prstGeom>
                <a:blipFill>
                  <a:blip r:embed="rId4"/>
                  <a:stretch>
                    <a:fillRect b="-324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9A0A2B0-313C-5814-350C-558382289D5A}"/>
                    </a:ext>
                  </a:extLst>
                </p:cNvPr>
                <p:cNvSpPr txBox="1"/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9A0A2B0-313C-5814-350C-558382289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460" y="2415102"/>
                  <a:ext cx="843455" cy="302840"/>
                </a:xfrm>
                <a:prstGeom prst="rect">
                  <a:avLst/>
                </a:prstGeom>
                <a:blipFill>
                  <a:blip r:embed="rId5"/>
                  <a:stretch>
                    <a:fillRect b="-44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D946DBD-3CD1-09A1-DE1B-B46CDE5F9781}"/>
                    </a:ext>
                  </a:extLst>
                </p:cNvPr>
                <p:cNvSpPr txBox="1"/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b="1" i="1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baseline="-250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D946DBD-3CD1-09A1-DE1B-B46CDE5F9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0879" y="4248982"/>
                  <a:ext cx="843455" cy="302840"/>
                </a:xfrm>
                <a:prstGeom prst="rect">
                  <a:avLst/>
                </a:prstGeom>
                <a:blipFill>
                  <a:blip r:embed="rId6"/>
                  <a:stretch>
                    <a:fillRect b="-44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E9B383-3C19-5548-E1FB-008FE2B23F0E}"/>
                </a:ext>
              </a:extLst>
            </p:cNvPr>
            <p:cNvSpPr txBox="1"/>
            <p:nvPr/>
          </p:nvSpPr>
          <p:spPr>
            <a:xfrm>
              <a:off x="2056062" y="2497499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A</a:t>
              </a:r>
              <a:endParaRPr lang="ko-KR" altLang="en-US" sz="1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754810-79C7-112A-D50E-D7EE0E543174}"/>
                </a:ext>
              </a:extLst>
            </p:cNvPr>
            <p:cNvSpPr txBox="1"/>
            <p:nvPr/>
          </p:nvSpPr>
          <p:spPr>
            <a:xfrm>
              <a:off x="2207706" y="3050164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B</a:t>
              </a:r>
              <a:endParaRPr lang="ko-KR" altLang="en-US" sz="1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41CC0A-DC45-2501-77C2-A33655C5B2BC}"/>
                </a:ext>
              </a:extLst>
            </p:cNvPr>
            <p:cNvSpPr txBox="1"/>
            <p:nvPr/>
          </p:nvSpPr>
          <p:spPr>
            <a:xfrm>
              <a:off x="2402862" y="3429000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C</a:t>
              </a:r>
              <a:endParaRPr lang="ko-KR" alt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5A5C10-6B01-947D-73D4-95A0580C025C}"/>
                </a:ext>
              </a:extLst>
            </p:cNvPr>
            <p:cNvSpPr txBox="1"/>
            <p:nvPr/>
          </p:nvSpPr>
          <p:spPr>
            <a:xfrm>
              <a:off x="3416395" y="380739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D</a:t>
              </a:r>
              <a:endParaRPr lang="ko-KR" altLang="en-US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12EC37-0D40-7DDA-EE7D-F157DE3B255F}"/>
                </a:ext>
              </a:extLst>
            </p:cNvPr>
            <p:cNvSpPr txBox="1"/>
            <p:nvPr/>
          </p:nvSpPr>
          <p:spPr>
            <a:xfrm>
              <a:off x="1731481" y="4008964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E</a:t>
              </a:r>
              <a:endParaRPr lang="ko-KR" altLang="en-US" sz="1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00CBA4-CF87-E124-9DF4-2C664C64F2EC}"/>
                </a:ext>
              </a:extLst>
            </p:cNvPr>
            <p:cNvSpPr txBox="1"/>
            <p:nvPr/>
          </p:nvSpPr>
          <p:spPr>
            <a:xfrm>
              <a:off x="2934580" y="4270808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F</a:t>
              </a:r>
              <a:endParaRPr lang="ko-KR" altLang="en-US" sz="140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413F6B5-C6C7-C04D-4C77-9C77E0DD0220}"/>
              </a:ext>
            </a:extLst>
          </p:cNvPr>
          <p:cNvSpPr txBox="1"/>
          <p:nvPr/>
        </p:nvSpPr>
        <p:spPr>
          <a:xfrm>
            <a:off x="922776" y="1523485"/>
            <a:ext cx="99341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긴 축 정렬을 하고 해당 축 기준으로 모든 기준점 경우의 수에 대해 </a:t>
            </a:r>
            <a:r>
              <a:rPr lang="en-US" altLang="ko-KR" dirty="0"/>
              <a:t>SAH </a:t>
            </a:r>
            <a:r>
              <a:rPr lang="ko-KR" altLang="en-US" dirty="0"/>
              <a:t>비용을 계산하여 가장</a:t>
            </a:r>
            <a:endParaRPr lang="en-US" altLang="ko-KR" dirty="0"/>
          </a:p>
          <a:p>
            <a:r>
              <a:rPr lang="ko-KR" altLang="en-US" dirty="0"/>
              <a:t>최적의 기준점을 </a:t>
            </a:r>
            <a:r>
              <a:rPr lang="ko-KR" altLang="en-US" dirty="0" err="1"/>
              <a:t>사용하는것</a:t>
            </a:r>
            <a:r>
              <a:rPr lang="en-US" altLang="ko-KR" dirty="0"/>
              <a:t>.  </a:t>
            </a:r>
            <a:r>
              <a:rPr lang="ko-KR" altLang="en-US" dirty="0"/>
              <a:t>좌</a:t>
            </a:r>
            <a:r>
              <a:rPr lang="en-US" altLang="ko-KR" dirty="0"/>
              <a:t>/</a:t>
            </a:r>
            <a:r>
              <a:rPr lang="ko-KR" altLang="en-US" dirty="0"/>
              <a:t>우 의 합집합 </a:t>
            </a:r>
            <a:r>
              <a:rPr lang="en-US" altLang="ko-KR" dirty="0"/>
              <a:t>AABB</a:t>
            </a:r>
            <a:r>
              <a:rPr lang="ko-KR" altLang="en-US" dirty="0"/>
              <a:t>를 계산할 때는 누적합으로 최적화 가능</a:t>
            </a:r>
            <a:endParaRPr lang="en-US" altLang="ko-KR" dirty="0"/>
          </a:p>
          <a:p>
            <a:r>
              <a:rPr lang="ko-KR" altLang="en-US" dirty="0"/>
              <a:t>“</a:t>
            </a:r>
            <a:r>
              <a:rPr lang="en-US" altLang="ko-KR" b="1" dirty="0" err="1"/>
              <a:t>SurfaceArea</a:t>
            </a:r>
            <a:r>
              <a:rPr lang="en-US" altLang="ko-KR" b="1" dirty="0"/>
              <a:t> × </a:t>
            </a:r>
            <a:r>
              <a:rPr lang="en-US" altLang="ko-KR" b="1" dirty="0" err="1"/>
              <a:t>ObjectCount</a:t>
            </a:r>
            <a:r>
              <a:rPr lang="en-US" altLang="ko-KR" b="1" dirty="0"/>
              <a:t> </a:t>
            </a:r>
            <a:r>
              <a:rPr lang="ko-KR" altLang="en-US" b="1" dirty="0"/>
              <a:t>합이 가장 작은 분할점을 찾아라</a:t>
            </a:r>
            <a:r>
              <a:rPr lang="ko-KR" altLang="en-US" dirty="0"/>
              <a:t>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50049C-BE23-BE93-792C-C9038706599F}"/>
              </a:ext>
            </a:extLst>
          </p:cNvPr>
          <p:cNvSpPr txBox="1"/>
          <p:nvPr/>
        </p:nvSpPr>
        <p:spPr>
          <a:xfrm>
            <a:off x="4035667" y="2425739"/>
            <a:ext cx="79369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sz="1400" dirty="0"/>
              <a:t>현재 노드의 </a:t>
            </a:r>
            <a:r>
              <a:rPr lang="en-US" altLang="ko-KR" sz="1400" dirty="0"/>
              <a:t>AABB(Axis-Aligned Bounding Box)</a:t>
            </a:r>
            <a:r>
              <a:rPr lang="ko-KR" altLang="en-US" sz="1400" dirty="0"/>
              <a:t>를 계산</a:t>
            </a:r>
          </a:p>
          <a:p>
            <a:pPr>
              <a:buFont typeface="+mj-lt"/>
              <a:buAutoNum type="arabicPeriod"/>
            </a:pPr>
            <a:r>
              <a:rPr lang="ko-KR" altLang="en-US" sz="1400" dirty="0"/>
              <a:t>긴 축</a:t>
            </a:r>
            <a:r>
              <a:rPr lang="en-US" altLang="ko-KR" sz="1400" dirty="0"/>
              <a:t>(longest axis)</a:t>
            </a:r>
            <a:r>
              <a:rPr lang="ko-KR" altLang="en-US" sz="1400" dirty="0"/>
              <a:t>을 선택 → 보통 </a:t>
            </a:r>
            <a:r>
              <a:rPr lang="en-US" altLang="ko-KR" sz="1400" dirty="0"/>
              <a:t>x, y, z </a:t>
            </a:r>
            <a:r>
              <a:rPr lang="ko-KR" altLang="en-US" sz="1400" dirty="0"/>
              <a:t>중 가장 긴 축</a:t>
            </a:r>
          </a:p>
          <a:p>
            <a:pPr>
              <a:buFont typeface="+mj-lt"/>
              <a:buAutoNum type="arabicPeriod"/>
            </a:pPr>
            <a:r>
              <a:rPr lang="ko-KR" altLang="en-US" sz="1400" dirty="0"/>
              <a:t>해당 축을 기준으로 모든 가능한 분할 위치 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순회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</a:t>
            </a:r>
            <a:r>
              <a:rPr lang="ko-KR" altLang="en-US" sz="1400" dirty="0"/>
              <a:t>자식 </a:t>
            </a:r>
            <a:r>
              <a:rPr lang="ko-KR" altLang="en-US" sz="1400" dirty="0" err="1"/>
              <a:t>바운딩</a:t>
            </a:r>
            <a:r>
              <a:rPr lang="ko-KR" altLang="en-US" sz="1400" dirty="0"/>
              <a:t> 박스에 포함된 </a:t>
            </a:r>
            <a:r>
              <a:rPr lang="ko-KR" altLang="en-US" sz="1400" dirty="0" err="1"/>
              <a:t>프리미티브</a:t>
            </a:r>
            <a:r>
              <a:rPr lang="en-US" altLang="ko-KR" sz="1400" dirty="0"/>
              <a:t>(</a:t>
            </a:r>
            <a:r>
              <a:rPr lang="ko-KR" altLang="en-US" sz="1400" dirty="0"/>
              <a:t>삼각형 등</a:t>
            </a:r>
            <a:r>
              <a:rPr lang="en-US" altLang="ko-KR" sz="1400" dirty="0"/>
              <a:t>)</a:t>
            </a:r>
            <a:r>
              <a:rPr lang="ko-KR" altLang="en-US" sz="1400" dirty="0"/>
              <a:t>의 중심 기준 정렬 후</a:t>
            </a:r>
            <a:r>
              <a:rPr lang="en-US" altLang="ko-KR" sz="1400" dirty="0"/>
              <a:t>, </a:t>
            </a:r>
            <a:r>
              <a:rPr lang="ko-KR" altLang="en-US" sz="1400" dirty="0"/>
              <a:t>각 경계 위치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endParaRPr lang="ko-KR" altLang="en-US" sz="1400" dirty="0"/>
          </a:p>
          <a:p>
            <a:pPr>
              <a:buFont typeface="+mj-lt"/>
              <a:buAutoNum type="arabicPeriod"/>
            </a:pPr>
            <a:r>
              <a:rPr lang="ko-KR" altLang="en-US" sz="1400" dirty="0"/>
              <a:t>각 분할 위치마다 </a:t>
            </a:r>
            <a:r>
              <a:rPr lang="en-US" altLang="ko-KR" sz="1400" b="1" dirty="0"/>
              <a:t>SAH </a:t>
            </a:r>
            <a:r>
              <a:rPr lang="ko-KR" altLang="en-US" sz="1400" b="1" dirty="0"/>
              <a:t>비용</a:t>
            </a:r>
            <a:r>
              <a:rPr lang="ko-KR" altLang="en-US" sz="1400" dirty="0"/>
              <a:t> 계산</a:t>
            </a: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br>
              <a:rPr lang="en-US" altLang="ko-KR" sz="1400" dirty="0"/>
            </a:br>
            <a:endParaRPr lang="ko-KR" altLang="en-US" sz="1400" dirty="0"/>
          </a:p>
          <a:p>
            <a:pPr>
              <a:buFont typeface="+mj-lt"/>
              <a:buAutoNum type="arabicPeriod"/>
            </a:pPr>
            <a:r>
              <a:rPr lang="ko-KR" altLang="en-US" sz="1400" dirty="0"/>
              <a:t>모든 분할 후보 중 </a:t>
            </a:r>
            <a:r>
              <a:rPr lang="en-US" altLang="ko-KR" sz="1400" dirty="0"/>
              <a:t>SAH </a:t>
            </a:r>
            <a:r>
              <a:rPr lang="ko-KR" altLang="en-US" sz="1400" dirty="0"/>
              <a:t>비용이 가장 낮은 분할점을 선택</a:t>
            </a:r>
          </a:p>
          <a:p>
            <a:pPr>
              <a:buFont typeface="+mj-lt"/>
              <a:buAutoNum type="arabicPeriod"/>
            </a:pPr>
            <a:r>
              <a:rPr lang="ko-KR" altLang="en-US" sz="1400" dirty="0"/>
              <a:t>해당 기준으로 좌</a:t>
            </a:r>
            <a:r>
              <a:rPr lang="en-US" altLang="ko-KR" sz="1400" dirty="0"/>
              <a:t>/</a:t>
            </a:r>
            <a:r>
              <a:rPr lang="ko-KR" altLang="en-US" sz="1400" dirty="0"/>
              <a:t>우 자식 생성 → 재귀적으로 반복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A71A36-A653-DACC-3A06-596EB5D45B3B}"/>
                  </a:ext>
                </a:extLst>
              </p:cNvPr>
              <p:cNvSpPr txBox="1"/>
              <p:nvPr/>
            </p:nvSpPr>
            <p:spPr>
              <a:xfrm>
                <a:off x="3066049" y="3676700"/>
                <a:ext cx="5335003" cy="532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400" b="0" i="1">
                              <a:latin typeface="Cambria Math" panose="02040503050406030204" pitchFamily="18" charset="0"/>
                            </a:rPr>
                            <m:t>split</m:t>
                          </m:r>
                        </m:sub>
                      </m:sSub>
                      <m:r>
                        <a:rPr lang="en-US" altLang="ko-KR" sz="140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400" b="0" i="1">
                              <a:latin typeface="Cambria Math" panose="02040503050406030204" pitchFamily="18" charset="0"/>
                            </a:rPr>
                            <m:t>trav</m:t>
                          </m:r>
                        </m:sub>
                      </m:sSub>
                      <m:r>
                        <a:rPr lang="en-US" altLang="ko-KR" sz="1400" b="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ko-KR" altLang="en-US" sz="1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  <m:r>
                        <a:rPr lang="ko-KR" altLang="en-US" sz="1400" b="0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ko-KR" altLang="en-US" sz="1400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ko-KR" altLang="en-US" sz="1400" b="0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400" b="0" i="1">
                              <a:latin typeface="Cambria Math" panose="02040503050406030204" pitchFamily="18" charset="0"/>
                            </a:rPr>
                            <m:t>intersect</m:t>
                          </m:r>
                        </m:sub>
                      </m:sSub>
                      <m:r>
                        <a:rPr lang="en-US" altLang="ko-KR" sz="1400" b="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ko-KR" altLang="en-US" sz="1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ko-KR" altLang="en-US" sz="1400" b="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  <m:r>
                        <a:rPr lang="ko-KR" altLang="en-US" sz="1400" b="0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ko-KR" altLang="en-US" sz="14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ko-KR" altLang="en-US" sz="1400" b="0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ko-KR" alt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400" b="0" i="1">
                              <a:latin typeface="Cambria Math" panose="02040503050406030204" pitchFamily="18" charset="0"/>
                            </a:rPr>
                            <m:t>intersect</m:t>
                          </m:r>
                        </m:sub>
                      </m:sSub>
                    </m:oMath>
                  </m:oMathPara>
                </a14:m>
                <a:endParaRPr lang="ko-KR" altLang="en-US" sz="1400" b="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A71A36-A653-DACC-3A06-596EB5D45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049" y="3676700"/>
                <a:ext cx="5335003" cy="5322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표 22">
                <a:extLst>
                  <a:ext uri="{FF2B5EF4-FFF2-40B4-BE49-F238E27FC236}">
                    <a16:creationId xmlns:a16="http://schemas.microsoft.com/office/drawing/2014/main" id="{A9BCC8C7-A597-6B40-A096-C162EA87A9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3923622"/>
                  </p:ext>
                </p:extLst>
              </p:nvPr>
            </p:nvGraphicFramePr>
            <p:xfrm>
              <a:off x="3079511" y="4203547"/>
              <a:ext cx="5621836" cy="1888046"/>
            </p:xfrm>
            <a:graphic>
              <a:graphicData uri="http://schemas.openxmlformats.org/drawingml/2006/table">
                <a:tbl>
                  <a:tblPr/>
                  <a:tblGrid>
                    <a:gridCol w="1109037">
                      <a:extLst>
                        <a:ext uri="{9D8B030D-6E8A-4147-A177-3AD203B41FA5}">
                          <a16:colId xmlns:a16="http://schemas.microsoft.com/office/drawing/2014/main" val="2392531534"/>
                        </a:ext>
                      </a:extLst>
                    </a:gridCol>
                    <a:gridCol w="4512799">
                      <a:extLst>
                        <a:ext uri="{9D8B030D-6E8A-4147-A177-3AD203B41FA5}">
                          <a16:colId xmlns:a16="http://schemas.microsoft.com/office/drawing/2014/main" val="41338436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기호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/>
                            <a:t>의미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1815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  <m:t>split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140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현재 분할의 예상 탐색 비용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66769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ar-AE" altLang="ko-KR" sz="14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ar-AE" altLang="ko-K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ar-AE" altLang="ko-KR" sz="14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ar-AE" altLang="ko-K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140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부모</a:t>
                          </a:r>
                          <a:r>
                            <a:rPr lang="en-US" altLang="ko-KR" sz="1400" dirty="0"/>
                            <a:t>/</a:t>
                          </a: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왼쪽</a:t>
                          </a:r>
                          <a:r>
                            <a:rPr lang="en-US" altLang="ko-KR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/</a:t>
                          </a: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오른쪽 </a:t>
                          </a:r>
                          <a:r>
                            <a:rPr lang="en-US" altLang="ko-KR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AABB</a:t>
                          </a: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의 표면적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20156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ar-AE" altLang="ko-KR" sz="14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ar-AE" altLang="ko-K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140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왼쪽</a:t>
                          </a:r>
                          <a:r>
                            <a:rPr lang="en-US" altLang="ko-KR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/</a:t>
                          </a: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오른쪽 그룹에 속한 오브젝트 개수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05707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  <m:t>trav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140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트리 탐색</a:t>
                          </a:r>
                          <a:r>
                            <a:rPr lang="en-US" altLang="ko-KR" sz="1400" dirty="0"/>
                            <a:t> </a:t>
                          </a:r>
                          <a:r>
                            <a:rPr lang="ko-KR" altLang="en-US" sz="1400" dirty="0"/>
                            <a:t>비용</a:t>
                          </a:r>
                          <a:r>
                            <a:rPr lang="en-US" altLang="ko-KR" sz="1400" dirty="0"/>
                            <a:t>=</a:t>
                          </a:r>
                          <a:r>
                            <a:rPr lang="ko-KR" altLang="en-US" sz="1400" dirty="0"/>
                            <a:t> 노드 </a:t>
                          </a:r>
                          <a:r>
                            <a:rPr lang="en-US" altLang="ko-KR" sz="1400" dirty="0"/>
                            <a:t>AABB </a:t>
                          </a:r>
                          <a:r>
                            <a:rPr lang="ko-KR" altLang="en-US" sz="1400" dirty="0"/>
                            <a:t>교차 검사</a:t>
                          </a:r>
                          <a:r>
                            <a:rPr lang="en-US" altLang="ko-KR" sz="1400" dirty="0"/>
                            <a:t>1</a:t>
                          </a:r>
                          <a:r>
                            <a:rPr lang="ko-KR" altLang="en-US" sz="1400" dirty="0"/>
                            <a:t>회 비용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6845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altLang="ko-KR" sz="14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ar-AE" sz="1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  <m:t>intersect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140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오브젝트</a:t>
                          </a:r>
                          <a:r>
                            <a:rPr lang="en-US" altLang="ko-KR" sz="1400" dirty="0"/>
                            <a:t>(AABB or</a:t>
                          </a:r>
                          <a:r>
                            <a:rPr lang="ko-KR" altLang="en-US" sz="1400" dirty="0"/>
                            <a:t> </a:t>
                          </a:r>
                          <a:r>
                            <a:rPr lang="en-US" altLang="ko-KR" sz="1400" dirty="0"/>
                            <a:t>other)</a:t>
                          </a:r>
                          <a:r>
                            <a:rPr lang="ko-KR" altLang="en-US" sz="1400" dirty="0"/>
                            <a:t> 교차 테스트 비용 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7420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표 22">
                <a:extLst>
                  <a:ext uri="{FF2B5EF4-FFF2-40B4-BE49-F238E27FC236}">
                    <a16:creationId xmlns:a16="http://schemas.microsoft.com/office/drawing/2014/main" id="{A9BCC8C7-A597-6B40-A096-C162EA87A9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3923622"/>
                  </p:ext>
                </p:extLst>
              </p:nvPr>
            </p:nvGraphicFramePr>
            <p:xfrm>
              <a:off x="3079511" y="4203547"/>
              <a:ext cx="5621836" cy="1888046"/>
            </p:xfrm>
            <a:graphic>
              <a:graphicData uri="http://schemas.openxmlformats.org/drawingml/2006/table">
                <a:tbl>
                  <a:tblPr/>
                  <a:tblGrid>
                    <a:gridCol w="1109037">
                      <a:extLst>
                        <a:ext uri="{9D8B030D-6E8A-4147-A177-3AD203B41FA5}">
                          <a16:colId xmlns:a16="http://schemas.microsoft.com/office/drawing/2014/main" val="2392531534"/>
                        </a:ext>
                      </a:extLst>
                    </a:gridCol>
                    <a:gridCol w="4512799">
                      <a:extLst>
                        <a:ext uri="{9D8B030D-6E8A-4147-A177-3AD203B41FA5}">
                          <a16:colId xmlns:a16="http://schemas.microsoft.com/office/drawing/2014/main" val="41338436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기호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/>
                            <a:t>의미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181535"/>
                      </a:ext>
                    </a:extLst>
                  </a:tr>
                  <a:tr h="35598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t="-86441" r="-407692" b="-357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현재 분할의 예상 탐색 비용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667698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t="-220000" r="-407692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부모</a:t>
                          </a:r>
                          <a:r>
                            <a:rPr lang="en-US" altLang="ko-KR" sz="1400" dirty="0"/>
                            <a:t>/</a:t>
                          </a: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왼쪽</a:t>
                          </a:r>
                          <a:r>
                            <a:rPr lang="en-US" altLang="ko-KR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/</a:t>
                          </a: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오른쪽 </a:t>
                          </a:r>
                          <a:r>
                            <a:rPr lang="en-US" altLang="ko-KR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AABB</a:t>
                          </a: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의 표면적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20156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t="-320000" r="-407692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왼쪽</a:t>
                          </a:r>
                          <a:r>
                            <a:rPr lang="en-US" altLang="ko-KR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/</a:t>
                          </a:r>
                          <a:r>
                            <a:rPr lang="ko-KR" altLang="en-US" sz="1400" b="1" dirty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</a:rPr>
                            <a:t>오른쪽 그룹에 속한 오브젝트 개수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057075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t="-420000" r="-407692" b="-1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트리 탐색</a:t>
                          </a:r>
                          <a:r>
                            <a:rPr lang="en-US" altLang="ko-KR" sz="1400" dirty="0"/>
                            <a:t> </a:t>
                          </a:r>
                          <a:r>
                            <a:rPr lang="ko-KR" altLang="en-US" sz="1400" dirty="0"/>
                            <a:t>비용</a:t>
                          </a:r>
                          <a:r>
                            <a:rPr lang="en-US" altLang="ko-KR" sz="1400" dirty="0"/>
                            <a:t>=</a:t>
                          </a:r>
                          <a:r>
                            <a:rPr lang="ko-KR" altLang="en-US" sz="1400" dirty="0"/>
                            <a:t> 노드 </a:t>
                          </a:r>
                          <a:r>
                            <a:rPr lang="en-US" altLang="ko-KR" sz="1400" dirty="0"/>
                            <a:t>AABB </a:t>
                          </a:r>
                          <a:r>
                            <a:rPr lang="ko-KR" altLang="en-US" sz="1400" dirty="0"/>
                            <a:t>교차 검사</a:t>
                          </a:r>
                          <a:r>
                            <a:rPr lang="en-US" altLang="ko-KR" sz="1400" dirty="0"/>
                            <a:t>1</a:t>
                          </a:r>
                          <a:r>
                            <a:rPr lang="ko-KR" altLang="en-US" sz="1400" dirty="0"/>
                            <a:t>회 비용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684516"/>
                      </a:ext>
                    </a:extLst>
                  </a:tr>
                  <a:tr h="31286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8"/>
                          <a:stretch>
                            <a:fillRect t="-500000" r="-407692" b="-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altLang="en-US" sz="1400" dirty="0"/>
                            <a:t>오브젝트</a:t>
                          </a:r>
                          <a:r>
                            <a:rPr lang="en-US" altLang="ko-KR" sz="1400" dirty="0"/>
                            <a:t>(AABB or</a:t>
                          </a:r>
                          <a:r>
                            <a:rPr lang="ko-KR" altLang="en-US" sz="1400" dirty="0"/>
                            <a:t> </a:t>
                          </a:r>
                          <a:r>
                            <a:rPr lang="en-US" altLang="ko-KR" sz="1400" dirty="0"/>
                            <a:t>other)</a:t>
                          </a:r>
                          <a:r>
                            <a:rPr lang="ko-KR" altLang="en-US" sz="1400" dirty="0"/>
                            <a:t> 교차 테스트 비용 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7420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3F17BA-6064-9F64-C048-2F7A0A5C4F5B}"/>
                  </a:ext>
                </a:extLst>
              </p:cNvPr>
              <p:cNvSpPr txBox="1"/>
              <p:nvPr/>
            </p:nvSpPr>
            <p:spPr>
              <a:xfrm>
                <a:off x="8869941" y="3743935"/>
                <a:ext cx="3193674" cy="12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400" dirty="0"/>
                  <a:t>SAH</a:t>
                </a:r>
                <a:r>
                  <a:rPr lang="ko-KR" altLang="en-US" sz="1400" dirty="0"/>
                  <a:t>에서 </a:t>
                </a:r>
                <a:r>
                  <a:rPr lang="ko-KR" altLang="en-US" sz="1400" dirty="0" err="1"/>
                  <a:t>상수항</a:t>
                </a:r>
                <a:r>
                  <a:rPr lang="en-US" altLang="ko-KR" sz="1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/>
                        </m:ctrlPr>
                      </m:sSubPr>
                      <m:e>
                        <m:r>
                          <a:rPr lang="ko-KR" altLang="en-US" i="1"/>
                          <m:t>𝐶</m:t>
                        </m:r>
                      </m:e>
                      <m:sub>
                        <m:r>
                          <a:rPr lang="ko-KR" altLang="en-US" i="1"/>
                          <m:t>𝑡</m:t>
                        </m:r>
                      </m:sub>
                    </m:sSub>
                    <m:r>
                      <a:rPr lang="en-US" altLang="ko-KR"/>
                      <m:t>,</m:t>
                    </m:r>
                    <m:sSub>
                      <m:sSubPr>
                        <m:ctrlPr>
                          <a:rPr lang="ko-KR" altLang="en-US" i="1"/>
                        </m:ctrlPr>
                      </m:sSubPr>
                      <m:e>
                        <m:r>
                          <a:rPr lang="ko-KR" altLang="en-US" i="1"/>
                          <m:t>𝐶</m:t>
                        </m:r>
                      </m:e>
                      <m:sub>
                        <m:r>
                          <a:rPr lang="ko-KR" altLang="en-US" i="1"/>
                          <m:t>𝑖</m:t>
                        </m:r>
                      </m:sub>
                    </m:sSub>
                    <m:r>
                      <a:rPr lang="en-US" altLang="ko-KR"/>
                      <m:t>,</m:t>
                    </m:r>
                    <m:sSub>
                      <m:sSubPr>
                        <m:ctrlPr>
                          <a:rPr lang="ko-KR" altLang="en-US" i="1"/>
                        </m:ctrlPr>
                      </m:sSubPr>
                      <m:e>
                        <m:r>
                          <a:rPr lang="ko-KR" altLang="en-US" i="1"/>
                          <m:t>𝑆</m:t>
                        </m:r>
                      </m:e>
                      <m:sub>
                        <m:r>
                          <a:rPr lang="ko-KR" altLang="en-US" i="1"/>
                          <m:t>𝑃</m:t>
                        </m:r>
                      </m:sub>
                    </m:sSub>
                  </m:oMath>
                </a14:m>
                <a:r>
                  <a:rPr lang="en-US" altLang="ko-KR" sz="1400" dirty="0"/>
                  <a:t>)</a:t>
                </a:r>
                <a:r>
                  <a:rPr lang="ko-KR" altLang="en-US" sz="1400" dirty="0"/>
                  <a:t>은</a:t>
                </a:r>
                <a:br>
                  <a:rPr lang="ko-KR" altLang="en-US" sz="1400" dirty="0"/>
                </a:br>
                <a:r>
                  <a:rPr lang="ko-KR" altLang="en-US" sz="1400" dirty="0"/>
                  <a:t>모든 후보에서 동일하기 때문에</a:t>
                </a:r>
                <a:br>
                  <a:rPr lang="ko-KR" altLang="en-US" sz="1400" dirty="0"/>
                </a:br>
                <a:r>
                  <a:rPr lang="ko-KR" altLang="en-US" sz="1400" dirty="0"/>
                  <a:t>“비교” 결과에는 영향을 </a:t>
                </a:r>
                <a:r>
                  <a:rPr lang="ko-KR" altLang="en-US" sz="1400" dirty="0" err="1"/>
                  <a:t>주지않는다</a:t>
                </a:r>
                <a:r>
                  <a:rPr lang="en-US" altLang="ko-KR" sz="1400" dirty="0"/>
                  <a:t>.</a:t>
                </a:r>
              </a:p>
              <a:p>
                <a:pPr>
                  <a:buNone/>
                </a:pPr>
                <a:endParaRPr lang="en-US" altLang="ko-KR" sz="1400" dirty="0"/>
              </a:p>
              <a:p>
                <a:pPr>
                  <a:buNone/>
                </a:pP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ko-KR" sz="1400" b="0" i="1">
                            <a:latin typeface="Cambria Math" panose="02040503050406030204" pitchFamily="18" charset="0"/>
                          </a:rPr>
                          <m:t>split</m:t>
                        </m:r>
                      </m:sub>
                    </m:sSub>
                    <m:r>
                      <a:rPr lang="ko-KR" altLang="en-US" sz="1400" b="0" i="0">
                        <a:latin typeface="Cambria Math" panose="02040503050406030204" pitchFamily="18" charset="0"/>
                      </a:rPr>
                      <m:t>∝</m:t>
                    </m:r>
                    <m:d>
                      <m:dPr>
                        <m:ctrlPr>
                          <a:rPr lang="ko-KR" altLang="en-US" sz="1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  <m:r>
                          <a:rPr lang="ko-KR" altLang="en-US" sz="1400" b="1" i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  <m:r>
                          <a:rPr lang="en-US" altLang="ko-KR" sz="1400" b="1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ko-KR" altLang="en-US" sz="1400" b="1" i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ko-KR" altLang="en-US" sz="14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400" b="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3F17BA-6064-9F64-C048-2F7A0A5C4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941" y="3743935"/>
                <a:ext cx="3193674" cy="1276440"/>
              </a:xfrm>
              <a:prstGeom prst="rect">
                <a:avLst/>
              </a:prstGeom>
              <a:blipFill>
                <a:blip r:embed="rId9"/>
                <a:stretch>
                  <a:fillRect l="-573" b="-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755A2671-C387-975A-72DC-99E898153C0D}"/>
              </a:ext>
            </a:extLst>
          </p:cNvPr>
          <p:cNvSpPr txBox="1"/>
          <p:nvPr/>
        </p:nvSpPr>
        <p:spPr>
          <a:xfrm>
            <a:off x="8792371" y="5020375"/>
            <a:ext cx="30891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float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cost</a:t>
            </a:r>
            <a:r>
              <a:rPr lang="ko-KR" altLang="en-US" sz="1400" dirty="0"/>
              <a:t> = S_L * N_L + S_R * N_R;</a:t>
            </a:r>
          </a:p>
          <a:p>
            <a:r>
              <a:rPr lang="ko-KR" altLang="en-US" sz="1400" dirty="0" err="1"/>
              <a:t>if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cost</a:t>
            </a:r>
            <a:r>
              <a:rPr lang="ko-KR" altLang="en-US" sz="1400" dirty="0"/>
              <a:t> &lt; </a:t>
            </a:r>
            <a:r>
              <a:rPr lang="ko-KR" altLang="en-US" sz="1400" dirty="0" err="1"/>
              <a:t>bestCost</a:t>
            </a:r>
            <a:r>
              <a:rPr lang="ko-KR" altLang="en-US" sz="1400" dirty="0"/>
              <a:t>)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bestCost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cost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bestSplit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i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6525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753B9-115B-9A01-0849-91905FE9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86E55-91BC-611D-A11E-0E0B121A5666}"/>
              </a:ext>
            </a:extLst>
          </p:cNvPr>
          <p:cNvSpPr txBox="1"/>
          <p:nvPr/>
        </p:nvSpPr>
        <p:spPr>
          <a:xfrm>
            <a:off x="534075" y="1690688"/>
            <a:ext cx="87747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다수의 </a:t>
            </a:r>
            <a:r>
              <a:rPr lang="en-US" altLang="ko-KR" dirty="0"/>
              <a:t>AABB </a:t>
            </a:r>
            <a:r>
              <a:rPr lang="ko-KR" altLang="en-US" dirty="0"/>
              <a:t>배열을 준비하고 배열 기반의 정적 </a:t>
            </a:r>
            <a:r>
              <a:rPr lang="en-US" altLang="ko-KR" dirty="0"/>
              <a:t>BVH </a:t>
            </a:r>
            <a:r>
              <a:rPr lang="ko-KR" altLang="en-US" dirty="0"/>
              <a:t>트리를 구성합니다</a:t>
            </a:r>
            <a:r>
              <a:rPr lang="en-US" altLang="ko-KR" dirty="0"/>
              <a:t>. (BVH2)</a:t>
            </a:r>
          </a:p>
          <a:p>
            <a:r>
              <a:rPr lang="ko-KR" altLang="en-US" dirty="0"/>
              <a:t>트리 </a:t>
            </a:r>
            <a:r>
              <a:rPr lang="ko-KR" altLang="en-US" dirty="0" err="1"/>
              <a:t>빌드방법은</a:t>
            </a:r>
            <a:r>
              <a:rPr lang="ko-KR" altLang="en-US" dirty="0"/>
              <a:t> 오브젝트 수 기반 하향식 빌드를 사용합니다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큐브의 카메라 </a:t>
            </a:r>
            <a:r>
              <a:rPr lang="ko-KR" altLang="en-US" dirty="0" err="1"/>
              <a:t>컬링을</a:t>
            </a:r>
            <a:r>
              <a:rPr lang="ko-KR" altLang="en-US" dirty="0"/>
              <a:t> 단순 전체 루프</a:t>
            </a:r>
            <a:r>
              <a:rPr lang="en-US" altLang="ko-KR" dirty="0"/>
              <a:t>(Brute-force) </a:t>
            </a:r>
            <a:r>
              <a:rPr lang="ko-KR" altLang="en-US" dirty="0"/>
              <a:t>와 </a:t>
            </a:r>
            <a:r>
              <a:rPr lang="en-US" altLang="ko-KR" dirty="0"/>
              <a:t>BVH </a:t>
            </a:r>
            <a:r>
              <a:rPr lang="ko-KR" altLang="en-US" dirty="0"/>
              <a:t>트리를 이용한 </a:t>
            </a:r>
            <a:r>
              <a:rPr lang="ko-KR" altLang="en-US" dirty="0" err="1"/>
              <a:t>컬링</a:t>
            </a:r>
            <a:r>
              <a:rPr lang="ko-KR" altLang="en-US" dirty="0"/>
              <a:t> 을  </a:t>
            </a:r>
            <a:endParaRPr lang="en-US" altLang="ko-KR" dirty="0"/>
          </a:p>
          <a:p>
            <a:r>
              <a:rPr lang="ko-KR" altLang="en-US" dirty="0"/>
              <a:t>선택 작동 하게하고 </a:t>
            </a:r>
            <a:r>
              <a:rPr lang="ko-KR" altLang="en-US" dirty="0" err="1"/>
              <a:t>걸린시간과</a:t>
            </a:r>
            <a:r>
              <a:rPr lang="ko-KR" altLang="en-US" dirty="0"/>
              <a:t> </a:t>
            </a:r>
            <a:r>
              <a:rPr lang="en-US" altLang="ko-KR" dirty="0"/>
              <a:t>FPS</a:t>
            </a:r>
            <a:r>
              <a:rPr lang="ko-KR" altLang="en-US" dirty="0"/>
              <a:t>를 출력합니다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2789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1677</Words>
  <Application>Microsoft Office PowerPoint</Application>
  <PresentationFormat>와이드스크린</PresentationFormat>
  <Paragraphs>271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Cambria Math</vt:lpstr>
      <vt:lpstr>Office 테마</vt:lpstr>
      <vt:lpstr>BoundingVolumeHierarchy</vt:lpstr>
      <vt:lpstr>QuadTree</vt:lpstr>
      <vt:lpstr>BVH (BoundingVolumeHierarchy)</vt:lpstr>
      <vt:lpstr>BVH 포인터 트리의  의사 코드</vt:lpstr>
      <vt:lpstr>BVH 배열 트리의 의사 코드</vt:lpstr>
      <vt:lpstr>트리의 품질(Tree Quality)</vt:lpstr>
      <vt:lpstr>트리 구축 방식</vt:lpstr>
      <vt:lpstr>하향식 – 오브젝트 수 분할점 결정 방식</vt:lpstr>
      <vt:lpstr>하향식 – 중간 거리 분할점 결정 방식</vt:lpstr>
      <vt:lpstr>하향식 – SAH (Surface Area Huristic)</vt:lpstr>
      <vt:lpstr>과제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Dongwon Lee</dc:creator>
  <cp:lastModifiedBy>Dongwon Lee</cp:lastModifiedBy>
  <cp:revision>339</cp:revision>
  <dcterms:created xsi:type="dcterms:W3CDTF">2025-11-04T12:33:20Z</dcterms:created>
  <dcterms:modified xsi:type="dcterms:W3CDTF">2025-11-05T21:33:40Z</dcterms:modified>
</cp:coreProperties>
</file>