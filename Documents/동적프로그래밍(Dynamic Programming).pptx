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73" r:id="rId6"/>
    <p:sldId id="261" r:id="rId7"/>
    <p:sldId id="271" r:id="rId8"/>
    <p:sldId id="267" r:id="rId9"/>
    <p:sldId id="269" r:id="rId10"/>
    <p:sldId id="272" r:id="rId11"/>
    <p:sldId id="266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6" y="1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AD773-4571-4BA7-9764-EB3102683502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F6841-78BC-4592-888C-95736FE30E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501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E314A-159A-5306-E914-204E45A73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DEF67D-9DF2-500F-A93B-59E05EE64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85FF00-48CE-5AA2-325E-1F2C5C63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64B257-33C6-50C8-E693-E0F3CCAF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F710E-09E2-E843-AB67-97ED85FB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73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32A5F-80DF-13ED-77B5-B447CE6D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CC81-25DF-740C-E3EF-21360711F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946FC-8CD2-3683-553C-9817E078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C3B94-407B-B3B0-2735-69E57093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9FCB8-F17A-F552-41B3-86679A42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06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42C32-9331-95D9-2325-2F40F29F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9C866-8F34-4879-DBB1-22F0C054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B2B45-0D3F-9A73-A18E-D195D3EF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6E52F-B9E6-ECEF-F3BD-E93C6576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5EF57-DAD2-9BB8-7A01-7CA16694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32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C4B74-E066-6824-8DDD-C93261CE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982F0-E099-69B1-8C7E-1D4CC162D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E67CD9-810A-39AA-F1F7-9D12C81F8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CA120C-38C7-1BA9-9495-55D850C0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F05EE4-78B6-6981-F99F-B3C88E8E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A9A2B6-1D9E-33F4-6865-E8540CD1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28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D2EAD-42AB-654C-7A64-2C37F20B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BA585D-B83F-6DD4-72F7-5C8578113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681B13-25CA-7B2B-D57D-D5A0E2D89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1CC30F-9266-AFC3-2DE7-410B20179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34DF90-B7E2-B00D-E7E0-2EFBF6552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841F6B-6786-1673-BD8B-3EE7BF93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873D53-B889-1CE2-3C59-EA426941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F89520-35A9-4C1D-144F-C6F7BFD3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8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99D77-FA13-D4F7-7FCF-8F3FDF97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259129-70AF-DA6A-0D49-8DF54B05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566D17-2C02-61CE-1FBD-CAA74D31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22C608-566C-F518-0D18-E2B6B31E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16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13C27C-E8DA-CA3F-1F20-13B11847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34BECB-E9B0-13BD-7F22-65428BE3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888A-AC47-57E2-2014-A01E0335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22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744D2-A265-3C02-364A-B8E8C2C0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18D1D-A257-477A-7565-D0658849D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449A78-781F-E180-267F-17AD62621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F19700-FEDD-2049-C3B5-C295EEA9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76578E-1B00-8040-0594-580D0EB0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830800-A835-9CA7-D7B6-D38520F7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33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8298B-D618-1ABA-FC38-417E80CF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D05A9B-785E-AE73-CF04-0E8B8DC17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20B5D5-B638-152E-90AB-2C7EDCB7D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03B65-9552-8557-97DF-2F3498A3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FA6549-2752-612C-5542-1D09A79B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D1272-B0D8-A2D2-B63B-16A0E9A5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57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8B087-8A1E-8545-387C-46CFC828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B1B64C-F77D-00B9-7857-3DC0EC732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296B6-091E-13F6-5673-61458602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0F964C-3FA5-D71B-EE6C-116AD845A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3FD343-11FD-15E9-EDE5-ED2C1338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5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EEF779-B55C-2DA8-701D-C9187E1B3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98DE32-FC5B-EE67-A05C-EDE89CB9B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BA089-C06B-937D-64EF-A7882309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9F748B-941D-ED90-BA5E-50BA1BCC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BCEAE-90AD-99D3-5995-AF75F06E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50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106B79-E96A-8F8D-819F-056D304D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295A23-C37B-F250-05AF-3C04E0D98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CFA5C-C0BE-F93E-F4FE-B7F4FE6B4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EDAE8-372D-4E5B-BC55-512BC2C23F36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53306-E5C8-73FD-FE10-A5E7D3F86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EC1E0-68BE-F6EB-DCDC-076AB7165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4A3EE-638F-4D22-BBE6-9804680B32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57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42201-CAE5-359D-F9EF-C7068A61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9" y="1122363"/>
            <a:ext cx="9753599" cy="2387600"/>
          </a:xfrm>
        </p:spPr>
        <p:txBody>
          <a:bodyPr>
            <a:normAutofit/>
          </a:bodyPr>
          <a:lstStyle/>
          <a:p>
            <a:r>
              <a:rPr lang="ko-KR" altLang="en-US"/>
              <a:t>동적 프로그래밍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3587FF-5D7F-833D-4635-71A2BA3685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Dynamic Programming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914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D3181-C982-AA14-EEDD-32066BDA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Dynamic Programming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D6ACD-E3EA-C28E-23CE-724976F023E8}"/>
              </a:ext>
            </a:extLst>
          </p:cNvPr>
          <p:cNvSpPr txBox="1"/>
          <p:nvPr/>
        </p:nvSpPr>
        <p:spPr>
          <a:xfrm>
            <a:off x="576943" y="1621532"/>
            <a:ext cx="11095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동적 프로그래밍</a:t>
            </a:r>
            <a:r>
              <a:rPr lang="en-US" altLang="ko-KR" dirty="0"/>
              <a:t>(Dynamic Programming, DP)</a:t>
            </a:r>
            <a:r>
              <a:rPr lang="ko-KR" altLang="en-US" dirty="0"/>
              <a:t>은 </a:t>
            </a:r>
            <a:r>
              <a:rPr lang="ko-KR" altLang="en-US" b="1" dirty="0"/>
              <a:t>큰 문제를 작은 부분 문제</a:t>
            </a:r>
            <a:r>
              <a:rPr lang="en-US" altLang="ko-KR" b="1" dirty="0"/>
              <a:t>(subproblem)</a:t>
            </a:r>
            <a:r>
              <a:rPr lang="ko-KR" altLang="en-US" b="1" dirty="0"/>
              <a:t>로 나누고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ko-KR" altLang="en-US" b="1" dirty="0"/>
              <a:t>부분 문제의 해</a:t>
            </a:r>
            <a:r>
              <a:rPr lang="en-US" altLang="ko-KR" b="1" dirty="0"/>
              <a:t>(</a:t>
            </a:r>
            <a:r>
              <a:rPr lang="ko-KR" altLang="en-US" b="1" dirty="0"/>
              <a:t>결과</a:t>
            </a:r>
            <a:r>
              <a:rPr lang="en-US" altLang="ko-KR" b="1" dirty="0"/>
              <a:t>)</a:t>
            </a:r>
            <a:r>
              <a:rPr lang="ko-KR" altLang="en-US" b="1" dirty="0"/>
              <a:t>를 저장하여 재활용</a:t>
            </a:r>
            <a:r>
              <a:rPr lang="ko-KR" altLang="en-US" dirty="0"/>
              <a:t>함으로써 전체 문제를 효율적으로 해결하는 알고리즘 기법이다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동적의 의미는 일반적으로 알고 있는 정적</a:t>
            </a:r>
            <a:r>
              <a:rPr lang="en-US" altLang="ko-KR" dirty="0"/>
              <a:t>(Static)</a:t>
            </a:r>
            <a:r>
              <a:rPr lang="ko-KR" altLang="en-US" dirty="0"/>
              <a:t>과는 크게 상관이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12C03-D95D-A440-C512-A6E708002AA0}"/>
              </a:ext>
            </a:extLst>
          </p:cNvPr>
          <p:cNvSpPr txBox="1"/>
          <p:nvPr/>
        </p:nvSpPr>
        <p:spPr>
          <a:xfrm>
            <a:off x="728062" y="2947095"/>
            <a:ext cx="1117450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 동적 프로그래밍의 핵심 개념 </a:t>
            </a:r>
            <a:r>
              <a:rPr lang="en-US" altLang="ko-KR" b="1" dirty="0"/>
              <a:t>2</a:t>
            </a:r>
            <a:r>
              <a:rPr lang="ko-KR" altLang="en-US" b="1" dirty="0"/>
              <a:t>가지</a:t>
            </a:r>
            <a:endParaRPr lang="en-US" altLang="ko-KR" b="1" dirty="0"/>
          </a:p>
          <a:p>
            <a:pPr>
              <a:buNone/>
            </a:pPr>
            <a:endParaRPr lang="ko-KR" altLang="en-US" b="1" dirty="0"/>
          </a:p>
          <a:p>
            <a:pPr>
              <a:buNone/>
            </a:pPr>
            <a:r>
              <a:rPr lang="en-US" altLang="ko-KR" b="1" dirty="0"/>
              <a:t>1) </a:t>
            </a:r>
            <a:r>
              <a:rPr lang="ko-KR" altLang="en-US" b="1" dirty="0"/>
              <a:t>중복되는 부분 문제</a:t>
            </a:r>
            <a:r>
              <a:rPr lang="en-US" altLang="ko-KR" b="1" dirty="0"/>
              <a:t>(Overlapping Subproblems)</a:t>
            </a:r>
          </a:p>
          <a:p>
            <a:r>
              <a:rPr lang="ko-KR" altLang="en-US" dirty="0"/>
              <a:t> 동일한 작은 문제를 여러 번 반복해서 계산해야 하는 구조 </a:t>
            </a:r>
            <a:r>
              <a:rPr lang="en-US" altLang="ko-KR" dirty="0"/>
              <a:t>( </a:t>
            </a:r>
            <a:r>
              <a:rPr lang="ko-KR" altLang="en-US" dirty="0"/>
              <a:t>작은 문제 결과</a:t>
            </a:r>
            <a:r>
              <a:rPr lang="en-US" altLang="ko-KR" dirty="0"/>
              <a:t>-&gt; </a:t>
            </a:r>
            <a:r>
              <a:rPr lang="ko-KR" altLang="en-US" dirty="0"/>
              <a:t>저장 후 재사용</a:t>
            </a:r>
            <a:r>
              <a:rPr lang="en-US" altLang="ko-KR" dirty="0"/>
              <a:t>)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>
              <a:buNone/>
            </a:pPr>
            <a:r>
              <a:rPr lang="en-US" altLang="ko-KR" b="1" dirty="0"/>
              <a:t>2) </a:t>
            </a:r>
            <a:r>
              <a:rPr lang="ko-KR" altLang="en-US" b="1" dirty="0"/>
              <a:t>최적 부분 구조</a:t>
            </a:r>
            <a:r>
              <a:rPr lang="en-US" altLang="ko-KR" b="1" dirty="0"/>
              <a:t>(Optimal Substructure)</a:t>
            </a:r>
          </a:p>
          <a:p>
            <a:r>
              <a:rPr lang="ko-KR" altLang="en-US" dirty="0"/>
              <a:t> 전체 문제의 최적 해가 부분 문제의 최적</a:t>
            </a:r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  <a:r>
              <a:rPr lang="ko-KR" altLang="en-US" dirty="0"/>
              <a:t> 해로 구성될 수 있어야 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b="1" dirty="0"/>
              <a:t>중복되는 문제</a:t>
            </a:r>
            <a:r>
              <a:rPr lang="ko-KR" altLang="en-US" dirty="0"/>
              <a:t>가 있고 </a:t>
            </a:r>
            <a:r>
              <a:rPr lang="ko-KR" altLang="en-US" b="1" dirty="0"/>
              <a:t>작은 문제의 최선</a:t>
            </a:r>
            <a:r>
              <a:rPr lang="en-US" altLang="ko-KR" b="1" dirty="0"/>
              <a:t>(best) </a:t>
            </a:r>
            <a:r>
              <a:rPr lang="ko-KR" altLang="en-US" b="1" dirty="0"/>
              <a:t>해답으로 큰 문제의 최선 해답을 구성할 수 있어야 한다</a:t>
            </a:r>
            <a:br>
              <a:rPr lang="ko-KR" altLang="en-US" dirty="0"/>
            </a:br>
            <a:r>
              <a:rPr lang="ko-KR" altLang="en-US" sz="1400" dirty="0"/>
              <a:t>최단 경로</a:t>
            </a:r>
            <a:r>
              <a:rPr lang="en-US" altLang="ko-KR" sz="1400" dirty="0"/>
              <a:t>,</a:t>
            </a:r>
            <a:r>
              <a:rPr lang="ko-KR" altLang="en-US" sz="1400" dirty="0"/>
              <a:t> 최소 비용</a:t>
            </a:r>
            <a:r>
              <a:rPr lang="en-US" altLang="ko-KR" sz="1400" dirty="0"/>
              <a:t>,</a:t>
            </a:r>
            <a:r>
              <a:rPr lang="ko-KR" altLang="en-US" sz="1400" dirty="0"/>
              <a:t> 최대 이익</a:t>
            </a:r>
            <a:r>
              <a:rPr lang="en-US" altLang="ko-KR" sz="1400" dirty="0"/>
              <a:t>,</a:t>
            </a:r>
            <a:r>
              <a:rPr lang="ko-KR" altLang="en-US" sz="1400" dirty="0"/>
              <a:t> 최소 시간 가능한 가능 한 경우에서 </a:t>
            </a:r>
            <a:r>
              <a:rPr lang="ko-KR" altLang="en-US" sz="1400" b="1" dirty="0"/>
              <a:t>최적</a:t>
            </a:r>
            <a:r>
              <a:rPr lang="en-US" altLang="ko-KR" sz="1400" b="1" dirty="0"/>
              <a:t>(Optimal)</a:t>
            </a:r>
            <a:r>
              <a:rPr lang="ko-KR" altLang="en-US" sz="1400" dirty="0"/>
              <a:t> 을 찾아야 하는 문제들 </a:t>
            </a:r>
            <a:endParaRPr lang="en-US" altLang="ko-KR" sz="1400" dirty="0"/>
          </a:p>
          <a:p>
            <a:r>
              <a:rPr lang="ko-KR" altLang="en-US" sz="1400" dirty="0"/>
              <a:t>경우의 수 세기</a:t>
            </a:r>
            <a:r>
              <a:rPr lang="en-US" altLang="ko-KR" sz="1400" dirty="0"/>
              <a:t>, </a:t>
            </a:r>
            <a:r>
              <a:rPr lang="ko-KR" altLang="en-US" sz="1400" dirty="0"/>
              <a:t>가능 여부 확인 같은 문제들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43633-991E-3894-01BC-E8314F086E32}"/>
              </a:ext>
            </a:extLst>
          </p:cNvPr>
          <p:cNvSpPr txBox="1"/>
          <p:nvPr/>
        </p:nvSpPr>
        <p:spPr>
          <a:xfrm>
            <a:off x="9009129" y="3438605"/>
            <a:ext cx="23294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memorization / tabulation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9262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5B338-D315-0816-BAC6-C60F7A778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중복되는 부분 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8708B-512F-FF2E-14A4-04C74881A997}"/>
              </a:ext>
            </a:extLst>
          </p:cNvPr>
          <p:cNvSpPr txBox="1"/>
          <p:nvPr/>
        </p:nvSpPr>
        <p:spPr>
          <a:xfrm>
            <a:off x="582064" y="1770361"/>
            <a:ext cx="108440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피보나치 수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(Fibonacci numbers)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는 첫째 및 둘째 항이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이며 그 뒤의 모든 항은 바로 앞 두 항의 합인 </a:t>
            </a:r>
            <a:r>
              <a:rPr lang="ko-KR" altLang="en-US" b="0" i="0" strike="noStrike" dirty="0">
                <a:effectLst/>
                <a:latin typeface="Arial" panose="020B0604020202020204" pitchFamily="34" charset="0"/>
              </a:rPr>
              <a:t>수열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이다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처음 여섯 항은 각각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1, 1, 2, 3, 5, 8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이다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편의상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0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번째 항을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0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으로 두기도 한다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0, 1, 1, 2, 3, 5, 8, 13, 21, 34, 55, 89, 144, 233, 377, 610, 987, 1597, 2584, 4181 …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E6C1AB-F6BB-BAF6-E4E9-C9CFC1CAC26C}"/>
                  </a:ext>
                </a:extLst>
              </p:cNvPr>
              <p:cNvSpPr txBox="1"/>
              <p:nvPr/>
            </p:nvSpPr>
            <p:spPr>
              <a:xfrm>
                <a:off x="333925" y="3102528"/>
                <a:ext cx="6287462" cy="2616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ko-KR" altLang="en-US" sz="1400" dirty="0" err="1"/>
                  <a:t>점화식</a:t>
                </a:r>
                <a:r>
                  <a:rPr lang="en-US" altLang="ko-KR" sz="1400" dirty="0"/>
                  <a:t>: </a:t>
                </a:r>
                <a:r>
                  <a:rPr lang="ko-KR" altLang="en-US" sz="1400" dirty="0"/>
                  <a:t>어떤 수열 또는 문제의 현재 값을 이전 단계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작은 문제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의 값들로 표현한 식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관계식</a:t>
                </a:r>
                <a:r>
                  <a:rPr lang="en-US" altLang="ko-KR" sz="1400" dirty="0"/>
                  <a:t>)</a:t>
                </a:r>
              </a:p>
              <a:p>
                <a:pPr>
                  <a:buNone/>
                </a:pPr>
                <a:endParaRPr lang="en-US" altLang="ko-KR" sz="1400" dirty="0"/>
              </a:p>
              <a:p>
                <a:r>
                  <a:rPr lang="ko-KR" altLang="en-US" sz="1400" dirty="0"/>
                  <a:t>피보나치 수열의 </a:t>
                </a:r>
                <a:r>
                  <a:rPr lang="ko-KR" altLang="en-US" sz="1400" dirty="0" err="1"/>
                  <a:t>점화식</a:t>
                </a:r>
                <a:r>
                  <a:rPr lang="ko-KR" altLang="en-US" sz="1400" dirty="0"/>
                  <a:t> 정의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ko-K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ko-KR" dirty="0"/>
              </a:p>
              <a:p>
                <a:pPr>
                  <a:buNone/>
                </a:pPr>
                <a:endParaRPr lang="ko-KR" altLang="en-US" dirty="0"/>
              </a:p>
              <a:p>
                <a:pPr>
                  <a:buNone/>
                </a:pPr>
                <a:r>
                  <a:rPr lang="ko-KR" altLang="en-US" dirty="0"/>
                  <a:t>초기값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1 ,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ko-KR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altLang="ko-K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ko-KR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altLang="ko-KR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ko-KR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altLang="ko-K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ko-KR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ko-KR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ar-AE" altLang="ko-K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altLang="ko-KR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ko-KR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ar-AE" altLang="ko-K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ar-AE" altLang="ko-KR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E6C1AB-F6BB-BAF6-E4E9-C9CFC1CA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25" y="3102528"/>
                <a:ext cx="6287462" cy="2616101"/>
              </a:xfrm>
              <a:prstGeom prst="rect">
                <a:avLst/>
              </a:prstGeom>
              <a:blipFill>
                <a:blip r:embed="rId2"/>
                <a:stretch>
                  <a:fillRect l="-873" t="-4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8937C29-548D-FA7F-EF1F-84C75EB23C22}"/>
              </a:ext>
            </a:extLst>
          </p:cNvPr>
          <p:cNvSpPr txBox="1"/>
          <p:nvPr/>
        </p:nvSpPr>
        <p:spPr>
          <a:xfrm>
            <a:off x="582064" y="6154321"/>
            <a:ext cx="100431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 </a:t>
            </a:r>
            <a:r>
              <a:rPr lang="ko-KR" altLang="en-US" sz="1600" dirty="0"/>
              <a:t>부분 문제 해결이 전체 문제 해결에 이용되는 예 일 뿐이지 최적의 선택에 대한 개념은 포함 되어있지 않다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4DE3F-FBC6-FEA2-3701-958AB084EE50}"/>
              </a:ext>
            </a:extLst>
          </p:cNvPr>
          <p:cNvSpPr txBox="1"/>
          <p:nvPr/>
        </p:nvSpPr>
        <p:spPr>
          <a:xfrm>
            <a:off x="5330797" y="3467055"/>
            <a:ext cx="31831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/>
              <a:t>int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fib</a:t>
            </a:r>
            <a:r>
              <a:rPr lang="ko-KR" altLang="en-US" sz="1600" dirty="0"/>
              <a:t>(</a:t>
            </a:r>
            <a:r>
              <a:rPr lang="ko-KR" altLang="en-US" sz="1600" dirty="0" err="1"/>
              <a:t>int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n</a:t>
            </a:r>
            <a:r>
              <a:rPr lang="ko-KR" altLang="en-US" sz="1600" dirty="0"/>
              <a:t>)</a:t>
            </a:r>
          </a:p>
          <a:p>
            <a:r>
              <a:rPr lang="ko-KR" altLang="en-US" sz="1600" dirty="0"/>
              <a:t>{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if</a:t>
            </a:r>
            <a:r>
              <a:rPr lang="ko-KR" altLang="en-US" sz="1600" dirty="0"/>
              <a:t> (</a:t>
            </a:r>
            <a:r>
              <a:rPr lang="ko-KR" altLang="en-US" sz="1600" dirty="0" err="1"/>
              <a:t>n</a:t>
            </a:r>
            <a:r>
              <a:rPr lang="ko-KR" altLang="en-US" sz="1600" dirty="0"/>
              <a:t> &lt;= 1)</a:t>
            </a:r>
          </a:p>
          <a:p>
            <a:r>
              <a:rPr lang="ko-KR" altLang="en-US" sz="1600" dirty="0"/>
              <a:t>        </a:t>
            </a:r>
            <a:r>
              <a:rPr lang="ko-KR" altLang="en-US" sz="1600" dirty="0" err="1"/>
              <a:t>return</a:t>
            </a:r>
            <a:r>
              <a:rPr lang="ko-KR" altLang="en-US" sz="1600" dirty="0"/>
              <a:t> </a:t>
            </a:r>
            <a:r>
              <a:rPr lang="ko-KR" altLang="en-US" sz="1600" dirty="0" err="1"/>
              <a:t>n</a:t>
            </a:r>
            <a:r>
              <a:rPr lang="ko-KR" altLang="en-US" sz="1600" dirty="0"/>
              <a:t>;</a:t>
            </a:r>
          </a:p>
          <a:p>
            <a:endParaRPr lang="ko-KR" altLang="en-US" sz="1600" dirty="0"/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return</a:t>
            </a:r>
            <a:r>
              <a:rPr lang="ko-KR" altLang="en-US" sz="1600" dirty="0"/>
              <a:t> </a:t>
            </a:r>
            <a:r>
              <a:rPr lang="ko-KR" altLang="en-US" sz="1600" dirty="0" err="1"/>
              <a:t>fib</a:t>
            </a:r>
            <a:r>
              <a:rPr lang="ko-KR" altLang="en-US" sz="1600" dirty="0"/>
              <a:t>(</a:t>
            </a:r>
            <a:r>
              <a:rPr lang="ko-KR" altLang="en-US" sz="1600" dirty="0" err="1"/>
              <a:t>n</a:t>
            </a:r>
            <a:r>
              <a:rPr lang="ko-KR" altLang="en-US" sz="1600" dirty="0"/>
              <a:t> - 1) + </a:t>
            </a:r>
            <a:r>
              <a:rPr lang="ko-KR" altLang="en-US" sz="1600" dirty="0" err="1"/>
              <a:t>fib</a:t>
            </a:r>
            <a:r>
              <a:rPr lang="ko-KR" altLang="en-US" sz="1600" dirty="0"/>
              <a:t>(</a:t>
            </a:r>
            <a:r>
              <a:rPr lang="ko-KR" altLang="en-US" sz="1600" dirty="0" err="1"/>
              <a:t>n</a:t>
            </a:r>
            <a:r>
              <a:rPr lang="ko-KR" altLang="en-US" sz="1600" dirty="0"/>
              <a:t> - 2);</a:t>
            </a:r>
          </a:p>
          <a:p>
            <a:r>
              <a:rPr lang="ko-KR" altLang="en-US" sz="1600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97229-9B81-A2A1-DDCA-5C8D4A282C15}"/>
              </a:ext>
            </a:extLst>
          </p:cNvPr>
          <p:cNvSpPr txBox="1"/>
          <p:nvPr/>
        </p:nvSpPr>
        <p:spPr>
          <a:xfrm>
            <a:off x="8665668" y="3050363"/>
            <a:ext cx="22302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fib</a:t>
            </a:r>
            <a:r>
              <a:rPr lang="ko-KR" altLang="en-US" sz="1200" dirty="0"/>
              <a:t>(5)</a:t>
            </a:r>
          </a:p>
          <a:p>
            <a:r>
              <a:rPr lang="ko-KR" altLang="en-US" sz="1200" dirty="0"/>
              <a:t>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(4)</a:t>
            </a:r>
          </a:p>
          <a:p>
            <a:r>
              <a:rPr lang="ko-KR" altLang="en-US" sz="1200" dirty="0"/>
              <a:t>│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(3)</a:t>
            </a:r>
          </a:p>
          <a:p>
            <a:r>
              <a:rPr lang="ko-KR" altLang="en-US" sz="1200" dirty="0"/>
              <a:t>│   │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(2)</a:t>
            </a:r>
          </a:p>
          <a:p>
            <a:r>
              <a:rPr lang="ko-KR" altLang="en-US" sz="1200" dirty="0"/>
              <a:t>│   │   │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  <a:p>
            <a:r>
              <a:rPr lang="ko-KR" altLang="en-US" sz="1200" dirty="0"/>
              <a:t>│   │   │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(0)</a:t>
            </a:r>
          </a:p>
          <a:p>
            <a:r>
              <a:rPr lang="ko-KR" altLang="en-US" sz="1200" dirty="0"/>
              <a:t>│   │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  <a:p>
            <a:r>
              <a:rPr lang="ko-KR" altLang="en-US" sz="1200" dirty="0"/>
              <a:t>│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(2)</a:t>
            </a:r>
          </a:p>
          <a:p>
            <a:r>
              <a:rPr lang="ko-KR" altLang="en-US" sz="1200" dirty="0"/>
              <a:t>│    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  <a:p>
            <a:r>
              <a:rPr lang="ko-KR" altLang="en-US" sz="1200" dirty="0"/>
              <a:t>│    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(0)</a:t>
            </a:r>
          </a:p>
          <a:p>
            <a:r>
              <a:rPr lang="ko-KR" altLang="en-US" sz="1200" dirty="0"/>
              <a:t>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(3)</a:t>
            </a:r>
          </a:p>
          <a:p>
            <a:r>
              <a:rPr lang="ko-KR" altLang="en-US" sz="1200" dirty="0"/>
              <a:t> 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(2)</a:t>
            </a:r>
          </a:p>
          <a:p>
            <a:r>
              <a:rPr lang="ko-KR" altLang="en-US" sz="1200" dirty="0"/>
              <a:t>    │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  <a:p>
            <a:r>
              <a:rPr lang="ko-KR" altLang="en-US" sz="1200" dirty="0"/>
              <a:t>    │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(0)</a:t>
            </a:r>
          </a:p>
          <a:p>
            <a:r>
              <a:rPr lang="ko-KR" altLang="en-US" sz="1200" dirty="0"/>
              <a:t> 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E2173F-A3B3-FBF9-F147-BACAFA00F9DA}"/>
                  </a:ext>
                </a:extLst>
              </p:cNvPr>
              <p:cNvSpPr txBox="1"/>
              <p:nvPr/>
            </p:nvSpPr>
            <p:spPr>
              <a:xfrm>
                <a:off x="10083678" y="2959224"/>
                <a:ext cx="17743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중복계산의 폭발</a:t>
                </a:r>
                <a:endParaRPr lang="en-US" altLang="ko-KR" sz="1400" dirty="0"/>
              </a:p>
              <a:p>
                <a:r>
                  <a:rPr lang="ko-KR" altLang="en-US" sz="1400" dirty="0"/>
                  <a:t>시간 복잡도</a:t>
                </a:r>
                <a14:m>
                  <m:oMath xmlns:m="http://schemas.openxmlformats.org/officeDocument/2006/math">
                    <m:r>
                      <a:rPr lang="en-US" altLang="ko-KR" sz="1400" b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ko-KR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ko-KR" altLang="ar-AE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E2173F-A3B3-FBF9-F147-BACAFA00F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3678" y="2959224"/>
                <a:ext cx="1774397" cy="523220"/>
              </a:xfrm>
              <a:prstGeom prst="rect">
                <a:avLst/>
              </a:prstGeom>
              <a:blipFill>
                <a:blip r:embed="rId3"/>
                <a:stretch>
                  <a:fillRect l="-1031" t="-1163" b="-11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607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3A4BB01-E923-04DE-05CA-ACD80BCCE22C}"/>
              </a:ext>
            </a:extLst>
          </p:cNvPr>
          <p:cNvSpPr txBox="1"/>
          <p:nvPr/>
        </p:nvSpPr>
        <p:spPr>
          <a:xfrm>
            <a:off x="597433" y="3917013"/>
            <a:ext cx="22302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fib</a:t>
            </a:r>
            <a:r>
              <a:rPr lang="ko-KR" altLang="en-US" sz="1200" dirty="0"/>
              <a:t>(5)</a:t>
            </a:r>
          </a:p>
          <a:p>
            <a:r>
              <a:rPr lang="ko-KR" altLang="en-US" sz="1200" dirty="0"/>
              <a:t>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(4)</a:t>
            </a:r>
          </a:p>
          <a:p>
            <a:r>
              <a:rPr lang="ko-KR" altLang="en-US" sz="1200" dirty="0"/>
              <a:t>│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(3)</a:t>
            </a:r>
          </a:p>
          <a:p>
            <a:r>
              <a:rPr lang="ko-KR" altLang="en-US" sz="1200" dirty="0"/>
              <a:t>│   │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(2)</a:t>
            </a:r>
          </a:p>
          <a:p>
            <a:r>
              <a:rPr lang="ko-KR" altLang="en-US" sz="1200" dirty="0"/>
              <a:t>│   │   │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  <a:p>
            <a:r>
              <a:rPr lang="ko-KR" altLang="en-US" sz="1200" dirty="0"/>
              <a:t>│   │   │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(0)</a:t>
            </a:r>
          </a:p>
          <a:p>
            <a:r>
              <a:rPr lang="ko-KR" altLang="en-US" sz="1200" dirty="0"/>
              <a:t>│   │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  <a:p>
            <a:r>
              <a:rPr lang="ko-KR" altLang="en-US" sz="1200" dirty="0"/>
              <a:t>│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(2)</a:t>
            </a:r>
          </a:p>
          <a:p>
            <a:r>
              <a:rPr lang="ko-KR" altLang="en-US" sz="1200" dirty="0"/>
              <a:t>│    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  <a:p>
            <a:r>
              <a:rPr lang="ko-KR" altLang="en-US" sz="1200" dirty="0"/>
              <a:t>│    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(0)</a:t>
            </a:r>
          </a:p>
          <a:p>
            <a:r>
              <a:rPr lang="ko-KR" altLang="en-US" sz="1200" dirty="0"/>
              <a:t>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(3)</a:t>
            </a:r>
          </a:p>
          <a:p>
            <a:r>
              <a:rPr lang="ko-KR" altLang="en-US" sz="1200" dirty="0"/>
              <a:t> 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(2)</a:t>
            </a:r>
          </a:p>
          <a:p>
            <a:r>
              <a:rPr lang="ko-KR" altLang="en-US" sz="1200" dirty="0"/>
              <a:t>    │   ├─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  <a:p>
            <a:r>
              <a:rPr lang="ko-KR" altLang="en-US" sz="1200" dirty="0"/>
              <a:t>    │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(0)</a:t>
            </a:r>
          </a:p>
          <a:p>
            <a:r>
              <a:rPr lang="ko-KR" altLang="en-US" sz="1200" dirty="0"/>
              <a:t>    └─ </a:t>
            </a:r>
            <a:r>
              <a:rPr lang="ko-KR" altLang="en-US" sz="1200" dirty="0" err="1"/>
              <a:t>fib</a:t>
            </a:r>
            <a:r>
              <a:rPr lang="ko-KR" altLang="en-US" sz="1200" dirty="0"/>
              <a:t>(1)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136C05-E9CA-CA4C-F5DB-C5DE9A82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중복 해결 </a:t>
            </a:r>
            <a:r>
              <a:rPr lang="en-US" altLang="ko-KR" dirty="0"/>
              <a:t>- </a:t>
            </a:r>
            <a:r>
              <a:rPr lang="en-US" altLang="ko-KR" b="1" dirty="0" err="1"/>
              <a:t>Memoization</a:t>
            </a:r>
            <a:r>
              <a:rPr lang="en-US" altLang="ko-KR" b="1" dirty="0"/>
              <a:t>(</a:t>
            </a:r>
            <a:r>
              <a:rPr lang="ko-KR" altLang="en-US" b="1" dirty="0" err="1"/>
              <a:t>메모이제이션</a:t>
            </a:r>
            <a:r>
              <a:rPr lang="en-US" altLang="ko-KR" b="1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AAFE7-5E92-F149-F627-D90A5995932A}"/>
              </a:ext>
            </a:extLst>
          </p:cNvPr>
          <p:cNvSpPr txBox="1"/>
          <p:nvPr/>
        </p:nvSpPr>
        <p:spPr>
          <a:xfrm>
            <a:off x="597433" y="1690688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“</a:t>
            </a:r>
            <a:r>
              <a:rPr lang="ko-KR" altLang="en-US" dirty="0"/>
              <a:t>필요할 때만 계산하고</a:t>
            </a:r>
            <a:r>
              <a:rPr lang="en-US" altLang="ko-KR" dirty="0"/>
              <a:t>, </a:t>
            </a:r>
            <a:r>
              <a:rPr lang="ko-KR" altLang="en-US" dirty="0"/>
              <a:t>계산한 값은 저장해두고 재사용한다</a:t>
            </a:r>
            <a:r>
              <a:rPr lang="en-US" altLang="ko-KR" dirty="0"/>
              <a:t>.” </a:t>
            </a:r>
            <a:r>
              <a:rPr lang="ko-KR" altLang="en-US" dirty="0"/>
              <a:t>재귀 호출 </a:t>
            </a:r>
            <a:r>
              <a:rPr lang="en-US" altLang="ko-KR" dirty="0"/>
              <a:t>+ </a:t>
            </a:r>
            <a:r>
              <a:rPr lang="ko-KR" altLang="en-US" b="1" dirty="0"/>
              <a:t>저장 </a:t>
            </a:r>
            <a:r>
              <a:rPr lang="en-US" altLang="ko-KR" b="1" dirty="0"/>
              <a:t>(</a:t>
            </a:r>
            <a:r>
              <a:rPr lang="en-US" altLang="ko-KR" b="1" dirty="0" err="1"/>
              <a:t>Memoizing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Top-Down </a:t>
            </a:r>
            <a:r>
              <a:rPr lang="ko-KR" altLang="en-US" b="1" dirty="0"/>
              <a:t>방식</a:t>
            </a:r>
            <a:r>
              <a:rPr lang="en-US" altLang="ko-KR" b="1" dirty="0"/>
              <a:t>(</a:t>
            </a:r>
            <a:r>
              <a:rPr lang="ko-KR" altLang="en-US" b="1" dirty="0"/>
              <a:t>재귀 기반</a:t>
            </a:r>
            <a:r>
              <a:rPr lang="en-US" altLang="ko-KR" b="1" dirty="0"/>
              <a:t>): </a:t>
            </a:r>
            <a:r>
              <a:rPr lang="ko-KR" altLang="en-US" dirty="0"/>
              <a:t>큰 문제에서 시작해서 → 필요한 작은 문제를 재귀로 내려가며 해결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en-US" dirty="0"/>
              <a:t>즉</a:t>
            </a:r>
            <a:r>
              <a:rPr lang="en-US" altLang="ko-KR" dirty="0"/>
              <a:t>,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큰 문제를 먼저 호출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필요한 작은 문제만 재귀로 내려가면서 계산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이미 계산한 작은 문제는 </a:t>
            </a:r>
            <a:r>
              <a:rPr lang="en-US" altLang="ko-KR" dirty="0" err="1"/>
              <a:t>dp</a:t>
            </a:r>
            <a:r>
              <a:rPr lang="en-US" altLang="ko-KR" dirty="0"/>
              <a:t>[]</a:t>
            </a:r>
            <a:r>
              <a:rPr lang="ko-KR" altLang="en-US" dirty="0"/>
              <a:t>에서 바로 가져옴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중복 계산 없음 → 효율적</a:t>
            </a:r>
            <a:endParaRPr lang="en-US" altLang="ko-KR" dirty="0"/>
          </a:p>
          <a:p>
            <a:pPr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23B31-65D0-5357-1020-E2EE4C75850A}"/>
              </a:ext>
            </a:extLst>
          </p:cNvPr>
          <p:cNvSpPr txBox="1"/>
          <p:nvPr/>
        </p:nvSpPr>
        <p:spPr>
          <a:xfrm>
            <a:off x="6646688" y="2854887"/>
            <a:ext cx="4643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✔ 필요한 만큼만 “게으르게</a:t>
            </a:r>
            <a:r>
              <a:rPr lang="en-US" altLang="ko-KR" dirty="0"/>
              <a:t>(lazy)” </a:t>
            </a:r>
            <a:r>
              <a:rPr lang="ko-KR" altLang="en-US" dirty="0"/>
              <a:t>계산</a:t>
            </a:r>
            <a:br>
              <a:rPr lang="ko-KR" altLang="en-US" dirty="0"/>
            </a:br>
            <a:r>
              <a:rPr lang="ko-KR" altLang="en-US" dirty="0"/>
              <a:t>✔ 계산의 흐름</a:t>
            </a:r>
            <a:r>
              <a:rPr lang="en-US" altLang="ko-KR" dirty="0"/>
              <a:t>: </a:t>
            </a:r>
            <a:r>
              <a:rPr lang="ko-KR" altLang="en-US" b="1" dirty="0"/>
              <a:t>위 → 아래</a:t>
            </a:r>
            <a:r>
              <a:rPr lang="en-US" altLang="ko-KR" b="1" dirty="0"/>
              <a:t>(Top-Down)</a:t>
            </a:r>
            <a:br>
              <a:rPr lang="ko-KR" altLang="en-US" dirty="0"/>
            </a:br>
            <a:r>
              <a:rPr lang="ko-KR" altLang="en-US" dirty="0"/>
              <a:t>✔ 저장 방식</a:t>
            </a:r>
            <a:r>
              <a:rPr lang="en-US" altLang="ko-KR" dirty="0"/>
              <a:t>: “</a:t>
            </a:r>
            <a:r>
              <a:rPr lang="ko-KR" altLang="en-US" dirty="0"/>
              <a:t>계산이 일어난 순간 저장”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80A46D7-1B38-4993-A3F9-6D0910F078D9}"/>
              </a:ext>
            </a:extLst>
          </p:cNvPr>
          <p:cNvSpPr/>
          <p:nvPr/>
        </p:nvSpPr>
        <p:spPr>
          <a:xfrm rot="13158965">
            <a:off x="1031597" y="4423747"/>
            <a:ext cx="1578735" cy="4144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ABA58D0-5720-1309-089C-449A9F74E56E}"/>
              </a:ext>
            </a:extLst>
          </p:cNvPr>
          <p:cNvCxnSpPr>
            <a:cxnSpLocks/>
          </p:cNvCxnSpPr>
          <p:nvPr/>
        </p:nvCxnSpPr>
        <p:spPr>
          <a:xfrm flipH="1">
            <a:off x="1905640" y="5291429"/>
            <a:ext cx="261257" cy="786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9B3695C-E919-898D-B33D-38ECA6EED8C5}"/>
              </a:ext>
            </a:extLst>
          </p:cNvPr>
          <p:cNvSpPr txBox="1"/>
          <p:nvPr/>
        </p:nvSpPr>
        <p:spPr>
          <a:xfrm>
            <a:off x="2382051" y="4218113"/>
            <a:ext cx="3853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반복 되는 부분에서 큰 문제를 해결하기 위해 </a:t>
            </a:r>
            <a:endParaRPr lang="en-US" altLang="ko-KR" sz="1400" dirty="0"/>
          </a:p>
          <a:p>
            <a:r>
              <a:rPr lang="ko-KR" altLang="en-US" sz="1400" dirty="0"/>
              <a:t>작은 문제를 해결한 부분을 재활용한다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CBCE312-BE03-CA89-5832-74E2B07C8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279" y="3970508"/>
            <a:ext cx="5296220" cy="28088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7D24E0F-648A-4DF3-AFE5-858C50727D38}"/>
              </a:ext>
            </a:extLst>
          </p:cNvPr>
          <p:cNvSpPr txBox="1"/>
          <p:nvPr/>
        </p:nvSpPr>
        <p:spPr>
          <a:xfrm>
            <a:off x="1321653" y="2280752"/>
            <a:ext cx="8726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dirty="0"/>
              <a:t>시간 복잡도 </a:t>
            </a:r>
            <a:r>
              <a:rPr lang="en-US" altLang="ko-KR" sz="1400" dirty="0"/>
              <a:t>O(</a:t>
            </a:r>
            <a:r>
              <a:rPr lang="ko-KR" altLang="en-US" sz="1400" dirty="0"/>
              <a:t>상태 개수</a:t>
            </a:r>
            <a:r>
              <a:rPr lang="en-US" altLang="ko-KR" sz="1400" dirty="0"/>
              <a:t>)</a:t>
            </a:r>
            <a:r>
              <a:rPr lang="ko-KR" altLang="en-US" sz="1400" dirty="0"/>
              <a:t>이며   최악의 경우 </a:t>
            </a:r>
            <a:r>
              <a:rPr lang="en-US" altLang="ko-KR" sz="1400" dirty="0"/>
              <a:t>(n</a:t>
            </a:r>
            <a:r>
              <a:rPr lang="ko-KR" altLang="en-US" sz="1400" dirty="0"/>
              <a:t>만큼의 호출 깊이</a:t>
            </a:r>
            <a:r>
              <a:rPr lang="en-US" altLang="ko-KR" sz="1400" dirty="0"/>
              <a:t>)</a:t>
            </a:r>
            <a:r>
              <a:rPr lang="ko-KR" altLang="en-US" sz="1400" dirty="0"/>
              <a:t>에서 </a:t>
            </a:r>
            <a:r>
              <a:rPr lang="en-US" altLang="ko-KR" sz="1400" dirty="0"/>
              <a:t>Stack Overflow </a:t>
            </a:r>
            <a:r>
              <a:rPr lang="ko-KR" altLang="en-US" sz="1400" dirty="0"/>
              <a:t>가능성 있음 </a:t>
            </a:r>
          </a:p>
        </p:txBody>
      </p:sp>
    </p:spTree>
    <p:extLst>
      <p:ext uri="{BB962C8B-B14F-4D97-AF65-F5344CB8AC3E}">
        <p14:creationId xmlns:p14="http://schemas.microsoft.com/office/powerpoint/2010/main" val="188897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5B1C2-A26B-182A-9A96-F05FDE63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Memoization</a:t>
            </a:r>
            <a:r>
              <a:rPr lang="en-US" altLang="ko-KR" dirty="0"/>
              <a:t> (Top-Down) </a:t>
            </a:r>
            <a:r>
              <a:rPr lang="ko-KR" altLang="en-US" dirty="0"/>
              <a:t>장단점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9D606-4D3C-A367-7793-9911EE21F099}"/>
              </a:ext>
            </a:extLst>
          </p:cNvPr>
          <p:cNvSpPr txBox="1"/>
          <p:nvPr/>
        </p:nvSpPr>
        <p:spPr>
          <a:xfrm>
            <a:off x="69156" y="1506272"/>
            <a:ext cx="61933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 장점 </a:t>
            </a:r>
            <a:r>
              <a:rPr lang="en-US" altLang="ko-KR" sz="1400" b="1" dirty="0"/>
              <a:t>(Advantages)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1. </a:t>
            </a:r>
            <a:r>
              <a:rPr lang="ko-KR" altLang="en-US" sz="1400" b="1" dirty="0"/>
              <a:t>필요한 상태만 계산하는 </a:t>
            </a:r>
            <a:r>
              <a:rPr lang="en-US" altLang="ko-KR" sz="1400" b="1" dirty="0"/>
              <a:t>Lazy Evaluation </a:t>
            </a:r>
            <a:r>
              <a:rPr lang="ko-KR" altLang="en-US" sz="1400" b="1" dirty="0"/>
              <a:t>방식</a:t>
            </a:r>
          </a:p>
          <a:p>
            <a:r>
              <a:rPr lang="ko-KR" altLang="en-US" sz="1400" dirty="0"/>
              <a:t> 실제로 사용되는 </a:t>
            </a:r>
            <a:r>
              <a:rPr lang="en-US" altLang="ko-KR" sz="1400" dirty="0"/>
              <a:t>DP </a:t>
            </a:r>
            <a:r>
              <a:rPr lang="ko-KR" altLang="en-US" sz="1400" dirty="0"/>
              <a:t>상태만 계산하고 저장하므로</a:t>
            </a:r>
            <a:br>
              <a:rPr lang="ko-KR" altLang="en-US" sz="1400" dirty="0"/>
            </a:br>
            <a:r>
              <a:rPr lang="ko-KR" altLang="en-US" sz="1400" dirty="0"/>
              <a:t>불필요한 연산을 하지 않아 효율적이다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특히</a:t>
            </a:r>
            <a:r>
              <a:rPr lang="en-US" altLang="ko-KR" sz="1400" dirty="0"/>
              <a:t>, </a:t>
            </a:r>
            <a:r>
              <a:rPr lang="ko-KR" altLang="en-US" sz="1400" b="1" dirty="0"/>
              <a:t>상태 공간이 큰 문제에서 메모리 절약 효과가 크다</a:t>
            </a:r>
            <a:r>
              <a:rPr lang="en-US" altLang="ko-KR" sz="1400" b="1" dirty="0"/>
              <a:t>.</a:t>
            </a:r>
            <a:endParaRPr lang="ko-KR" altLang="en-US" sz="1400" dirty="0"/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2. </a:t>
            </a:r>
            <a:r>
              <a:rPr lang="ko-KR" altLang="en-US" sz="1400" b="1" dirty="0"/>
              <a:t>계산 순서를 정하기 어려운 문제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트리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그래프 </a:t>
            </a:r>
            <a:r>
              <a:rPr lang="en-US" altLang="ko-KR" sz="1400" b="1" dirty="0"/>
              <a:t>DP)</a:t>
            </a:r>
            <a:r>
              <a:rPr lang="ko-KR" altLang="en-US" sz="1400" b="1" dirty="0"/>
              <a:t>에 적합</a:t>
            </a:r>
          </a:p>
          <a:p>
            <a:r>
              <a:rPr lang="en-US" altLang="ko-KR" sz="1400" dirty="0"/>
              <a:t> Top-Down </a:t>
            </a:r>
            <a:r>
              <a:rPr lang="ko-KR" altLang="en-US" sz="1400" dirty="0"/>
              <a:t>재귀 흐름을 따라가며 필요한 상태를 탐색하므로</a:t>
            </a:r>
            <a:br>
              <a:rPr lang="ko-KR" altLang="en-US" sz="1400" dirty="0"/>
            </a:br>
            <a:r>
              <a:rPr lang="en-US" altLang="ko-KR" sz="1400" dirty="0"/>
              <a:t>Bottom-Up</a:t>
            </a:r>
            <a:r>
              <a:rPr lang="ko-KR" altLang="en-US" sz="1400" dirty="0"/>
              <a:t>처럼 “</a:t>
            </a:r>
            <a:r>
              <a:rPr lang="en-US" altLang="ko-KR" sz="1400" dirty="0" err="1"/>
              <a:t>dp</a:t>
            </a:r>
            <a:r>
              <a:rPr lang="en-US" altLang="ko-KR" sz="1400" dirty="0"/>
              <a:t>[0] → </a:t>
            </a:r>
            <a:r>
              <a:rPr lang="en-US" altLang="ko-KR" sz="1400" dirty="0" err="1"/>
              <a:t>dp</a:t>
            </a:r>
            <a:r>
              <a:rPr lang="en-US" altLang="ko-KR" sz="1400" dirty="0"/>
              <a:t>[n]” </a:t>
            </a:r>
            <a:r>
              <a:rPr lang="ko-KR" altLang="en-US" sz="1400" dirty="0"/>
              <a:t>의 선형적 순서를 만들 필요가 없다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트리 </a:t>
            </a:r>
            <a:r>
              <a:rPr lang="en-US" altLang="ko-KR" sz="1400" dirty="0"/>
              <a:t>DP, DAG DP, </a:t>
            </a:r>
            <a:r>
              <a:rPr lang="ko-KR" altLang="en-US" sz="1400" dirty="0"/>
              <a:t>그래프 경로 </a:t>
            </a:r>
            <a:r>
              <a:rPr lang="en-US" altLang="ko-KR" sz="1400" dirty="0"/>
              <a:t>DP </a:t>
            </a:r>
            <a:r>
              <a:rPr lang="ko-KR" altLang="en-US" sz="1400" dirty="0"/>
              <a:t>등 </a:t>
            </a:r>
            <a:r>
              <a:rPr lang="ko-KR" altLang="en-US" sz="1400" b="1" dirty="0"/>
              <a:t>의존 구조가 복잡한 문제에서 필수적</a:t>
            </a:r>
            <a:endParaRPr lang="en-US" altLang="ko-KR" sz="1400" dirty="0"/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3. </a:t>
            </a:r>
            <a:r>
              <a:rPr lang="ko-KR" altLang="en-US" sz="1400" b="1" dirty="0"/>
              <a:t>점화식을 그대로 구현하기 쉽다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직관적</a:t>
            </a:r>
            <a:r>
              <a:rPr lang="en-US" altLang="ko-KR" sz="1400" b="1" dirty="0"/>
              <a:t>)</a:t>
            </a:r>
          </a:p>
          <a:p>
            <a:r>
              <a:rPr lang="ko-KR" altLang="en-US" sz="1400" dirty="0"/>
              <a:t> 점화식을 재귀 그대로 옮기는 구조라 가독성이 좋고 설계도 단순하다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“</a:t>
            </a:r>
            <a:r>
              <a:rPr lang="ko-KR" altLang="en-US" sz="1400" dirty="0"/>
              <a:t>큰 문제 → 작은 문제” 흐름이 문제 이해와 직결되므로 디버깅도 편함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>
              <a:buNone/>
            </a:pPr>
            <a:r>
              <a:rPr lang="en-US" altLang="ko-KR" sz="1400" b="1" dirty="0"/>
              <a:t>4. </a:t>
            </a:r>
            <a:r>
              <a:rPr lang="ko-KR" altLang="en-US" sz="1400" b="1" dirty="0"/>
              <a:t>테이블 전체를 만들 필요가 없다</a:t>
            </a:r>
          </a:p>
          <a:p>
            <a:r>
              <a:rPr lang="ko-KR" altLang="en-US" sz="1400" dirty="0"/>
              <a:t> 전체 </a:t>
            </a:r>
            <a:r>
              <a:rPr lang="en-US" altLang="ko-KR" sz="1400" dirty="0"/>
              <a:t>DP </a:t>
            </a:r>
            <a:r>
              <a:rPr lang="ko-KR" altLang="en-US" sz="1400" dirty="0"/>
              <a:t>테이블을 사용할 필요 없이</a:t>
            </a:r>
            <a:br>
              <a:rPr lang="ko-KR" altLang="en-US" sz="1400" dirty="0"/>
            </a:br>
            <a:r>
              <a:rPr lang="ko-KR" altLang="en-US" sz="1400" b="1" dirty="0"/>
              <a:t>방문한 상태만 </a:t>
            </a:r>
            <a:r>
              <a:rPr lang="en-US" altLang="ko-KR" sz="1400" b="1" dirty="0" err="1"/>
              <a:t>dp</a:t>
            </a:r>
            <a:r>
              <a:rPr lang="en-US" altLang="ko-KR" sz="1400" b="1" dirty="0"/>
              <a:t>[]</a:t>
            </a:r>
            <a:r>
              <a:rPr lang="ko-KR" altLang="en-US" sz="1400" b="1" dirty="0"/>
              <a:t>에 기록</a:t>
            </a:r>
            <a:r>
              <a:rPr lang="ko-KR" altLang="en-US" sz="1400" dirty="0"/>
              <a:t>하면 되므로</a:t>
            </a:r>
            <a:br>
              <a:rPr lang="ko-KR" altLang="en-US" sz="1400" dirty="0"/>
            </a:br>
            <a:r>
              <a:rPr lang="ko-KR" altLang="en-US" sz="1400" dirty="0"/>
              <a:t>불필요한 메모리 사용이 없다</a:t>
            </a:r>
            <a:r>
              <a:rPr lang="en-US" altLang="ko-KR" sz="14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F6CED-A155-2704-93ED-22781C0A8C3F}"/>
              </a:ext>
            </a:extLst>
          </p:cNvPr>
          <p:cNvSpPr txBox="1"/>
          <p:nvPr/>
        </p:nvSpPr>
        <p:spPr>
          <a:xfrm>
            <a:off x="6193331" y="1379577"/>
            <a:ext cx="577455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 단점 </a:t>
            </a:r>
            <a:r>
              <a:rPr lang="en-US" altLang="ko-KR" sz="1400" b="1" dirty="0"/>
              <a:t>(Disadvantages)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1. </a:t>
            </a:r>
            <a:r>
              <a:rPr lang="ko-KR" altLang="en-US" sz="1400" b="1" dirty="0"/>
              <a:t>재귀 깊이가 커지면 </a:t>
            </a:r>
            <a:r>
              <a:rPr lang="en-US" altLang="ko-KR" sz="1400" b="1" dirty="0"/>
              <a:t>Stack Overflow </a:t>
            </a:r>
            <a:r>
              <a:rPr lang="ko-KR" altLang="en-US" sz="1400" b="1" dirty="0"/>
              <a:t>위험</a:t>
            </a:r>
          </a:p>
          <a:p>
            <a:r>
              <a:rPr lang="ko-KR" altLang="en-US" sz="1400" dirty="0"/>
              <a:t> 입력 크기 </a:t>
            </a:r>
            <a:r>
              <a:rPr lang="en-US" altLang="ko-KR" sz="1400" dirty="0"/>
              <a:t>N</a:t>
            </a:r>
            <a:r>
              <a:rPr lang="ko-KR" altLang="en-US" sz="1400" dirty="0"/>
              <a:t>이 커질 경우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재귀 깊이가 최악의 경우 </a:t>
            </a:r>
            <a:r>
              <a:rPr lang="en-US" altLang="ko-KR" sz="1400" dirty="0"/>
              <a:t>O(N) </a:t>
            </a:r>
            <a:r>
              <a:rPr lang="ko-KR" altLang="en-US" sz="1400" dirty="0"/>
              <a:t>까지 내려갈 수 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Windows/MSVC </a:t>
            </a:r>
            <a:r>
              <a:rPr lang="ko-KR" altLang="en-US" sz="1400" dirty="0"/>
              <a:t>기본 스택</a:t>
            </a:r>
            <a:r>
              <a:rPr lang="en-US" altLang="ko-KR" sz="1400" dirty="0"/>
              <a:t>(</a:t>
            </a:r>
            <a:r>
              <a:rPr lang="ko-KR" altLang="en-US" sz="1400" dirty="0"/>
              <a:t>약 </a:t>
            </a:r>
            <a:r>
              <a:rPr lang="en-US" altLang="ko-KR" sz="1400" dirty="0"/>
              <a:t>1MB)</a:t>
            </a:r>
            <a:r>
              <a:rPr lang="ko-KR" altLang="en-US" sz="1400" dirty="0"/>
              <a:t>에서는</a:t>
            </a:r>
            <a:br>
              <a:rPr lang="ko-KR" altLang="en-US" sz="1400" dirty="0"/>
            </a:br>
            <a:r>
              <a:rPr lang="ko-KR" altLang="en-US" sz="1400" dirty="0"/>
              <a:t>깊은 재귀로 인해 </a:t>
            </a:r>
            <a:r>
              <a:rPr lang="en-US" altLang="ko-KR" sz="1400" dirty="0" err="1"/>
              <a:t>StackOverflow</a:t>
            </a:r>
            <a:r>
              <a:rPr lang="ko-KR" altLang="en-US" sz="1400" dirty="0"/>
              <a:t>가 발생할 가능성이 높다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2. </a:t>
            </a:r>
            <a:r>
              <a:rPr lang="ko-KR" altLang="en-US" sz="1400" b="1" dirty="0"/>
              <a:t>함수 호출 오버헤드가 존재한다</a:t>
            </a:r>
          </a:p>
          <a:p>
            <a:r>
              <a:rPr lang="ko-KR" altLang="en-US" sz="1400" dirty="0"/>
              <a:t> 재귀 호출은 스택 프레임 생성</a:t>
            </a:r>
            <a:r>
              <a:rPr lang="en-US" altLang="ko-KR" sz="1400" dirty="0"/>
              <a:t>/</a:t>
            </a:r>
            <a:r>
              <a:rPr lang="ko-KR" altLang="en-US" sz="1400" dirty="0"/>
              <a:t>정리 비용이 있어</a:t>
            </a:r>
            <a:br>
              <a:rPr lang="ko-KR" altLang="en-US" sz="1400" dirty="0"/>
            </a:br>
            <a:r>
              <a:rPr lang="ko-KR" altLang="en-US" sz="1400" dirty="0" err="1"/>
              <a:t>반복문</a:t>
            </a:r>
            <a:r>
              <a:rPr lang="ko-KR" altLang="en-US" sz="1400" dirty="0"/>
              <a:t> 기반인 </a:t>
            </a:r>
            <a:r>
              <a:rPr lang="en-US" altLang="ko-KR" sz="1400" dirty="0"/>
              <a:t>Tabulation</a:t>
            </a:r>
            <a:r>
              <a:rPr lang="ko-KR" altLang="en-US" sz="1400" dirty="0"/>
              <a:t>보다 실제 실행 속도가 느릴 수 있다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3. </a:t>
            </a:r>
            <a:r>
              <a:rPr lang="ko-KR" altLang="en-US" sz="1400" b="1" dirty="0"/>
              <a:t>순환 의존</a:t>
            </a:r>
            <a:r>
              <a:rPr lang="en-US" altLang="ko-KR" sz="1400" b="1" dirty="0"/>
              <a:t>(cycle)</a:t>
            </a:r>
            <a:r>
              <a:rPr lang="ko-KR" altLang="en-US" sz="1400" b="1" dirty="0"/>
              <a:t>이 있는 문제는 사용할 수 없다</a:t>
            </a:r>
          </a:p>
          <a:p>
            <a:r>
              <a:rPr lang="ko-KR" altLang="en-US" sz="1400" dirty="0"/>
              <a:t> 그래프에 사이클이 존재하거나</a:t>
            </a:r>
            <a:br>
              <a:rPr lang="ko-KR" altLang="en-US" sz="1400" dirty="0"/>
            </a:br>
            <a:r>
              <a:rPr lang="en-US" altLang="ko-KR" sz="1400" dirty="0"/>
              <a:t>DP </a:t>
            </a:r>
            <a:r>
              <a:rPr lang="ko-KR" altLang="en-US" sz="1400" dirty="0"/>
              <a:t>상태가 재귀적으로 다시 자기 자신을 필요로 하면</a:t>
            </a:r>
            <a:br>
              <a:rPr lang="ko-KR" altLang="en-US" sz="1400" dirty="0"/>
            </a:br>
            <a:r>
              <a:rPr lang="en-US" altLang="ko-KR" sz="1400" dirty="0"/>
              <a:t>Top-Down </a:t>
            </a:r>
            <a:r>
              <a:rPr lang="ko-KR" altLang="en-US" sz="1400" dirty="0"/>
              <a:t>구조에서는 무한 재귀가 발생한다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4. </a:t>
            </a:r>
            <a:r>
              <a:rPr lang="ko-KR" altLang="en-US" sz="1400" b="1" dirty="0"/>
              <a:t>큰 입력에서 </a:t>
            </a:r>
            <a:r>
              <a:rPr lang="ko-KR" altLang="en-US" sz="1400" b="1" dirty="0" err="1"/>
              <a:t>테뷸레이션보다</a:t>
            </a:r>
            <a:r>
              <a:rPr lang="ko-KR" altLang="en-US" sz="1400" b="1" dirty="0"/>
              <a:t> 비효율적일 수 있음</a:t>
            </a:r>
          </a:p>
          <a:p>
            <a:r>
              <a:rPr lang="en-US" altLang="ko-KR" sz="1400" dirty="0"/>
              <a:t> Lazy </a:t>
            </a:r>
            <a:r>
              <a:rPr lang="ko-KR" altLang="en-US" sz="1400" dirty="0"/>
              <a:t>계산은 최악의 경우 “전체 상태 </a:t>
            </a:r>
            <a:r>
              <a:rPr lang="ko-KR" altLang="en-US" sz="1400" dirty="0" err="1"/>
              <a:t>방문”과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동일해지는데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재귀 호출 오버헤드 때문에 </a:t>
            </a:r>
            <a:r>
              <a:rPr lang="ko-KR" altLang="en-US" sz="1400" dirty="0" err="1"/>
              <a:t>반복문</a:t>
            </a:r>
            <a:r>
              <a:rPr lang="ko-KR" altLang="en-US" sz="1400" dirty="0"/>
              <a:t> 기반 </a:t>
            </a:r>
            <a:r>
              <a:rPr lang="en-US" altLang="ko-KR" sz="1400" dirty="0"/>
              <a:t>Tabulation</a:t>
            </a:r>
            <a:r>
              <a:rPr lang="ko-KR" altLang="en-US" sz="1400" dirty="0"/>
              <a:t>보다 느릴 수 있다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5. </a:t>
            </a:r>
            <a:r>
              <a:rPr lang="ko-KR" altLang="en-US" sz="1400" b="1" dirty="0"/>
              <a:t>스택 한계를 피하려면 스택 기반 재귀 시뮬레이션 필요</a:t>
            </a:r>
          </a:p>
          <a:p>
            <a:r>
              <a:rPr lang="ko-KR" altLang="en-US" sz="1400" dirty="0"/>
              <a:t> 직접 만든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기반 스택</a:t>
            </a:r>
            <a:r>
              <a:rPr lang="en-US" altLang="ko-KR" sz="1400" dirty="0"/>
              <a:t>(</a:t>
            </a:r>
            <a:r>
              <a:rPr lang="ko-KR" altLang="en-US" sz="1400" dirty="0"/>
              <a:t>자료구조 </a:t>
            </a:r>
            <a:r>
              <a:rPr lang="en-US" altLang="ko-KR" sz="1400" dirty="0"/>
              <a:t>stack/vector)</a:t>
            </a:r>
            <a:r>
              <a:rPr lang="ko-KR" altLang="en-US" sz="1400" dirty="0"/>
              <a:t>으로</a:t>
            </a:r>
            <a:br>
              <a:rPr lang="ko-KR" altLang="en-US" sz="1400" dirty="0"/>
            </a:br>
            <a:r>
              <a:rPr lang="ko-KR" altLang="en-US" sz="1400" dirty="0"/>
              <a:t>재귀 흐름을 구현하면 </a:t>
            </a:r>
            <a:r>
              <a:rPr lang="en-US" altLang="ko-KR" sz="1400" dirty="0" err="1"/>
              <a:t>StackOverflow</a:t>
            </a:r>
            <a:r>
              <a:rPr lang="ko-KR" altLang="en-US" sz="1400" dirty="0"/>
              <a:t>를 회피할 수 있으나</a:t>
            </a:r>
            <a:br>
              <a:rPr lang="ko-KR" altLang="en-US" sz="1400" dirty="0"/>
            </a:br>
            <a:r>
              <a:rPr lang="ko-KR" altLang="en-US" sz="1400" dirty="0"/>
              <a:t>구현 난이도가 증가한다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3865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79C9-66E7-47BF-CA36-3657886F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중복해결 </a:t>
            </a:r>
            <a:r>
              <a:rPr lang="en-US" altLang="ko-KR" dirty="0"/>
              <a:t>- </a:t>
            </a:r>
            <a:r>
              <a:rPr lang="en-US" altLang="ko-KR" b="1" dirty="0"/>
              <a:t>Tabulation(</a:t>
            </a:r>
            <a:r>
              <a:rPr lang="ko-KR" altLang="en-US" b="1" dirty="0" err="1"/>
              <a:t>테뷸레이션</a:t>
            </a:r>
            <a:r>
              <a:rPr lang="en-US" altLang="ko-KR" b="1" dirty="0"/>
              <a:t>)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F3521-7394-43DE-14DD-46F3BC58353D}"/>
              </a:ext>
            </a:extLst>
          </p:cNvPr>
          <p:cNvSpPr txBox="1"/>
          <p:nvPr/>
        </p:nvSpPr>
        <p:spPr>
          <a:xfrm>
            <a:off x="466804" y="1615559"/>
            <a:ext cx="115279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“작은 문제부터 순서대로 모든 경우를 미리 계산해둔다</a:t>
            </a:r>
            <a:r>
              <a:rPr lang="en-US" altLang="ko-KR" dirty="0"/>
              <a:t>.” </a:t>
            </a:r>
            <a:r>
              <a:rPr lang="ko-KR" altLang="en-US" dirty="0"/>
              <a:t>반복 계산 </a:t>
            </a:r>
            <a:r>
              <a:rPr lang="en-US" altLang="ko-KR" dirty="0"/>
              <a:t>+ </a:t>
            </a:r>
            <a:r>
              <a:rPr lang="ko-KR" altLang="en-US" b="1" dirty="0"/>
              <a:t>테이블 작성 </a:t>
            </a:r>
            <a:r>
              <a:rPr lang="en-US" altLang="ko-KR" b="1" dirty="0"/>
              <a:t>(Tabulating)</a:t>
            </a:r>
          </a:p>
          <a:p>
            <a:pPr>
              <a:buNone/>
            </a:pPr>
            <a:r>
              <a:rPr lang="en-US" altLang="ko-KR" b="1" dirty="0"/>
              <a:t>Bottom-Up </a:t>
            </a:r>
            <a:r>
              <a:rPr lang="ko-KR" altLang="en-US" b="1" dirty="0"/>
              <a:t>방식</a:t>
            </a:r>
            <a:r>
              <a:rPr lang="en-US" altLang="ko-KR" b="1" dirty="0"/>
              <a:t>(</a:t>
            </a:r>
            <a:r>
              <a:rPr lang="ko-KR" altLang="en-US" b="1" dirty="0" err="1"/>
              <a:t>반복문</a:t>
            </a:r>
            <a:r>
              <a:rPr lang="ko-KR" altLang="en-US" b="1" dirty="0"/>
              <a:t> 기반</a:t>
            </a:r>
            <a:r>
              <a:rPr lang="en-US" altLang="ko-KR" b="1" dirty="0"/>
              <a:t>): </a:t>
            </a:r>
            <a:r>
              <a:rPr lang="ko-KR" altLang="en-US" dirty="0"/>
              <a:t>가장 작은 문제부터 차근차근 해결해 나가서 마지막 큰 문제의 해답까지 도달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en-US" dirty="0"/>
              <a:t>즉</a:t>
            </a:r>
            <a:r>
              <a:rPr lang="en-US" altLang="ko-KR" dirty="0"/>
              <a:t>,</a:t>
            </a:r>
          </a:p>
          <a:p>
            <a:pPr>
              <a:buFont typeface="+mj-lt"/>
              <a:buAutoNum type="arabicPeriod"/>
            </a:pPr>
            <a:r>
              <a:rPr lang="en-US" altLang="ko-KR" dirty="0" err="1"/>
              <a:t>dp</a:t>
            </a:r>
            <a:r>
              <a:rPr lang="en-US" altLang="ko-KR" dirty="0"/>
              <a:t>[0], </a:t>
            </a:r>
            <a:r>
              <a:rPr lang="en-US" altLang="ko-KR" dirty="0" err="1"/>
              <a:t>dp</a:t>
            </a:r>
            <a:r>
              <a:rPr lang="en-US" altLang="ko-KR" dirty="0"/>
              <a:t>[1] </a:t>
            </a:r>
            <a:r>
              <a:rPr lang="ko-KR" altLang="en-US" dirty="0"/>
              <a:t>같은 기초 값 계산</a:t>
            </a:r>
          </a:p>
          <a:p>
            <a:pPr>
              <a:buFont typeface="+mj-lt"/>
              <a:buAutoNum type="arabicPeriod"/>
            </a:pPr>
            <a:r>
              <a:rPr lang="en-US" altLang="ko-KR" dirty="0" err="1"/>
              <a:t>dp</a:t>
            </a:r>
            <a:r>
              <a:rPr lang="en-US" altLang="ko-KR" dirty="0"/>
              <a:t>[2], </a:t>
            </a:r>
            <a:r>
              <a:rPr lang="en-US" altLang="ko-KR" dirty="0" err="1"/>
              <a:t>dp</a:t>
            </a:r>
            <a:r>
              <a:rPr lang="en-US" altLang="ko-KR" dirty="0"/>
              <a:t>[3], … </a:t>
            </a:r>
            <a:r>
              <a:rPr lang="en-US" altLang="ko-KR" dirty="0" err="1"/>
              <a:t>dp</a:t>
            </a:r>
            <a:r>
              <a:rPr lang="en-US" altLang="ko-KR" dirty="0"/>
              <a:t>[n]</a:t>
            </a:r>
            <a:r>
              <a:rPr lang="ko-KR" altLang="en-US" dirty="0"/>
              <a:t>까지 순서대로 전부 계산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마지막 </a:t>
            </a:r>
            <a:r>
              <a:rPr lang="en-US" altLang="ko-KR" dirty="0" err="1"/>
              <a:t>dp</a:t>
            </a:r>
            <a:r>
              <a:rPr lang="en-US" altLang="ko-KR" dirty="0"/>
              <a:t>[n]</a:t>
            </a:r>
            <a:r>
              <a:rPr lang="ko-KR" altLang="en-US" dirty="0"/>
              <a:t>이 정답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3B0D6-E43A-03BD-7B11-3CB54C63EDE5}"/>
              </a:ext>
            </a:extLst>
          </p:cNvPr>
          <p:cNvSpPr txBox="1"/>
          <p:nvPr/>
        </p:nvSpPr>
        <p:spPr>
          <a:xfrm>
            <a:off x="5897496" y="2723554"/>
            <a:ext cx="6097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✔ 필요한지 여부와 상관없이 </a:t>
            </a:r>
            <a:r>
              <a:rPr lang="ko-KR" altLang="en-US" b="1" dirty="0"/>
              <a:t>모든 작은 문제를 미리 계산</a:t>
            </a:r>
            <a:br>
              <a:rPr lang="ko-KR" altLang="en-US" dirty="0"/>
            </a:br>
            <a:r>
              <a:rPr lang="ko-KR" altLang="en-US" dirty="0"/>
              <a:t>✔ 계산의 흐름</a:t>
            </a:r>
            <a:r>
              <a:rPr lang="en-US" altLang="ko-KR" dirty="0"/>
              <a:t>: </a:t>
            </a:r>
            <a:r>
              <a:rPr lang="ko-KR" altLang="en-US" b="1" dirty="0"/>
              <a:t>아래 → 위</a:t>
            </a:r>
            <a:r>
              <a:rPr lang="en-US" altLang="ko-KR" b="1" dirty="0"/>
              <a:t>(Bottom-Up)</a:t>
            </a:r>
            <a:br>
              <a:rPr lang="ko-KR" altLang="en-US" dirty="0"/>
            </a:br>
            <a:r>
              <a:rPr lang="ko-KR" altLang="en-US" dirty="0"/>
              <a:t>✔ 저장 방식</a:t>
            </a:r>
            <a:r>
              <a:rPr lang="en-US" altLang="ko-KR" dirty="0"/>
              <a:t>: “</a:t>
            </a:r>
            <a:r>
              <a:rPr lang="ko-KR" altLang="en-US" dirty="0"/>
              <a:t>순서대로 채워가기”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EC7477-C6C3-1922-17AF-58D6A0BB3378}"/>
              </a:ext>
            </a:extLst>
          </p:cNvPr>
          <p:cNvSpPr txBox="1"/>
          <p:nvPr/>
        </p:nvSpPr>
        <p:spPr>
          <a:xfrm>
            <a:off x="1706323" y="2323444"/>
            <a:ext cx="3587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dirty="0"/>
              <a:t>시간 복잡도 </a:t>
            </a:r>
            <a:r>
              <a:rPr lang="en-US" altLang="ko-KR" sz="1400" dirty="0"/>
              <a:t>O(</a:t>
            </a:r>
            <a:r>
              <a:rPr lang="ko-KR" altLang="en-US" sz="1400" dirty="0"/>
              <a:t>전체 </a:t>
            </a:r>
            <a:r>
              <a:rPr lang="en-US" altLang="ko-KR" sz="1400" dirty="0"/>
              <a:t>DP </a:t>
            </a:r>
            <a:r>
              <a:rPr lang="ko-KR" altLang="en-US" sz="1400" dirty="0"/>
              <a:t>상태 개수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481B89-7B8E-5A84-1253-E394AFC7F04F}"/>
                  </a:ext>
                </a:extLst>
              </p:cNvPr>
              <p:cNvSpPr txBox="1"/>
              <p:nvPr/>
            </p:nvSpPr>
            <p:spPr>
              <a:xfrm>
                <a:off x="1706323" y="3831549"/>
                <a:ext cx="8111516" cy="2895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/>
                  <a:t>주의</a:t>
                </a:r>
                <a:r>
                  <a:rPr lang="en-US" altLang="ko-KR" sz="1400" dirty="0"/>
                  <a:t>:</a:t>
                </a:r>
              </a:p>
              <a:p>
                <a:r>
                  <a:rPr lang="en-US" altLang="ko-KR" sz="1400" dirty="0"/>
                  <a:t>1. </a:t>
                </a:r>
                <a:r>
                  <a:rPr lang="ko-KR" altLang="en-US" sz="1400" dirty="0"/>
                  <a:t>미리 저장하는 </a:t>
                </a:r>
                <a:r>
                  <a:rPr lang="en-US" altLang="ko-KR" sz="1400" dirty="0"/>
                  <a:t>DP</a:t>
                </a:r>
                <a:r>
                  <a:rPr lang="ko-KR" altLang="en-US" sz="1400" dirty="0"/>
                  <a:t> 상태의 개념이 </a:t>
                </a:r>
                <a:r>
                  <a:rPr lang="en-US" altLang="ko-KR" sz="1400" dirty="0"/>
                  <a:t>3</a:t>
                </a:r>
                <a:r>
                  <a:rPr lang="ko-KR" altLang="en-US" sz="1400" dirty="0"/>
                  <a:t>차원이 되는 경우 공간을 미리 할당이 불가능 할 수 있다</a:t>
                </a:r>
                <a:r>
                  <a:rPr lang="en-US" altLang="ko-KR" sz="1400" dirty="0"/>
                  <a:t>.</a:t>
                </a:r>
              </a:p>
              <a:p>
                <a:r>
                  <a:rPr lang="en-US" altLang="ko-KR" sz="1400" dirty="0" err="1"/>
                  <a:t>dp</a:t>
                </a:r>
                <a:r>
                  <a:rPr lang="en-US" altLang="ko-KR" sz="1400" dirty="0"/>
                  <a:t>[x][y][z] </a:t>
                </a:r>
              </a:p>
              <a:p>
                <a:r>
                  <a:rPr lang="en-US" altLang="ko-KR" sz="1400" dirty="0"/>
                  <a:t>x, y, z </a:t>
                </a:r>
                <a:r>
                  <a:rPr lang="ko-KR" altLang="en-US" sz="1400" dirty="0"/>
                  <a:t>각각 </a:t>
                </a:r>
                <a:r>
                  <a:rPr lang="en-US" altLang="ko-KR" sz="1400" dirty="0"/>
                  <a:t>0 ~ 1,000,000</a:t>
                </a:r>
                <a:r>
                  <a:rPr lang="ko-KR" altLang="en-US" sz="1400" dirty="0"/>
                  <a:t>         </a:t>
                </a:r>
                <a:r>
                  <a:rPr lang="en-US" altLang="ko-KR" sz="1400" dirty="0"/>
                  <a:t>10⁶ × 10⁶ × 10⁶ = 10¹⁸</a:t>
                </a:r>
              </a:p>
              <a:p>
                <a:endParaRPr lang="en-US" altLang="ko-KR" sz="1400" dirty="0"/>
              </a:p>
              <a:p>
                <a:r>
                  <a:rPr lang="ko-KR" altLang="en-US" sz="1400" b="1" dirty="0"/>
                  <a:t>한 상태당 메모리 </a:t>
                </a:r>
                <a:r>
                  <a:rPr lang="en-US" altLang="ko-KR" sz="1400" b="1" dirty="0"/>
                  <a:t>= 4 byte (int) </a:t>
                </a:r>
                <a:r>
                  <a:rPr lang="ko-KR" altLang="en-US" sz="1400" b="1" dirty="0"/>
                  <a:t>라면</a:t>
                </a:r>
                <a:endParaRPr lang="en-US" altLang="ko-KR" sz="1400" b="1" dirty="0"/>
              </a:p>
              <a:p>
                <a:r>
                  <a:rPr lang="ko-KR" altLang="en-US" sz="1400" dirty="0"/>
                  <a:t>그럼 전체 메모리는</a:t>
                </a:r>
                <a:r>
                  <a:rPr lang="en-US" altLang="ko-KR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ko-KR" sz="140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  <m:r>
                        <a:rPr lang="en-US" altLang="ko-KR" sz="14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ko-KR" altLang="en-US" sz="1400" i="1"/>
                        <m:t> </m:t>
                      </m:r>
                      <m:r>
                        <m:rPr>
                          <m:nor/>
                        </m:rPr>
                        <a:rPr lang="en-US" altLang="ko-KR" sz="1400" i="1"/>
                        <m:t>bytes</m:t>
                      </m:r>
                      <m:r>
                        <a:rPr lang="en-US" altLang="ko-KR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sz="14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ko-KR" sz="1400">
                              <a:latin typeface="Cambria Math" panose="02040503050406030204" pitchFamily="18" charset="0"/>
                            </a:rPr>
                            <m:t>18</m:t>
                          </m:r>
                        </m:sup>
                      </m:sSup>
                      <m:r>
                        <m:rPr>
                          <m:nor/>
                        </m:rPr>
                        <a:rPr lang="ko-KR" altLang="en-US" sz="1400" i="1"/>
                        <m:t> </m:t>
                      </m:r>
                      <m:r>
                        <m:rPr>
                          <m:nor/>
                        </m:rPr>
                        <a:rPr lang="en-US" altLang="ko-KR" sz="1400" i="1"/>
                        <m:t>bytes</m:t>
                      </m:r>
                    </m:oMath>
                  </m:oMathPara>
                </a14:m>
                <a:endParaRPr lang="en-US" altLang="ko-KR" sz="1400" b="0" dirty="0"/>
              </a:p>
              <a:p>
                <a:endParaRPr lang="ko-KR" altLang="en-US" sz="1400" b="0" dirty="0"/>
              </a:p>
              <a:p>
                <a:r>
                  <a:rPr lang="en-US" altLang="ko-KR" sz="1400" dirty="0"/>
                  <a:t>3.8 × 10^12 MB / 1024 ≈ 3.7 × 10^9 GB</a:t>
                </a:r>
              </a:p>
              <a:p>
                <a:endParaRPr lang="en-US" altLang="ko-KR" sz="1400" dirty="0"/>
              </a:p>
              <a:p>
                <a:r>
                  <a:rPr lang="en-US" altLang="ko-KR" sz="1400" dirty="0"/>
                  <a:t>2. </a:t>
                </a:r>
                <a:r>
                  <a:rPr lang="ko-KR" altLang="en-US" sz="1400" dirty="0"/>
                  <a:t>문제 특성상 </a:t>
                </a:r>
                <a:r>
                  <a:rPr lang="ko-KR" altLang="en-US" sz="1400" dirty="0" err="1"/>
                  <a:t>작은→큰</a:t>
                </a:r>
                <a:r>
                  <a:rPr lang="ko-KR" altLang="en-US" sz="1400" dirty="0"/>
                  <a:t> 이든</a:t>
                </a:r>
                <a:r>
                  <a:rPr lang="en-US" altLang="ko-KR" sz="1400" dirty="0"/>
                  <a:t>, </a:t>
                </a:r>
                <a:r>
                  <a:rPr lang="ko-KR" altLang="en-US" sz="1400" dirty="0" err="1"/>
                  <a:t>큰→작은</a:t>
                </a:r>
                <a:r>
                  <a:rPr lang="ko-KR" altLang="en-US" sz="1400" dirty="0"/>
                  <a:t> 이든 어떤 방향으로도 </a:t>
                </a:r>
                <a:endParaRPr lang="en-US" altLang="ko-KR" sz="1400" dirty="0"/>
              </a:p>
              <a:p>
                <a:r>
                  <a:rPr lang="ko-KR" altLang="en-US" sz="1400" dirty="0"/>
                  <a:t>“일관된 계산 </a:t>
                </a:r>
                <a:r>
                  <a:rPr lang="ko-KR" altLang="en-US" sz="1400" dirty="0" err="1"/>
                  <a:t>순서”를</a:t>
                </a:r>
                <a:r>
                  <a:rPr lang="ko-KR" altLang="en-US" sz="1400" dirty="0"/>
                  <a:t> 만들 수 없는 문제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트리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그래프 의존 구조 등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는 </a:t>
                </a:r>
                <a:r>
                  <a:rPr lang="ko-KR" altLang="en-US" sz="1400" dirty="0" err="1"/>
                  <a:t>테뷸레이션으로</a:t>
                </a:r>
                <a:r>
                  <a:rPr lang="ko-KR" altLang="en-US" sz="1400" dirty="0"/>
                  <a:t> 풀기 어렵다</a:t>
                </a:r>
                <a:r>
                  <a:rPr lang="en-US" altLang="ko-KR" sz="1400" dirty="0"/>
                  <a:t>.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481B89-7B8E-5A84-1253-E394AFC7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323" y="3831549"/>
                <a:ext cx="8111516" cy="2895921"/>
              </a:xfrm>
              <a:prstGeom prst="rect">
                <a:avLst/>
              </a:prstGeom>
              <a:blipFill>
                <a:blip r:embed="rId2"/>
                <a:stretch>
                  <a:fillRect l="-225" t="-421" b="-10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23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E17E5-7739-3E3A-6C5C-C29115A9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Tabulation(</a:t>
            </a:r>
            <a:r>
              <a:rPr lang="ko-KR" altLang="en-US" dirty="0" err="1"/>
              <a:t>테뷸레이션</a:t>
            </a:r>
            <a:r>
              <a:rPr lang="en-US" altLang="ko-KR" dirty="0"/>
              <a:t>) </a:t>
            </a:r>
            <a:r>
              <a:rPr lang="ko-KR" altLang="en-US" dirty="0"/>
              <a:t>장단점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9BEB2-C7F9-3371-9542-105C5E1B4E72}"/>
              </a:ext>
            </a:extLst>
          </p:cNvPr>
          <p:cNvSpPr txBox="1"/>
          <p:nvPr/>
        </p:nvSpPr>
        <p:spPr>
          <a:xfrm>
            <a:off x="66595" y="1774142"/>
            <a:ext cx="602940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장점 </a:t>
            </a:r>
            <a:endParaRPr lang="en-US" altLang="ko-KR" sz="1400" b="1" dirty="0"/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1. </a:t>
            </a:r>
            <a:r>
              <a:rPr lang="en-US" altLang="ko-KR" sz="1400" b="1" dirty="0" err="1"/>
              <a:t>StackOverflow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위험이 없다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재귀 미사용</a:t>
            </a:r>
            <a:r>
              <a:rPr lang="en-US" altLang="ko-KR" sz="1400" b="1" dirty="0"/>
              <a:t>)</a:t>
            </a:r>
            <a:endParaRPr lang="ko-KR" altLang="en-US" sz="1400" dirty="0"/>
          </a:p>
          <a:p>
            <a:r>
              <a:rPr lang="ko-KR" altLang="en-US" sz="1400" dirty="0"/>
              <a:t> </a:t>
            </a:r>
            <a:r>
              <a:rPr lang="ko-KR" altLang="en-US" sz="1400" dirty="0" err="1"/>
              <a:t>반복문</a:t>
            </a:r>
            <a:r>
              <a:rPr lang="ko-KR" altLang="en-US" sz="1400" dirty="0"/>
              <a:t> 기반이기 때문에 스택 프레임이 쌓이지 않는다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입력 크기가 매우 커도 안전하다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Top-Down</a:t>
            </a:r>
            <a:r>
              <a:rPr lang="ko-KR" altLang="en-US" sz="1400" dirty="0"/>
              <a:t>에서 문제가 되는 “최악의 깊이 </a:t>
            </a:r>
            <a:r>
              <a:rPr lang="en-US" altLang="ko-KR" sz="1400" dirty="0"/>
              <a:t>= N” </a:t>
            </a:r>
            <a:r>
              <a:rPr lang="ko-KR" altLang="en-US" sz="1400" dirty="0"/>
              <a:t>문제가 발생하지 않는다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 b="1" dirty="0"/>
              <a:t>2. </a:t>
            </a:r>
            <a:r>
              <a:rPr lang="ko-KR" altLang="en-US" sz="1400" b="1" dirty="0"/>
              <a:t>계산 순서가 명확한 문제에서 빠르고 안정적</a:t>
            </a:r>
            <a:endParaRPr lang="ko-KR" altLang="en-US" sz="1400" dirty="0"/>
          </a:p>
          <a:p>
            <a:r>
              <a:rPr lang="ko-KR" altLang="en-US" sz="1400" dirty="0"/>
              <a:t> 작은 문제에서 → 큰 문제로 순차적으로 채우기 때문에</a:t>
            </a:r>
            <a:br>
              <a:rPr lang="ko-KR" altLang="en-US" sz="1400" dirty="0"/>
            </a:br>
            <a:r>
              <a:rPr lang="ko-KR" altLang="en-US" sz="1400" dirty="0"/>
              <a:t> </a:t>
            </a:r>
            <a:r>
              <a:rPr lang="en-US" altLang="ko-KR" sz="1400" dirty="0"/>
              <a:t>CPU </a:t>
            </a:r>
            <a:r>
              <a:rPr lang="ko-KR" altLang="en-US" sz="1400" dirty="0"/>
              <a:t>캐시 친화적이고 실행 속도가 빠르다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함수 호출 오버헤드가 없어 </a:t>
            </a:r>
            <a:r>
              <a:rPr lang="en-US" altLang="ko-KR" sz="1400" dirty="0" err="1"/>
              <a:t>Memoization</a:t>
            </a:r>
            <a:r>
              <a:rPr lang="ko-KR" altLang="en-US" sz="1400" dirty="0"/>
              <a:t>보다 실제 수행 속도가 빠른 경우가 많다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3. DP </a:t>
            </a:r>
            <a:r>
              <a:rPr lang="ko-KR" altLang="en-US" sz="1400" b="1" dirty="0"/>
              <a:t>테이블을 한 번에 확보할 수 있어 </a:t>
            </a:r>
            <a:r>
              <a:rPr lang="ko-KR" altLang="en-US" sz="1400" b="1" dirty="0" err="1"/>
              <a:t>역추적</a:t>
            </a:r>
            <a:r>
              <a:rPr lang="en-US" altLang="ko-KR" sz="1400" b="1" dirty="0"/>
              <a:t>(Backtracking)</a:t>
            </a:r>
            <a:r>
              <a:rPr lang="ko-KR" altLang="en-US" sz="1400" b="1" dirty="0"/>
              <a:t>이 쉽다</a:t>
            </a:r>
            <a:endParaRPr lang="ko-KR" altLang="en-US" sz="1400" dirty="0"/>
          </a:p>
          <a:p>
            <a:r>
              <a:rPr lang="ko-KR" altLang="en-US" sz="1400" dirty="0"/>
              <a:t> 모든 </a:t>
            </a:r>
            <a:r>
              <a:rPr lang="en-US" altLang="ko-KR" sz="1400" dirty="0"/>
              <a:t>DP </a:t>
            </a:r>
            <a:r>
              <a:rPr lang="ko-KR" altLang="en-US" sz="1400" dirty="0"/>
              <a:t>상태가 채워져 있으므로 최적 경로 복원</a:t>
            </a:r>
            <a:r>
              <a:rPr lang="en-US" altLang="ko-KR" sz="1400" dirty="0"/>
              <a:t>, </a:t>
            </a:r>
            <a:r>
              <a:rPr lang="ko-KR" altLang="en-US" sz="1400" dirty="0"/>
              <a:t>선택 과정 추적 등이 간단하다 </a:t>
            </a: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LCS, LIS </a:t>
            </a:r>
            <a:r>
              <a:rPr lang="ko-KR" altLang="en-US" sz="1400" dirty="0"/>
              <a:t>길이 </a:t>
            </a:r>
            <a:r>
              <a:rPr lang="en-US" altLang="ko-KR" sz="1400" dirty="0"/>
              <a:t>+ </a:t>
            </a:r>
            <a:r>
              <a:rPr lang="ko-KR" altLang="en-US" sz="1400" dirty="0"/>
              <a:t>경로 복원</a:t>
            </a:r>
            <a:r>
              <a:rPr lang="en-US" altLang="ko-KR" sz="1400" dirty="0"/>
              <a:t>)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4. </a:t>
            </a:r>
            <a:r>
              <a:rPr lang="ko-KR" altLang="en-US" sz="1400" b="1" dirty="0"/>
              <a:t>점화식이 단순한 경우 메모리 최적화</a:t>
            </a:r>
            <a:r>
              <a:rPr lang="en-US" altLang="ko-KR" sz="1400" b="1" dirty="0"/>
              <a:t>(O(1) or O(N))</a:t>
            </a:r>
            <a:r>
              <a:rPr lang="ko-KR" altLang="en-US" sz="1400" b="1" dirty="0"/>
              <a:t>가 쉽다</a:t>
            </a:r>
            <a:endParaRPr lang="ko-KR" altLang="en-US" sz="1400" dirty="0"/>
          </a:p>
          <a:p>
            <a:r>
              <a:rPr lang="ko-KR" altLang="en-US" sz="1400" dirty="0"/>
              <a:t> 점화식이 바로 이전 몇 개 값만 참조하는 문제는 전체 테이블 없이도 한두 개 변수만으로 해결 가능</a:t>
            </a:r>
            <a:br>
              <a:rPr lang="ko-KR" altLang="en-US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피보나치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타일링</a:t>
            </a:r>
            <a:r>
              <a:rPr lang="ko-KR" altLang="en-US" sz="1400" dirty="0"/>
              <a:t> </a:t>
            </a:r>
            <a:r>
              <a:rPr lang="en-US" altLang="ko-KR" sz="1400" dirty="0"/>
              <a:t>DP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F44DE-E680-3B2D-39F0-A27CC9439EAF}"/>
              </a:ext>
            </a:extLst>
          </p:cNvPr>
          <p:cNvSpPr txBox="1"/>
          <p:nvPr/>
        </p:nvSpPr>
        <p:spPr>
          <a:xfrm>
            <a:off x="6096000" y="1774142"/>
            <a:ext cx="585139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 b="1" dirty="0"/>
              <a:t>단점</a:t>
            </a:r>
            <a:endParaRPr lang="en-US" altLang="ko-KR" sz="1400" b="1" dirty="0"/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1. ‘</a:t>
            </a:r>
            <a:r>
              <a:rPr lang="ko-KR" altLang="en-US" sz="1400" b="1" dirty="0"/>
              <a:t>계산 가능한 </a:t>
            </a:r>
            <a:r>
              <a:rPr lang="ko-KR" altLang="en-US" sz="1400" b="1" dirty="0" err="1"/>
              <a:t>순서’를</a:t>
            </a:r>
            <a:r>
              <a:rPr lang="ko-KR" altLang="en-US" sz="1400" b="1" dirty="0"/>
              <a:t> 만들 수 없는 문제에서는 사용 불가</a:t>
            </a:r>
            <a:endParaRPr lang="ko-KR" altLang="en-US" sz="1400" dirty="0"/>
          </a:p>
          <a:p>
            <a:r>
              <a:rPr lang="ko-KR" altLang="en-US" sz="1400" dirty="0"/>
              <a:t> 그래프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싸이클</a:t>
            </a:r>
            <a:r>
              <a:rPr lang="ko-KR" altLang="en-US" sz="1400" dirty="0"/>
              <a:t> 존재</a:t>
            </a:r>
            <a:r>
              <a:rPr lang="en-US" altLang="ko-KR" sz="1400" dirty="0"/>
              <a:t>), </a:t>
            </a:r>
            <a:r>
              <a:rPr lang="ko-KR" altLang="en-US" sz="1400" dirty="0"/>
              <a:t>트리 </a:t>
            </a:r>
            <a:r>
              <a:rPr lang="en-US" altLang="ko-KR" sz="1400" dirty="0"/>
              <a:t>DP, DFS </a:t>
            </a:r>
            <a:r>
              <a:rPr lang="ko-KR" altLang="en-US" sz="1400" dirty="0"/>
              <a:t>기반 문제처럼</a:t>
            </a:r>
            <a:br>
              <a:rPr lang="ko-KR" altLang="en-US" sz="1400" dirty="0"/>
            </a:br>
            <a:r>
              <a:rPr lang="ko-KR" altLang="en-US" sz="1400" dirty="0"/>
              <a:t>상태 간 의존 구조가 복잡한 경우</a:t>
            </a:r>
            <a:br>
              <a:rPr lang="ko-KR" altLang="en-US" sz="1400" dirty="0"/>
            </a:br>
            <a:r>
              <a:rPr lang="ko-KR" altLang="en-US" sz="1400" dirty="0"/>
              <a:t>작은 문제 → 큰 문제 순서를 정의할 수 없어서 </a:t>
            </a:r>
            <a:r>
              <a:rPr lang="en-US" altLang="ko-KR" sz="1400" dirty="0"/>
              <a:t>Bottom-Up </a:t>
            </a:r>
            <a:r>
              <a:rPr lang="ko-KR" altLang="en-US" sz="1400" dirty="0"/>
              <a:t>방식 불가능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이런 문제는 </a:t>
            </a:r>
            <a:r>
              <a:rPr lang="en-US" altLang="ko-KR" sz="1400" dirty="0" err="1"/>
              <a:t>Memoization</a:t>
            </a:r>
            <a:r>
              <a:rPr lang="en-US" altLang="ko-KR" sz="1400" dirty="0"/>
              <a:t>(Top-Down)</a:t>
            </a:r>
            <a:r>
              <a:rPr lang="ko-KR" altLang="en-US" sz="1400" dirty="0"/>
              <a:t>이 더 적합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pPr>
              <a:buNone/>
            </a:pPr>
            <a:r>
              <a:rPr lang="en-US" altLang="ko-KR" sz="1400" b="1" dirty="0"/>
              <a:t>2. </a:t>
            </a:r>
            <a:r>
              <a:rPr lang="ko-KR" altLang="en-US" sz="1400" b="1" dirty="0"/>
              <a:t>필요한지 여부와 상관없이 모든 상태를 미리 계산해야 한다</a:t>
            </a:r>
            <a:endParaRPr lang="ko-KR" altLang="en-US" sz="1400" dirty="0"/>
          </a:p>
          <a:p>
            <a:r>
              <a:rPr lang="ko-KR" altLang="en-US" sz="1400" dirty="0"/>
              <a:t> 실제로 방문하는 상태가 일부라도 전체 </a:t>
            </a:r>
            <a:r>
              <a:rPr lang="en-US" altLang="ko-KR" sz="1400" dirty="0"/>
              <a:t>DP </a:t>
            </a:r>
            <a:r>
              <a:rPr lang="ko-KR" altLang="en-US" sz="1400" dirty="0"/>
              <a:t>테이블을 채우기 때문에 불필요한 계산이 많을 수 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예</a:t>
            </a:r>
            <a:r>
              <a:rPr lang="en-US" altLang="ko-KR" sz="1400" dirty="0"/>
              <a:t>: </a:t>
            </a:r>
            <a:r>
              <a:rPr lang="ko-KR" altLang="en-US" sz="1400" dirty="0"/>
              <a:t>특정 상태만 중요한데 전체 </a:t>
            </a:r>
            <a:r>
              <a:rPr lang="en-US" altLang="ko-KR" sz="1400" dirty="0" err="1"/>
              <a:t>NxN</a:t>
            </a:r>
            <a:r>
              <a:rPr lang="en-US" altLang="ko-KR" sz="1400" dirty="0"/>
              <a:t> </a:t>
            </a:r>
            <a:r>
              <a:rPr lang="ko-KR" altLang="en-US" sz="1400" dirty="0"/>
              <a:t>테이블을 만드는 경우</a:t>
            </a:r>
            <a:r>
              <a:rPr lang="en-US" altLang="ko-KR" sz="1400" dirty="0"/>
              <a:t>)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3. DP </a:t>
            </a:r>
            <a:r>
              <a:rPr lang="ko-KR" altLang="en-US" sz="1400" b="1" dirty="0"/>
              <a:t>테이블 크기가 큰 문제에서는 메모리 초과 위험</a:t>
            </a:r>
            <a:endParaRPr lang="ko-KR" altLang="en-US" sz="1400" dirty="0"/>
          </a:p>
          <a:p>
            <a:r>
              <a:rPr lang="en-US" altLang="ko-KR" sz="1400" dirty="0"/>
              <a:t> 1D</a:t>
            </a:r>
            <a:r>
              <a:rPr lang="ko-KR" altLang="en-US" sz="1400" dirty="0"/>
              <a:t>는 괜찮지만 </a:t>
            </a:r>
            <a:r>
              <a:rPr lang="en-US" altLang="ko-KR" sz="1400" dirty="0"/>
              <a:t>2D(N×M), 3D(N×M×K) </a:t>
            </a:r>
            <a:r>
              <a:rPr lang="ko-KR" altLang="en-US" sz="1400" dirty="0"/>
              <a:t>등에서는 메모리 폭발 가능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 예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dp</a:t>
            </a:r>
            <a:r>
              <a:rPr lang="en-US" altLang="ko-KR" sz="1400" dirty="0"/>
              <a:t>[1,000,000][1,000,000] </a:t>
            </a:r>
            <a:r>
              <a:rPr lang="ko-KR" altLang="en-US" sz="1400" dirty="0"/>
              <a:t>같은 경우는 테이블 생성 자체가 불가능</a:t>
            </a:r>
            <a:r>
              <a:rPr lang="en-US" altLang="ko-KR" sz="1400" dirty="0"/>
              <a:t>.</a:t>
            </a:r>
          </a:p>
          <a:p>
            <a:pPr>
              <a:buNone/>
            </a:pPr>
            <a:endParaRPr lang="en-US" altLang="ko-KR" sz="1400" b="1" dirty="0"/>
          </a:p>
          <a:p>
            <a:pPr>
              <a:buNone/>
            </a:pPr>
            <a:r>
              <a:rPr lang="en-US" altLang="ko-KR" sz="1400" b="1" dirty="0"/>
              <a:t>4. Top-Down</a:t>
            </a:r>
            <a:r>
              <a:rPr lang="ko-KR" altLang="en-US" sz="1400" b="1" dirty="0"/>
              <a:t>처럼 “필요한 상태만 </a:t>
            </a:r>
            <a:r>
              <a:rPr lang="en-US" altLang="ko-KR" sz="1400" b="1" dirty="0"/>
              <a:t>lazy </a:t>
            </a:r>
            <a:r>
              <a:rPr lang="ko-KR" altLang="en-US" sz="1400" b="1" dirty="0" err="1"/>
              <a:t>계산”하는</a:t>
            </a:r>
            <a:r>
              <a:rPr lang="ko-KR" altLang="en-US" sz="1400" b="1" dirty="0"/>
              <a:t> 방식이 불가능</a:t>
            </a:r>
            <a:endParaRPr lang="ko-KR" altLang="en-US" sz="1400" dirty="0"/>
          </a:p>
          <a:p>
            <a:r>
              <a:rPr lang="ko-KR" altLang="en-US" sz="1400" dirty="0"/>
              <a:t> 항상 전체 테이블을 만들어야 해서 유연성이 부족하다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5850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F4B66-0446-8282-29DE-6B9A9FCC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2) </a:t>
            </a:r>
            <a:r>
              <a:rPr lang="ko-KR" altLang="en-US" dirty="0"/>
              <a:t>최적 부분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2116B-5CE6-1FA0-4692-0F2FF5E7184D}"/>
              </a:ext>
            </a:extLst>
          </p:cNvPr>
          <p:cNvSpPr txBox="1"/>
          <p:nvPr/>
        </p:nvSpPr>
        <p:spPr>
          <a:xfrm>
            <a:off x="566696" y="1494109"/>
            <a:ext cx="8638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전체 문제의 최적 해가 부분 문제의 최적</a:t>
            </a:r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  <a:r>
              <a:rPr lang="ko-KR" altLang="en-US" dirty="0"/>
              <a:t> 해로 구성될 수 있어야 함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403FF-5172-1748-3ABF-BCA1A6DF128F}"/>
              </a:ext>
            </a:extLst>
          </p:cNvPr>
          <p:cNvSpPr txBox="1"/>
          <p:nvPr/>
        </p:nvSpPr>
        <p:spPr>
          <a:xfrm>
            <a:off x="389964" y="2128654"/>
            <a:ext cx="116201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정수 </a:t>
            </a:r>
            <a:r>
              <a:rPr lang="en-US" altLang="ko-KR" b="1" dirty="0"/>
              <a:t>N</a:t>
            </a:r>
            <a:r>
              <a:rPr lang="ko-KR" altLang="en-US" dirty="0"/>
              <a:t>이 주어질 때</a:t>
            </a:r>
            <a:r>
              <a:rPr lang="en-US" altLang="ko-KR" dirty="0"/>
              <a:t>, </a:t>
            </a:r>
            <a:r>
              <a:rPr lang="ko-KR" altLang="en-US" dirty="0"/>
              <a:t>다음의 세 가지 연산만을 이용하여 </a:t>
            </a:r>
            <a:r>
              <a:rPr lang="en-US" altLang="ko-KR" b="1" dirty="0"/>
              <a:t>N</a:t>
            </a:r>
            <a:r>
              <a:rPr lang="ko-KR" altLang="en-US" b="1" dirty="0"/>
              <a:t>을 </a:t>
            </a:r>
            <a:r>
              <a:rPr lang="en-US" altLang="ko-KR" b="1" dirty="0"/>
              <a:t>1</a:t>
            </a:r>
            <a:r>
              <a:rPr lang="ko-KR" altLang="en-US" b="1" dirty="0"/>
              <a:t>로 만드는 최소 연산 횟수</a:t>
            </a:r>
            <a:r>
              <a:rPr lang="ko-KR" altLang="en-US" dirty="0"/>
              <a:t>를 </a:t>
            </a:r>
            <a:r>
              <a:rPr lang="ko-KR" altLang="en-US" dirty="0" err="1"/>
              <a:t>구하시오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가능한 연산은</a:t>
            </a:r>
            <a:r>
              <a:rPr lang="en-US" altLang="ko-KR" dirty="0"/>
              <a:t>:</a:t>
            </a:r>
          </a:p>
          <a:p>
            <a:pPr>
              <a:buNone/>
            </a:pPr>
            <a:endParaRPr lang="en-US" altLang="ko-KR" dirty="0"/>
          </a:p>
          <a:p>
            <a:r>
              <a:rPr lang="en-US" altLang="ko-KR" b="1" dirty="0"/>
              <a:t>N</a:t>
            </a:r>
            <a:r>
              <a:rPr lang="ko-KR" altLang="en-US" b="1" dirty="0"/>
              <a:t>이 </a:t>
            </a:r>
            <a:r>
              <a:rPr lang="en-US" altLang="ko-KR" b="1" dirty="0"/>
              <a:t>3</a:t>
            </a:r>
            <a:r>
              <a:rPr lang="ko-KR" altLang="en-US" b="1" dirty="0"/>
              <a:t>으로 나누어 떨어지면</a:t>
            </a:r>
            <a:r>
              <a:rPr lang="ko-KR" altLang="en-US" dirty="0"/>
              <a:t> → </a:t>
            </a:r>
            <a:r>
              <a:rPr lang="en-US" altLang="ko-KR" dirty="0"/>
              <a:t>N = N / 3 , </a:t>
            </a:r>
            <a:r>
              <a:rPr lang="en-US" altLang="ko-KR" b="1" dirty="0"/>
              <a:t>N</a:t>
            </a:r>
            <a:r>
              <a:rPr lang="ko-KR" altLang="en-US" b="1" dirty="0"/>
              <a:t>이 </a:t>
            </a:r>
            <a:r>
              <a:rPr lang="en-US" altLang="ko-KR" b="1" dirty="0"/>
              <a:t>2</a:t>
            </a:r>
            <a:r>
              <a:rPr lang="ko-KR" altLang="en-US" b="1" dirty="0"/>
              <a:t>로 나누어 떨어지면</a:t>
            </a:r>
            <a:r>
              <a:rPr lang="ko-KR" altLang="en-US" dirty="0"/>
              <a:t> → </a:t>
            </a:r>
            <a:r>
              <a:rPr lang="en-US" altLang="ko-KR" dirty="0"/>
              <a:t>N = N / 2 , </a:t>
            </a:r>
            <a:r>
              <a:rPr lang="ko-KR" altLang="en-US" b="1" dirty="0"/>
              <a:t>항상 가능</a:t>
            </a:r>
            <a:r>
              <a:rPr lang="ko-KR" altLang="en-US" dirty="0"/>
              <a:t> → </a:t>
            </a:r>
            <a:r>
              <a:rPr lang="en-US" altLang="ko-KR" dirty="0"/>
              <a:t>N = N - 1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en-US" dirty="0"/>
              <a:t>여기서 핵심은</a:t>
            </a:r>
            <a:r>
              <a:rPr lang="en-US" altLang="ko-KR" dirty="0"/>
              <a:t> </a:t>
            </a:r>
            <a:r>
              <a:rPr lang="ko-KR" altLang="en-US" b="1" dirty="0"/>
              <a:t>여러 선택지 중에서 최소 횟수를 고르는 최적화 문제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60333-B7D1-7EB9-D32E-29F83D0A101B}"/>
              </a:ext>
            </a:extLst>
          </p:cNvPr>
          <p:cNvSpPr txBox="1"/>
          <p:nvPr/>
        </p:nvSpPr>
        <p:spPr>
          <a:xfrm>
            <a:off x="323681" y="4148193"/>
            <a:ext cx="6245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N 10</a:t>
            </a:r>
            <a:r>
              <a:rPr lang="ko-KR" altLang="en-US" dirty="0" err="1"/>
              <a:t>일때</a:t>
            </a:r>
            <a:r>
              <a:rPr lang="ko-KR" altLang="en-US" dirty="0"/>
              <a:t> 여러 방법이 있을 수 있으나 최소 연산은 </a:t>
            </a:r>
            <a:r>
              <a:rPr lang="en-US" altLang="ko-KR" dirty="0"/>
              <a:t>3</a:t>
            </a:r>
            <a:r>
              <a:rPr lang="ko-KR" altLang="en-US" dirty="0"/>
              <a:t>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6D5EB4-73AC-AAD8-7C5F-339A983C6B58}"/>
              </a:ext>
            </a:extLst>
          </p:cNvPr>
          <p:cNvSpPr txBox="1"/>
          <p:nvPr/>
        </p:nvSpPr>
        <p:spPr>
          <a:xfrm>
            <a:off x="838199" y="4652433"/>
            <a:ext cx="9489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 → 9 → 8 → 7 → 6 → 5 → 4 → 2 → 1    </a:t>
            </a:r>
            <a:r>
              <a:rPr lang="ko-KR" altLang="en-US" dirty="0"/>
              <a:t>연산 </a:t>
            </a:r>
            <a:r>
              <a:rPr lang="en-US" altLang="ko-KR" dirty="0"/>
              <a:t>8</a:t>
            </a:r>
            <a:r>
              <a:rPr lang="ko-KR" altLang="en-US" dirty="0"/>
              <a:t>회  </a:t>
            </a:r>
            <a:r>
              <a:rPr lang="en-US" altLang="ko-KR" dirty="0"/>
              <a:t>( -1 </a:t>
            </a:r>
            <a:r>
              <a:rPr lang="ko-KR" altLang="en-US" dirty="0"/>
              <a:t>계속 비효율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10 → 9 → 8 → 4 → 2 → 1        </a:t>
            </a:r>
            <a:r>
              <a:rPr lang="ko-KR" altLang="en-US" dirty="0"/>
              <a:t>연산 </a:t>
            </a:r>
            <a:r>
              <a:rPr lang="en-US" altLang="ko-KR" dirty="0"/>
              <a:t> 5</a:t>
            </a:r>
            <a:r>
              <a:rPr lang="ko-KR" altLang="en-US" dirty="0"/>
              <a:t>번</a:t>
            </a:r>
            <a:r>
              <a:rPr lang="en-US" altLang="ko-KR" dirty="0"/>
              <a:t>.  (9→8: -1, 8→4: /2, 4→2: /2, 2→1: /2)</a:t>
            </a:r>
          </a:p>
          <a:p>
            <a:r>
              <a:rPr lang="en-US" altLang="ko-KR" dirty="0"/>
              <a:t>10 → 5 → 4 → 2 → 1   </a:t>
            </a:r>
            <a:r>
              <a:rPr lang="ko-KR" altLang="en-US" dirty="0"/>
              <a:t>연산 </a:t>
            </a:r>
            <a:r>
              <a:rPr lang="en-US" altLang="ko-KR" dirty="0"/>
              <a:t> 4</a:t>
            </a:r>
            <a:r>
              <a:rPr lang="ko-KR" altLang="en-US" dirty="0"/>
              <a:t>번 </a:t>
            </a:r>
            <a:r>
              <a:rPr lang="en-US" altLang="ko-KR" dirty="0"/>
              <a:t>(</a:t>
            </a:r>
            <a:r>
              <a:rPr lang="ko-KR" altLang="en-US" dirty="0"/>
              <a:t>최단은 아님</a:t>
            </a:r>
            <a:r>
              <a:rPr lang="en-US" altLang="ko-KR" dirty="0"/>
              <a:t>, </a:t>
            </a:r>
            <a:r>
              <a:rPr lang="ko-KR" altLang="en-US" dirty="0"/>
              <a:t>하지만 비교적 짧은 경로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10 → 9 → 3 → 1  </a:t>
            </a:r>
            <a:r>
              <a:rPr lang="ko-KR" altLang="en-US" dirty="0"/>
              <a:t>연산 수 </a:t>
            </a:r>
            <a:r>
              <a:rPr lang="en-US" altLang="ko-KR" dirty="0"/>
              <a:t>= </a:t>
            </a:r>
            <a:r>
              <a:rPr lang="en-US" altLang="ko-KR" b="1" dirty="0"/>
              <a:t>3</a:t>
            </a:r>
            <a:r>
              <a:rPr lang="ko-KR" altLang="en-US" b="1" dirty="0"/>
              <a:t>번  </a:t>
            </a:r>
            <a:r>
              <a:rPr lang="en-US" altLang="ko-KR" dirty="0"/>
              <a:t>(</a:t>
            </a:r>
            <a:r>
              <a:rPr lang="ko-KR" altLang="en-US" dirty="0"/>
              <a:t> </a:t>
            </a:r>
            <a:r>
              <a:rPr lang="en-US" altLang="ko-KR" dirty="0"/>
              <a:t>-1 , /3 , /3 )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313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6BE6A-F84E-E121-27FF-21F04D78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440"/>
            <a:ext cx="10515600" cy="1325563"/>
          </a:xfrm>
        </p:spPr>
        <p:txBody>
          <a:bodyPr/>
          <a:lstStyle/>
          <a:p>
            <a:r>
              <a:rPr lang="ko-KR" altLang="en-US" dirty="0" err="1"/>
              <a:t>점화식</a:t>
            </a:r>
            <a:r>
              <a:rPr lang="ko-KR" altLang="en-US" dirty="0"/>
              <a:t> 찾기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09F6965-4CD4-DC2C-3578-33EAF59AE998}"/>
              </a:ext>
            </a:extLst>
          </p:cNvPr>
          <p:cNvSpPr/>
          <p:nvPr/>
        </p:nvSpPr>
        <p:spPr>
          <a:xfrm>
            <a:off x="6048974" y="1272757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3F488A0-700D-EFF2-F28E-235729E44C3D}"/>
              </a:ext>
            </a:extLst>
          </p:cNvPr>
          <p:cNvSpPr/>
          <p:nvPr/>
        </p:nvSpPr>
        <p:spPr>
          <a:xfrm>
            <a:off x="4891249" y="2258234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3E3A95F-FA8D-612C-C428-769AD55B7F72}"/>
              </a:ext>
            </a:extLst>
          </p:cNvPr>
          <p:cNvSpPr/>
          <p:nvPr/>
        </p:nvSpPr>
        <p:spPr>
          <a:xfrm>
            <a:off x="7206703" y="2258234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B3C124B-CBB0-A50E-C23A-2166297440A6}"/>
              </a:ext>
            </a:extLst>
          </p:cNvPr>
          <p:cNvSpPr/>
          <p:nvPr/>
        </p:nvSpPr>
        <p:spPr>
          <a:xfrm>
            <a:off x="6048976" y="2258234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55371BD-71D8-5D22-A1FE-512D347DCCC5}"/>
              </a:ext>
            </a:extLst>
          </p:cNvPr>
          <p:cNvCxnSpPr>
            <a:cxnSpLocks/>
            <a:stCxn id="6" idx="7"/>
            <a:endCxn id="6" idx="3"/>
          </p:cNvCxnSpPr>
          <p:nvPr/>
        </p:nvCxnSpPr>
        <p:spPr>
          <a:xfrm flipH="1">
            <a:off x="6153629" y="2349354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0E61574-8813-07CF-B852-41FAEFCCD1A0}"/>
              </a:ext>
            </a:extLst>
          </p:cNvPr>
          <p:cNvCxnSpPr>
            <a:cxnSpLocks/>
            <a:stCxn id="6" idx="1"/>
            <a:endCxn id="6" idx="5"/>
          </p:cNvCxnSpPr>
          <p:nvPr/>
        </p:nvCxnSpPr>
        <p:spPr>
          <a:xfrm>
            <a:off x="6153629" y="2349354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0E4E84-AB0E-6B41-8545-994A694F7D48}"/>
              </a:ext>
            </a:extLst>
          </p:cNvPr>
          <p:cNvSpPr txBox="1"/>
          <p:nvPr/>
        </p:nvSpPr>
        <p:spPr>
          <a:xfrm>
            <a:off x="5262069" y="1894245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0D7FDE-59C1-E13A-BCE7-CF3417BA1D52}"/>
              </a:ext>
            </a:extLst>
          </p:cNvPr>
          <p:cNvSpPr txBox="1"/>
          <p:nvPr/>
        </p:nvSpPr>
        <p:spPr>
          <a:xfrm>
            <a:off x="5917283" y="1898961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E4AA5E-EC32-93D2-75FA-9B81ACFDAAA6}"/>
              </a:ext>
            </a:extLst>
          </p:cNvPr>
          <p:cNvSpPr txBox="1"/>
          <p:nvPr/>
        </p:nvSpPr>
        <p:spPr>
          <a:xfrm>
            <a:off x="6998606" y="1838106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461D732-57B2-BFE6-0303-AA28CC53D0B5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5501211" y="1803843"/>
            <a:ext cx="652416" cy="545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3EB520F-3357-5743-0D08-F5DB3B837247}"/>
              </a:ext>
            </a:extLst>
          </p:cNvPr>
          <p:cNvCxnSpPr>
            <a:cxnSpLocks/>
            <a:stCxn id="3" idx="4"/>
            <a:endCxn id="6" idx="0"/>
          </p:cNvCxnSpPr>
          <p:nvPr/>
        </p:nvCxnSpPr>
        <p:spPr>
          <a:xfrm>
            <a:off x="6406282" y="1894963"/>
            <a:ext cx="2" cy="363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5F312DE-32F8-62D7-1C2D-0731F44371E0}"/>
              </a:ext>
            </a:extLst>
          </p:cNvPr>
          <p:cNvCxnSpPr>
            <a:cxnSpLocks/>
          </p:cNvCxnSpPr>
          <p:nvPr/>
        </p:nvCxnSpPr>
        <p:spPr>
          <a:xfrm>
            <a:off x="6666626" y="1803843"/>
            <a:ext cx="846306" cy="4543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71FF8193-13D9-C39C-6524-008C3828E7D1}"/>
              </a:ext>
            </a:extLst>
          </p:cNvPr>
          <p:cNvSpPr/>
          <p:nvPr/>
        </p:nvSpPr>
        <p:spPr>
          <a:xfrm>
            <a:off x="3733520" y="3258136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2A9CEAF-2861-982E-C7B3-CE4A4F01CE24}"/>
              </a:ext>
            </a:extLst>
          </p:cNvPr>
          <p:cNvSpPr/>
          <p:nvPr/>
        </p:nvSpPr>
        <p:spPr>
          <a:xfrm>
            <a:off x="6048974" y="3258136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61B211B-2CA4-EDA3-B2A3-5B58CCD23E59}"/>
              </a:ext>
            </a:extLst>
          </p:cNvPr>
          <p:cNvSpPr/>
          <p:nvPr/>
        </p:nvSpPr>
        <p:spPr>
          <a:xfrm>
            <a:off x="4891247" y="3258136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901533-998A-858E-BCBA-364E1595D153}"/>
              </a:ext>
            </a:extLst>
          </p:cNvPr>
          <p:cNvSpPr txBox="1"/>
          <p:nvPr/>
        </p:nvSpPr>
        <p:spPr>
          <a:xfrm>
            <a:off x="4104340" y="2894147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5FE3A8-CC16-7514-969A-08A2F4DF2EA5}"/>
              </a:ext>
            </a:extLst>
          </p:cNvPr>
          <p:cNvSpPr txBox="1"/>
          <p:nvPr/>
        </p:nvSpPr>
        <p:spPr>
          <a:xfrm>
            <a:off x="4759554" y="2898863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4E00C-2F1B-E2EE-C8FE-0D3ED37B3FCA}"/>
              </a:ext>
            </a:extLst>
          </p:cNvPr>
          <p:cNvSpPr txBox="1"/>
          <p:nvPr/>
        </p:nvSpPr>
        <p:spPr>
          <a:xfrm>
            <a:off x="5621158" y="2935577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93651C3-5BCE-7072-D5C3-C4FB1B708232}"/>
              </a:ext>
            </a:extLst>
          </p:cNvPr>
          <p:cNvCxnSpPr>
            <a:endCxn id="27" idx="7"/>
          </p:cNvCxnSpPr>
          <p:nvPr/>
        </p:nvCxnSpPr>
        <p:spPr>
          <a:xfrm flipH="1">
            <a:off x="4343482" y="2803745"/>
            <a:ext cx="652416" cy="545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6BF4942-7E12-4669-7717-6A573A22E644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5248553" y="2894865"/>
            <a:ext cx="2" cy="363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ED20F94-3649-ABFA-05F3-33768F86D75E}"/>
              </a:ext>
            </a:extLst>
          </p:cNvPr>
          <p:cNvCxnSpPr>
            <a:cxnSpLocks/>
          </p:cNvCxnSpPr>
          <p:nvPr/>
        </p:nvCxnSpPr>
        <p:spPr>
          <a:xfrm>
            <a:off x="5508897" y="2803745"/>
            <a:ext cx="846306" cy="4543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B388720-DE05-ADE0-4A6E-480D26CEE8D5}"/>
              </a:ext>
            </a:extLst>
          </p:cNvPr>
          <p:cNvCxnSpPr>
            <a:cxnSpLocks/>
            <a:stCxn id="28" idx="7"/>
            <a:endCxn id="28" idx="3"/>
          </p:cNvCxnSpPr>
          <p:nvPr/>
        </p:nvCxnSpPr>
        <p:spPr>
          <a:xfrm flipH="1">
            <a:off x="6153627" y="3349256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FC41874-7BE2-5718-287C-4B32F6D633DF}"/>
              </a:ext>
            </a:extLst>
          </p:cNvPr>
          <p:cNvCxnSpPr>
            <a:cxnSpLocks/>
            <a:stCxn id="28" idx="1"/>
            <a:endCxn id="28" idx="5"/>
          </p:cNvCxnSpPr>
          <p:nvPr/>
        </p:nvCxnSpPr>
        <p:spPr>
          <a:xfrm>
            <a:off x="6153627" y="3349256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06D2F34B-135B-A36A-089E-8F15B9DC41F7}"/>
              </a:ext>
            </a:extLst>
          </p:cNvPr>
          <p:cNvSpPr/>
          <p:nvPr/>
        </p:nvSpPr>
        <p:spPr>
          <a:xfrm>
            <a:off x="7090162" y="3334831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5F26656-ACC8-9C95-CC1D-BAF2D3C67AD0}"/>
              </a:ext>
            </a:extLst>
          </p:cNvPr>
          <p:cNvSpPr/>
          <p:nvPr/>
        </p:nvSpPr>
        <p:spPr>
          <a:xfrm>
            <a:off x="9405616" y="3334831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DEE8E312-3BAE-FAD3-5F3E-3FDE09B88399}"/>
              </a:ext>
            </a:extLst>
          </p:cNvPr>
          <p:cNvSpPr/>
          <p:nvPr/>
        </p:nvSpPr>
        <p:spPr>
          <a:xfrm>
            <a:off x="8247889" y="3334831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D7813B-D868-D88B-038B-A7DC454AB836}"/>
              </a:ext>
            </a:extLst>
          </p:cNvPr>
          <p:cNvSpPr txBox="1"/>
          <p:nvPr/>
        </p:nvSpPr>
        <p:spPr>
          <a:xfrm>
            <a:off x="7460982" y="2970842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2C4821-40AD-740B-BBDE-85B048CA6CC0}"/>
              </a:ext>
            </a:extLst>
          </p:cNvPr>
          <p:cNvSpPr txBox="1"/>
          <p:nvPr/>
        </p:nvSpPr>
        <p:spPr>
          <a:xfrm>
            <a:off x="8116196" y="297555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3675EE-C91B-1F87-FB34-D116F76430F4}"/>
              </a:ext>
            </a:extLst>
          </p:cNvPr>
          <p:cNvSpPr txBox="1"/>
          <p:nvPr/>
        </p:nvSpPr>
        <p:spPr>
          <a:xfrm>
            <a:off x="8977800" y="3012272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4292E79-38A6-5B02-8EED-154C70E0B20A}"/>
              </a:ext>
            </a:extLst>
          </p:cNvPr>
          <p:cNvCxnSpPr>
            <a:cxnSpLocks/>
            <a:stCxn id="5" idx="5"/>
            <a:endCxn id="57" idx="7"/>
          </p:cNvCxnSpPr>
          <p:nvPr/>
        </p:nvCxnSpPr>
        <p:spPr>
          <a:xfrm flipH="1">
            <a:off x="7700124" y="2789320"/>
            <a:ext cx="116541" cy="6366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640942A9-7522-DA6A-FD0D-0CD19BC88EEC}"/>
              </a:ext>
            </a:extLst>
          </p:cNvPr>
          <p:cNvCxnSpPr>
            <a:cxnSpLocks/>
            <a:stCxn id="5" idx="5"/>
            <a:endCxn id="59" idx="0"/>
          </p:cNvCxnSpPr>
          <p:nvPr/>
        </p:nvCxnSpPr>
        <p:spPr>
          <a:xfrm>
            <a:off x="7816665" y="2789320"/>
            <a:ext cx="788532" cy="545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84DE3C2-A280-7769-DC13-186C15DF8B55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7816665" y="2789320"/>
            <a:ext cx="1895180" cy="5455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57CA644-4DD0-759C-698A-3C2262B9AC78}"/>
              </a:ext>
            </a:extLst>
          </p:cNvPr>
          <p:cNvCxnSpPr>
            <a:cxnSpLocks/>
            <a:stCxn id="58" idx="7"/>
            <a:endCxn id="58" idx="3"/>
          </p:cNvCxnSpPr>
          <p:nvPr/>
        </p:nvCxnSpPr>
        <p:spPr>
          <a:xfrm flipH="1">
            <a:off x="9510269" y="3425951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B72E024-990F-0D93-F350-F442E8F47D9D}"/>
              </a:ext>
            </a:extLst>
          </p:cNvPr>
          <p:cNvCxnSpPr>
            <a:cxnSpLocks/>
            <a:stCxn id="58" idx="1"/>
            <a:endCxn id="58" idx="5"/>
          </p:cNvCxnSpPr>
          <p:nvPr/>
        </p:nvCxnSpPr>
        <p:spPr>
          <a:xfrm>
            <a:off x="9510269" y="3425951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BD46715-1277-1B25-A533-1287D72BF1CB}"/>
              </a:ext>
            </a:extLst>
          </p:cNvPr>
          <p:cNvCxnSpPr>
            <a:cxnSpLocks/>
            <a:stCxn id="59" idx="7"/>
            <a:endCxn id="59" idx="3"/>
          </p:cNvCxnSpPr>
          <p:nvPr/>
        </p:nvCxnSpPr>
        <p:spPr>
          <a:xfrm flipH="1">
            <a:off x="8352542" y="3425951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36CC068-484F-AE39-87D6-0B5607862F30}"/>
              </a:ext>
            </a:extLst>
          </p:cNvPr>
          <p:cNvCxnSpPr>
            <a:cxnSpLocks/>
            <a:stCxn id="59" idx="1"/>
          </p:cNvCxnSpPr>
          <p:nvPr/>
        </p:nvCxnSpPr>
        <p:spPr>
          <a:xfrm>
            <a:off x="8352542" y="3425951"/>
            <a:ext cx="547765" cy="3632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타원 81">
            <a:extLst>
              <a:ext uri="{FF2B5EF4-FFF2-40B4-BE49-F238E27FC236}">
                <a16:creationId xmlns:a16="http://schemas.microsoft.com/office/drawing/2014/main" id="{70474ED2-286E-B656-36F4-34E919780F6B}"/>
              </a:ext>
            </a:extLst>
          </p:cNvPr>
          <p:cNvSpPr/>
          <p:nvPr/>
        </p:nvSpPr>
        <p:spPr>
          <a:xfrm>
            <a:off x="2217844" y="4136314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F67C00D7-0433-34A3-4646-F39D09421B1C}"/>
              </a:ext>
            </a:extLst>
          </p:cNvPr>
          <p:cNvSpPr/>
          <p:nvPr/>
        </p:nvSpPr>
        <p:spPr>
          <a:xfrm>
            <a:off x="4533298" y="4136314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76B99FC-BC92-F9A0-44F0-82BDA47FC9B5}"/>
              </a:ext>
            </a:extLst>
          </p:cNvPr>
          <p:cNvSpPr/>
          <p:nvPr/>
        </p:nvSpPr>
        <p:spPr>
          <a:xfrm>
            <a:off x="3375571" y="4136314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05ED562-4CB5-DCC1-9488-47812C3CB40C}"/>
              </a:ext>
            </a:extLst>
          </p:cNvPr>
          <p:cNvSpPr txBox="1"/>
          <p:nvPr/>
        </p:nvSpPr>
        <p:spPr>
          <a:xfrm>
            <a:off x="2665884" y="3860514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7637D83-834C-7835-42BF-EF0AF2360896}"/>
              </a:ext>
            </a:extLst>
          </p:cNvPr>
          <p:cNvSpPr txBox="1"/>
          <p:nvPr/>
        </p:nvSpPr>
        <p:spPr>
          <a:xfrm>
            <a:off x="3321098" y="3865230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588ECA-64AF-0780-5269-5730176613CA}"/>
              </a:ext>
            </a:extLst>
          </p:cNvPr>
          <p:cNvSpPr txBox="1"/>
          <p:nvPr/>
        </p:nvSpPr>
        <p:spPr>
          <a:xfrm>
            <a:off x="4182702" y="390194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A34E315-C18E-23B0-AB7F-69E0FAF810D4}"/>
              </a:ext>
            </a:extLst>
          </p:cNvPr>
          <p:cNvCxnSpPr>
            <a:cxnSpLocks/>
            <a:stCxn id="27" idx="4"/>
            <a:endCxn id="82" idx="7"/>
          </p:cNvCxnSpPr>
          <p:nvPr/>
        </p:nvCxnSpPr>
        <p:spPr>
          <a:xfrm flipH="1">
            <a:off x="2827806" y="3880342"/>
            <a:ext cx="1263022" cy="3470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8A2576D5-6132-5D9F-E781-7AAEF587C3B6}"/>
              </a:ext>
            </a:extLst>
          </p:cNvPr>
          <p:cNvCxnSpPr>
            <a:cxnSpLocks/>
            <a:stCxn id="27" idx="4"/>
            <a:endCxn id="84" idx="0"/>
          </p:cNvCxnSpPr>
          <p:nvPr/>
        </p:nvCxnSpPr>
        <p:spPr>
          <a:xfrm flipH="1">
            <a:off x="3732879" y="3880342"/>
            <a:ext cx="357949" cy="255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5B8AE54-05AC-CDFC-E1BE-B0AEC76DA2B3}"/>
              </a:ext>
            </a:extLst>
          </p:cNvPr>
          <p:cNvCxnSpPr>
            <a:cxnSpLocks/>
            <a:stCxn id="27" idx="4"/>
          </p:cNvCxnSpPr>
          <p:nvPr/>
        </p:nvCxnSpPr>
        <p:spPr>
          <a:xfrm>
            <a:off x="4090828" y="3880342"/>
            <a:ext cx="748699" cy="632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25037DC3-CA52-6EF0-9F02-8FB0095D6532}"/>
              </a:ext>
            </a:extLst>
          </p:cNvPr>
          <p:cNvCxnSpPr>
            <a:cxnSpLocks/>
            <a:stCxn id="83" idx="7"/>
            <a:endCxn id="83" idx="3"/>
          </p:cNvCxnSpPr>
          <p:nvPr/>
        </p:nvCxnSpPr>
        <p:spPr>
          <a:xfrm flipH="1">
            <a:off x="4637951" y="4227434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BFDBCA35-2D42-A411-A168-BE301D343F3D}"/>
              </a:ext>
            </a:extLst>
          </p:cNvPr>
          <p:cNvCxnSpPr>
            <a:cxnSpLocks/>
            <a:stCxn id="83" idx="1"/>
            <a:endCxn id="83" idx="5"/>
          </p:cNvCxnSpPr>
          <p:nvPr/>
        </p:nvCxnSpPr>
        <p:spPr>
          <a:xfrm>
            <a:off x="4637951" y="4227434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38CA26A-EE2B-8371-9FD3-5F90B7D28142}"/>
              </a:ext>
            </a:extLst>
          </p:cNvPr>
          <p:cNvCxnSpPr>
            <a:cxnSpLocks/>
            <a:stCxn id="84" idx="7"/>
            <a:endCxn id="84" idx="3"/>
          </p:cNvCxnSpPr>
          <p:nvPr/>
        </p:nvCxnSpPr>
        <p:spPr>
          <a:xfrm flipH="1">
            <a:off x="3480224" y="4227434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1DE7EC4-AFDF-E555-FD87-ADC23F6D41AA}"/>
              </a:ext>
            </a:extLst>
          </p:cNvPr>
          <p:cNvCxnSpPr>
            <a:cxnSpLocks/>
            <a:stCxn id="84" idx="1"/>
            <a:endCxn id="84" idx="5"/>
          </p:cNvCxnSpPr>
          <p:nvPr/>
        </p:nvCxnSpPr>
        <p:spPr>
          <a:xfrm>
            <a:off x="3480224" y="4227434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타원 112">
            <a:extLst>
              <a:ext uri="{FF2B5EF4-FFF2-40B4-BE49-F238E27FC236}">
                <a16:creationId xmlns:a16="http://schemas.microsoft.com/office/drawing/2014/main" id="{F2BD13E7-E59C-9608-EDF6-C02B7846093D}"/>
              </a:ext>
            </a:extLst>
          </p:cNvPr>
          <p:cNvSpPr/>
          <p:nvPr/>
        </p:nvSpPr>
        <p:spPr>
          <a:xfrm>
            <a:off x="6837507" y="4346200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EA765262-04F6-6252-FD72-5A01F37F38CB}"/>
              </a:ext>
            </a:extLst>
          </p:cNvPr>
          <p:cNvSpPr/>
          <p:nvPr/>
        </p:nvSpPr>
        <p:spPr>
          <a:xfrm>
            <a:off x="9152961" y="4346200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C273F4A9-DD11-B31F-6C2F-A3A53C444449}"/>
              </a:ext>
            </a:extLst>
          </p:cNvPr>
          <p:cNvSpPr/>
          <p:nvPr/>
        </p:nvSpPr>
        <p:spPr>
          <a:xfrm>
            <a:off x="7995234" y="4346200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1E049B7-FBDF-BE2A-0B88-87080C8B488E}"/>
              </a:ext>
            </a:extLst>
          </p:cNvPr>
          <p:cNvSpPr txBox="1"/>
          <p:nvPr/>
        </p:nvSpPr>
        <p:spPr>
          <a:xfrm>
            <a:off x="7208327" y="3982211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54E635C-6FE2-AA00-6462-D595A3A73836}"/>
              </a:ext>
            </a:extLst>
          </p:cNvPr>
          <p:cNvSpPr txBox="1"/>
          <p:nvPr/>
        </p:nvSpPr>
        <p:spPr>
          <a:xfrm>
            <a:off x="7863541" y="3986927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AD7B713-A829-FBAD-CE93-C68EEED6A6C0}"/>
              </a:ext>
            </a:extLst>
          </p:cNvPr>
          <p:cNvSpPr txBox="1"/>
          <p:nvPr/>
        </p:nvSpPr>
        <p:spPr>
          <a:xfrm>
            <a:off x="8725145" y="4023641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870B576E-3705-CEBC-B86A-DE22F713560C}"/>
              </a:ext>
            </a:extLst>
          </p:cNvPr>
          <p:cNvCxnSpPr>
            <a:cxnSpLocks/>
            <a:stCxn id="57" idx="4"/>
            <a:endCxn id="113" idx="7"/>
          </p:cNvCxnSpPr>
          <p:nvPr/>
        </p:nvCxnSpPr>
        <p:spPr>
          <a:xfrm flipH="1">
            <a:off x="7447469" y="3957037"/>
            <a:ext cx="1" cy="4802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41AA744E-670A-6AA2-D6E5-C712F1CA619F}"/>
              </a:ext>
            </a:extLst>
          </p:cNvPr>
          <p:cNvCxnSpPr>
            <a:cxnSpLocks/>
            <a:stCxn id="57" idx="4"/>
            <a:endCxn id="115" idx="0"/>
          </p:cNvCxnSpPr>
          <p:nvPr/>
        </p:nvCxnSpPr>
        <p:spPr>
          <a:xfrm>
            <a:off x="7447470" y="3957037"/>
            <a:ext cx="905072" cy="389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DDA6A291-D312-530E-597C-EF7D83666045}"/>
              </a:ext>
            </a:extLst>
          </p:cNvPr>
          <p:cNvCxnSpPr>
            <a:cxnSpLocks/>
            <a:stCxn id="57" idx="4"/>
            <a:endCxn id="114" idx="0"/>
          </p:cNvCxnSpPr>
          <p:nvPr/>
        </p:nvCxnSpPr>
        <p:spPr>
          <a:xfrm>
            <a:off x="7447470" y="3957037"/>
            <a:ext cx="2062799" cy="3891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1035150B-02CD-7F65-9ECF-15C69D9A092D}"/>
              </a:ext>
            </a:extLst>
          </p:cNvPr>
          <p:cNvCxnSpPr>
            <a:cxnSpLocks/>
            <a:stCxn id="115" idx="7"/>
            <a:endCxn id="115" idx="3"/>
          </p:cNvCxnSpPr>
          <p:nvPr/>
        </p:nvCxnSpPr>
        <p:spPr>
          <a:xfrm flipH="1">
            <a:off x="8099887" y="4437320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8E43C557-C2E0-BCF4-87CF-C4061C696245}"/>
              </a:ext>
            </a:extLst>
          </p:cNvPr>
          <p:cNvCxnSpPr>
            <a:cxnSpLocks/>
            <a:stCxn id="115" idx="1"/>
          </p:cNvCxnSpPr>
          <p:nvPr/>
        </p:nvCxnSpPr>
        <p:spPr>
          <a:xfrm>
            <a:off x="8099887" y="4437320"/>
            <a:ext cx="547765" cy="3632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타원 131">
            <a:extLst>
              <a:ext uri="{FF2B5EF4-FFF2-40B4-BE49-F238E27FC236}">
                <a16:creationId xmlns:a16="http://schemas.microsoft.com/office/drawing/2014/main" id="{C151C9FD-881C-988B-C3E8-990110FB62EA}"/>
              </a:ext>
            </a:extLst>
          </p:cNvPr>
          <p:cNvSpPr/>
          <p:nvPr/>
        </p:nvSpPr>
        <p:spPr>
          <a:xfrm>
            <a:off x="9107459" y="5219227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026E491B-1607-0E55-A1D3-1D1C89AE9FC2}"/>
              </a:ext>
            </a:extLst>
          </p:cNvPr>
          <p:cNvSpPr/>
          <p:nvPr/>
        </p:nvSpPr>
        <p:spPr>
          <a:xfrm>
            <a:off x="11422913" y="5219227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6B9670CE-0C27-7F77-E14B-B068A5292842}"/>
              </a:ext>
            </a:extLst>
          </p:cNvPr>
          <p:cNvSpPr/>
          <p:nvPr/>
        </p:nvSpPr>
        <p:spPr>
          <a:xfrm>
            <a:off x="10265186" y="5219227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8023FC1-0137-D044-4A76-325B609FAD3D}"/>
              </a:ext>
            </a:extLst>
          </p:cNvPr>
          <p:cNvSpPr txBox="1"/>
          <p:nvPr/>
        </p:nvSpPr>
        <p:spPr>
          <a:xfrm>
            <a:off x="9478279" y="4855238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21153FF-8A63-431C-446C-442D0CE1097D}"/>
              </a:ext>
            </a:extLst>
          </p:cNvPr>
          <p:cNvSpPr txBox="1"/>
          <p:nvPr/>
        </p:nvSpPr>
        <p:spPr>
          <a:xfrm>
            <a:off x="10133493" y="4859954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B22AF81-1EC3-7D7A-B473-5E0ECA7639D5}"/>
              </a:ext>
            </a:extLst>
          </p:cNvPr>
          <p:cNvSpPr txBox="1"/>
          <p:nvPr/>
        </p:nvSpPr>
        <p:spPr>
          <a:xfrm>
            <a:off x="10995097" y="4896668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1A8213E7-4E5C-72E3-01E5-21E495137C10}"/>
              </a:ext>
            </a:extLst>
          </p:cNvPr>
          <p:cNvCxnSpPr>
            <a:cxnSpLocks/>
            <a:stCxn id="114" idx="4"/>
            <a:endCxn id="132" idx="7"/>
          </p:cNvCxnSpPr>
          <p:nvPr/>
        </p:nvCxnSpPr>
        <p:spPr>
          <a:xfrm>
            <a:off x="9510269" y="4968406"/>
            <a:ext cx="207152" cy="3419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5F0F76C-5B90-052B-5E9C-9DD71A4E4288}"/>
              </a:ext>
            </a:extLst>
          </p:cNvPr>
          <p:cNvCxnSpPr>
            <a:cxnSpLocks/>
            <a:stCxn id="114" idx="4"/>
            <a:endCxn id="134" idx="0"/>
          </p:cNvCxnSpPr>
          <p:nvPr/>
        </p:nvCxnSpPr>
        <p:spPr>
          <a:xfrm>
            <a:off x="9510269" y="4968406"/>
            <a:ext cx="1112225" cy="2508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15250544-AC5E-A20C-7329-A2F58CD391A7}"/>
              </a:ext>
            </a:extLst>
          </p:cNvPr>
          <p:cNvCxnSpPr>
            <a:cxnSpLocks/>
            <a:stCxn id="114" idx="4"/>
            <a:endCxn id="133" idx="0"/>
          </p:cNvCxnSpPr>
          <p:nvPr/>
        </p:nvCxnSpPr>
        <p:spPr>
          <a:xfrm>
            <a:off x="9510269" y="4968406"/>
            <a:ext cx="2269952" cy="2508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67A0DD54-9A10-B1D2-19D2-C71C7BEF3F72}"/>
              </a:ext>
            </a:extLst>
          </p:cNvPr>
          <p:cNvCxnSpPr>
            <a:cxnSpLocks/>
            <a:stCxn id="134" idx="7"/>
            <a:endCxn id="134" idx="3"/>
          </p:cNvCxnSpPr>
          <p:nvPr/>
        </p:nvCxnSpPr>
        <p:spPr>
          <a:xfrm flipH="1">
            <a:off x="10369839" y="5310347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1DC67CAE-C499-4CD3-0F67-D92BBDBAC654}"/>
              </a:ext>
            </a:extLst>
          </p:cNvPr>
          <p:cNvCxnSpPr>
            <a:cxnSpLocks/>
            <a:stCxn id="134" idx="1"/>
          </p:cNvCxnSpPr>
          <p:nvPr/>
        </p:nvCxnSpPr>
        <p:spPr>
          <a:xfrm>
            <a:off x="10369839" y="5310347"/>
            <a:ext cx="547765" cy="3632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타원 142">
            <a:extLst>
              <a:ext uri="{FF2B5EF4-FFF2-40B4-BE49-F238E27FC236}">
                <a16:creationId xmlns:a16="http://schemas.microsoft.com/office/drawing/2014/main" id="{66CACF1E-873D-1188-1E3B-688667CA61B6}"/>
              </a:ext>
            </a:extLst>
          </p:cNvPr>
          <p:cNvSpPr/>
          <p:nvPr/>
        </p:nvSpPr>
        <p:spPr>
          <a:xfrm>
            <a:off x="5330544" y="5191596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ABD25C87-6152-A3C8-DFF1-A2505DB31898}"/>
              </a:ext>
            </a:extLst>
          </p:cNvPr>
          <p:cNvSpPr/>
          <p:nvPr/>
        </p:nvSpPr>
        <p:spPr>
          <a:xfrm>
            <a:off x="7645998" y="5191596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7B02D114-DF73-AA99-FF54-F3F442B2ECE3}"/>
              </a:ext>
            </a:extLst>
          </p:cNvPr>
          <p:cNvSpPr/>
          <p:nvPr/>
        </p:nvSpPr>
        <p:spPr>
          <a:xfrm>
            <a:off x="6488271" y="5191596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5DE32FD-00BD-B073-5B65-2D2B7DF176D3}"/>
              </a:ext>
            </a:extLst>
          </p:cNvPr>
          <p:cNvSpPr txBox="1"/>
          <p:nvPr/>
        </p:nvSpPr>
        <p:spPr>
          <a:xfrm>
            <a:off x="5701364" y="4827607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EAC151E-8747-5E26-90FD-6F9429056752}"/>
              </a:ext>
            </a:extLst>
          </p:cNvPr>
          <p:cNvSpPr txBox="1"/>
          <p:nvPr/>
        </p:nvSpPr>
        <p:spPr>
          <a:xfrm>
            <a:off x="6356578" y="4832323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EFFB885-D3A8-CFB9-FA7C-81F3B8480B22}"/>
              </a:ext>
            </a:extLst>
          </p:cNvPr>
          <p:cNvSpPr txBox="1"/>
          <p:nvPr/>
        </p:nvSpPr>
        <p:spPr>
          <a:xfrm>
            <a:off x="7218182" y="4869037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145B3EDA-7875-AC62-830C-B211FD1048FB}"/>
              </a:ext>
            </a:extLst>
          </p:cNvPr>
          <p:cNvCxnSpPr>
            <a:cxnSpLocks/>
            <a:stCxn id="113" idx="4"/>
            <a:endCxn id="143" idx="7"/>
          </p:cNvCxnSpPr>
          <p:nvPr/>
        </p:nvCxnSpPr>
        <p:spPr>
          <a:xfrm flipH="1">
            <a:off x="5940506" y="4968406"/>
            <a:ext cx="1254309" cy="3143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8024FE02-9611-1EF7-CDF4-D36285C6B250}"/>
              </a:ext>
            </a:extLst>
          </p:cNvPr>
          <p:cNvCxnSpPr>
            <a:cxnSpLocks/>
            <a:stCxn id="113" idx="4"/>
            <a:endCxn id="145" idx="0"/>
          </p:cNvCxnSpPr>
          <p:nvPr/>
        </p:nvCxnSpPr>
        <p:spPr>
          <a:xfrm flipH="1">
            <a:off x="6845579" y="4968406"/>
            <a:ext cx="349236" cy="2231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7162864B-E55A-0BDD-BBF1-C00862A1BB13}"/>
              </a:ext>
            </a:extLst>
          </p:cNvPr>
          <p:cNvCxnSpPr>
            <a:cxnSpLocks/>
            <a:stCxn id="113" idx="4"/>
            <a:endCxn id="144" idx="0"/>
          </p:cNvCxnSpPr>
          <p:nvPr/>
        </p:nvCxnSpPr>
        <p:spPr>
          <a:xfrm>
            <a:off x="7194815" y="4968406"/>
            <a:ext cx="808491" cy="2231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B66FC532-309F-A881-0E4C-C5A113B3F8B6}"/>
              </a:ext>
            </a:extLst>
          </p:cNvPr>
          <p:cNvCxnSpPr>
            <a:cxnSpLocks/>
            <a:stCxn id="144" idx="1"/>
            <a:endCxn id="144" idx="5"/>
          </p:cNvCxnSpPr>
          <p:nvPr/>
        </p:nvCxnSpPr>
        <p:spPr>
          <a:xfrm>
            <a:off x="7750651" y="5282716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23BA38E6-5064-01CF-CE9A-2D36ACA18CD5}"/>
              </a:ext>
            </a:extLst>
          </p:cNvPr>
          <p:cNvCxnSpPr>
            <a:cxnSpLocks/>
            <a:stCxn id="144" idx="3"/>
          </p:cNvCxnSpPr>
          <p:nvPr/>
        </p:nvCxnSpPr>
        <p:spPr>
          <a:xfrm flipV="1">
            <a:off x="7750651" y="5310347"/>
            <a:ext cx="481223" cy="4123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타원 162">
            <a:extLst>
              <a:ext uri="{FF2B5EF4-FFF2-40B4-BE49-F238E27FC236}">
                <a16:creationId xmlns:a16="http://schemas.microsoft.com/office/drawing/2014/main" id="{9C46C1E0-571E-40B6-36A7-32A268A8C36A}"/>
              </a:ext>
            </a:extLst>
          </p:cNvPr>
          <p:cNvSpPr/>
          <p:nvPr/>
        </p:nvSpPr>
        <p:spPr>
          <a:xfrm>
            <a:off x="1503229" y="5115963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DCEA2FAF-60E6-2FCA-ECDA-41B3EB71A384}"/>
              </a:ext>
            </a:extLst>
          </p:cNvPr>
          <p:cNvSpPr/>
          <p:nvPr/>
        </p:nvSpPr>
        <p:spPr>
          <a:xfrm>
            <a:off x="3174575" y="5128107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C5CD4411-151E-CAF3-1A2E-D59ABE45EFCE}"/>
              </a:ext>
            </a:extLst>
          </p:cNvPr>
          <p:cNvSpPr/>
          <p:nvPr/>
        </p:nvSpPr>
        <p:spPr>
          <a:xfrm>
            <a:off x="2290859" y="5128107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6F7A0AE-2340-23EE-EB38-2B052E0B227B}"/>
              </a:ext>
            </a:extLst>
          </p:cNvPr>
          <p:cNvSpPr txBox="1"/>
          <p:nvPr/>
        </p:nvSpPr>
        <p:spPr>
          <a:xfrm>
            <a:off x="1503952" y="4764118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B8C4E77-EDF9-E133-1F91-B6C8575652E3}"/>
              </a:ext>
            </a:extLst>
          </p:cNvPr>
          <p:cNvSpPr txBox="1"/>
          <p:nvPr/>
        </p:nvSpPr>
        <p:spPr>
          <a:xfrm>
            <a:off x="2159166" y="4768834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8BFB03F-DC05-FF8D-4E81-BD2499A1556A}"/>
              </a:ext>
            </a:extLst>
          </p:cNvPr>
          <p:cNvSpPr txBox="1"/>
          <p:nvPr/>
        </p:nvSpPr>
        <p:spPr>
          <a:xfrm>
            <a:off x="3020770" y="4805548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2CED4953-F60C-24E7-3B74-708998A4B449}"/>
              </a:ext>
            </a:extLst>
          </p:cNvPr>
          <p:cNvCxnSpPr>
            <a:cxnSpLocks/>
            <a:stCxn id="82" idx="4"/>
            <a:endCxn id="163" idx="0"/>
          </p:cNvCxnSpPr>
          <p:nvPr/>
        </p:nvCxnSpPr>
        <p:spPr>
          <a:xfrm flipH="1">
            <a:off x="1860537" y="4758520"/>
            <a:ext cx="714615" cy="3574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2320E250-19C4-9A52-A781-C4E6BAFA3104}"/>
              </a:ext>
            </a:extLst>
          </p:cNvPr>
          <p:cNvCxnSpPr>
            <a:cxnSpLocks/>
            <a:stCxn id="82" idx="4"/>
            <a:endCxn id="165" idx="0"/>
          </p:cNvCxnSpPr>
          <p:nvPr/>
        </p:nvCxnSpPr>
        <p:spPr>
          <a:xfrm>
            <a:off x="2575152" y="4758520"/>
            <a:ext cx="73015" cy="369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273F9A24-235A-C866-6684-6ABC85A9CF70}"/>
              </a:ext>
            </a:extLst>
          </p:cNvPr>
          <p:cNvCxnSpPr>
            <a:cxnSpLocks/>
            <a:stCxn id="82" idx="4"/>
            <a:endCxn id="164" idx="0"/>
          </p:cNvCxnSpPr>
          <p:nvPr/>
        </p:nvCxnSpPr>
        <p:spPr>
          <a:xfrm>
            <a:off x="2575152" y="4758520"/>
            <a:ext cx="956731" cy="369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C0C67CC7-E73F-4445-9D98-919AE0761E35}"/>
              </a:ext>
            </a:extLst>
          </p:cNvPr>
          <p:cNvCxnSpPr>
            <a:cxnSpLocks/>
            <a:stCxn id="164" idx="7"/>
            <a:endCxn id="164" idx="3"/>
          </p:cNvCxnSpPr>
          <p:nvPr/>
        </p:nvCxnSpPr>
        <p:spPr>
          <a:xfrm flipH="1">
            <a:off x="3279228" y="5219227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59F18B29-E676-0342-4EE5-5D81C7BC76E0}"/>
              </a:ext>
            </a:extLst>
          </p:cNvPr>
          <p:cNvCxnSpPr>
            <a:cxnSpLocks/>
            <a:stCxn id="164" idx="1"/>
            <a:endCxn id="164" idx="5"/>
          </p:cNvCxnSpPr>
          <p:nvPr/>
        </p:nvCxnSpPr>
        <p:spPr>
          <a:xfrm>
            <a:off x="3279228" y="5219227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B219D7D9-3A40-8C9F-9D6A-EF7F46A9DEBF}"/>
              </a:ext>
            </a:extLst>
          </p:cNvPr>
          <p:cNvCxnSpPr>
            <a:cxnSpLocks/>
            <a:stCxn id="165" idx="7"/>
            <a:endCxn id="165" idx="3"/>
          </p:cNvCxnSpPr>
          <p:nvPr/>
        </p:nvCxnSpPr>
        <p:spPr>
          <a:xfrm flipH="1">
            <a:off x="2395512" y="5219227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859DAAEB-F360-5514-0092-187287F0FC0E}"/>
              </a:ext>
            </a:extLst>
          </p:cNvPr>
          <p:cNvCxnSpPr>
            <a:cxnSpLocks/>
            <a:stCxn id="165" idx="1"/>
            <a:endCxn id="165" idx="5"/>
          </p:cNvCxnSpPr>
          <p:nvPr/>
        </p:nvCxnSpPr>
        <p:spPr>
          <a:xfrm>
            <a:off x="2395512" y="5219227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타원 201">
            <a:extLst>
              <a:ext uri="{FF2B5EF4-FFF2-40B4-BE49-F238E27FC236}">
                <a16:creationId xmlns:a16="http://schemas.microsoft.com/office/drawing/2014/main" id="{E45495AE-B60B-F25F-B2F6-3A1764FBC2D4}"/>
              </a:ext>
            </a:extLst>
          </p:cNvPr>
          <p:cNvSpPr/>
          <p:nvPr/>
        </p:nvSpPr>
        <p:spPr>
          <a:xfrm>
            <a:off x="825393" y="6181822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5BAF6480-A006-6CD7-6EFE-7C1B70945025}"/>
              </a:ext>
            </a:extLst>
          </p:cNvPr>
          <p:cNvSpPr/>
          <p:nvPr/>
        </p:nvSpPr>
        <p:spPr>
          <a:xfrm>
            <a:off x="3204713" y="6185819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0B9A2B42-0195-313A-2F86-810D7D61F22C}"/>
              </a:ext>
            </a:extLst>
          </p:cNvPr>
          <p:cNvSpPr/>
          <p:nvPr/>
        </p:nvSpPr>
        <p:spPr>
          <a:xfrm>
            <a:off x="2046986" y="6185819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A3DB291E-6849-8B31-7501-9564EFDC9AE0}"/>
              </a:ext>
            </a:extLst>
          </p:cNvPr>
          <p:cNvSpPr txBox="1"/>
          <p:nvPr/>
        </p:nvSpPr>
        <p:spPr>
          <a:xfrm>
            <a:off x="1260079" y="5821830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61FAC41F-F05D-CCE8-8DA9-56DE38295A6E}"/>
              </a:ext>
            </a:extLst>
          </p:cNvPr>
          <p:cNvSpPr txBox="1"/>
          <p:nvPr/>
        </p:nvSpPr>
        <p:spPr>
          <a:xfrm>
            <a:off x="1915293" y="5826546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C6C3117-C8A7-7A7B-0B22-0DAC04F6BC2D}"/>
              </a:ext>
            </a:extLst>
          </p:cNvPr>
          <p:cNvSpPr txBox="1"/>
          <p:nvPr/>
        </p:nvSpPr>
        <p:spPr>
          <a:xfrm>
            <a:off x="2776897" y="5863260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AB5A4B65-0947-AE9E-7F35-1A975C1A5C03}"/>
              </a:ext>
            </a:extLst>
          </p:cNvPr>
          <p:cNvCxnSpPr>
            <a:cxnSpLocks/>
            <a:stCxn id="163" idx="4"/>
            <a:endCxn id="202" idx="0"/>
          </p:cNvCxnSpPr>
          <p:nvPr/>
        </p:nvCxnSpPr>
        <p:spPr>
          <a:xfrm flipH="1">
            <a:off x="1182701" y="5738169"/>
            <a:ext cx="677836" cy="4436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EE666CE1-40BF-2D1C-4CAD-F0EE015F8403}"/>
              </a:ext>
            </a:extLst>
          </p:cNvPr>
          <p:cNvCxnSpPr>
            <a:cxnSpLocks/>
            <a:stCxn id="163" idx="4"/>
            <a:endCxn id="204" idx="0"/>
          </p:cNvCxnSpPr>
          <p:nvPr/>
        </p:nvCxnSpPr>
        <p:spPr>
          <a:xfrm>
            <a:off x="1860537" y="5738169"/>
            <a:ext cx="543757" cy="447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71A1F262-A3C9-5D62-C678-CEA718F5ACFC}"/>
              </a:ext>
            </a:extLst>
          </p:cNvPr>
          <p:cNvCxnSpPr>
            <a:cxnSpLocks/>
            <a:stCxn id="163" idx="4"/>
            <a:endCxn id="203" idx="0"/>
          </p:cNvCxnSpPr>
          <p:nvPr/>
        </p:nvCxnSpPr>
        <p:spPr>
          <a:xfrm>
            <a:off x="1860537" y="5738169"/>
            <a:ext cx="1701484" cy="447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89F3A4AF-EC3C-4659-743C-4156AFD163FA}"/>
              </a:ext>
            </a:extLst>
          </p:cNvPr>
          <p:cNvSpPr txBox="1"/>
          <p:nvPr/>
        </p:nvSpPr>
        <p:spPr>
          <a:xfrm>
            <a:off x="89775" y="1439829"/>
            <a:ext cx="54760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sz="1600" dirty="0"/>
              <a:t>먼저 트리를 상상해 본다</a:t>
            </a:r>
          </a:p>
          <a:p>
            <a:pPr>
              <a:buFont typeface="+mj-lt"/>
              <a:buAutoNum type="arabicPeriod"/>
            </a:pPr>
            <a:r>
              <a:rPr lang="ko-KR" altLang="en-US" sz="1600" dirty="0"/>
              <a:t>그 트리에서</a:t>
            </a:r>
          </a:p>
          <a:p>
            <a:pPr lvl="1"/>
            <a:r>
              <a:rPr lang="ko-KR" altLang="en-US" sz="1600" dirty="0"/>
              <a:t>같은 상태가 또 나오는지 본다 → 있으면 </a:t>
            </a:r>
            <a:r>
              <a:rPr lang="en-US" altLang="ko-KR" sz="1600" dirty="0"/>
              <a:t>DP </a:t>
            </a:r>
            <a:r>
              <a:rPr lang="ko-KR" altLang="en-US" sz="1600" dirty="0"/>
              <a:t>후보</a:t>
            </a:r>
          </a:p>
          <a:p>
            <a:pPr lvl="1"/>
            <a:r>
              <a:rPr lang="ko-KR" altLang="en-US" sz="1600" dirty="0"/>
              <a:t>그 상태들 사이 관계를 본다 → </a:t>
            </a:r>
            <a:r>
              <a:rPr lang="ko-KR" altLang="en-US" sz="1600" dirty="0" err="1"/>
              <a:t>점화식</a:t>
            </a:r>
            <a:r>
              <a:rPr lang="ko-KR" altLang="en-US" sz="1600" dirty="0"/>
              <a:t> 후보</a:t>
            </a:r>
          </a:p>
          <a:p>
            <a:pPr>
              <a:buFont typeface="+mj-lt"/>
              <a:buAutoNum type="arabicPeriod"/>
            </a:pPr>
            <a:r>
              <a:rPr lang="ko-KR" altLang="en-US" sz="1600" dirty="0"/>
              <a:t>그 </a:t>
            </a:r>
            <a:r>
              <a:rPr lang="ko-KR" altLang="en-US" sz="1600" dirty="0" err="1"/>
              <a:t>다음에야</a:t>
            </a:r>
            <a:r>
              <a:rPr lang="ko-KR" altLang="en-US" sz="1600" dirty="0"/>
              <a:t> </a:t>
            </a:r>
            <a:r>
              <a:rPr lang="en-US" altLang="ko-KR" sz="1600" dirty="0" err="1">
                <a:latin typeface="Courier New" panose="02070309020205020404" pitchFamily="49" charset="0"/>
              </a:rPr>
              <a:t>dp</a:t>
            </a:r>
            <a:r>
              <a:rPr lang="en-US" altLang="ko-KR" sz="1600" dirty="0">
                <a:latin typeface="Courier New" panose="02070309020205020404" pitchFamily="49" charset="0"/>
              </a:rPr>
              <a:t>[...]</a:t>
            </a:r>
            <a:r>
              <a:rPr lang="ko-KR" altLang="en-US" sz="1600" dirty="0"/>
              <a:t> 정의하고 식을 쓴다</a:t>
            </a:r>
          </a:p>
        </p:txBody>
      </p:sp>
      <p:graphicFrame>
        <p:nvGraphicFramePr>
          <p:cNvPr id="234" name="표 233">
            <a:extLst>
              <a:ext uri="{FF2B5EF4-FFF2-40B4-BE49-F238E27FC236}">
                <a16:creationId xmlns:a16="http://schemas.microsoft.com/office/drawing/2014/main" id="{FCED2BD5-E9F0-CB9B-B2AC-A068A02E6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031818"/>
              </p:ext>
            </p:extLst>
          </p:nvPr>
        </p:nvGraphicFramePr>
        <p:xfrm>
          <a:off x="8401691" y="334865"/>
          <a:ext cx="4563674" cy="2468880"/>
        </p:xfrm>
        <a:graphic>
          <a:graphicData uri="http://schemas.openxmlformats.org/drawingml/2006/table">
            <a:tbl>
              <a:tblPr/>
              <a:tblGrid>
                <a:gridCol w="491137">
                  <a:extLst>
                    <a:ext uri="{9D8B030D-6E8A-4147-A177-3AD203B41FA5}">
                      <a16:colId xmlns:a16="http://schemas.microsoft.com/office/drawing/2014/main" val="55419501"/>
                    </a:ext>
                  </a:extLst>
                </a:gridCol>
                <a:gridCol w="965285">
                  <a:extLst>
                    <a:ext uri="{9D8B030D-6E8A-4147-A177-3AD203B41FA5}">
                      <a16:colId xmlns:a16="http://schemas.microsoft.com/office/drawing/2014/main" val="3658146772"/>
                    </a:ext>
                  </a:extLst>
                </a:gridCol>
                <a:gridCol w="3107252">
                  <a:extLst>
                    <a:ext uri="{9D8B030D-6E8A-4147-A177-3AD203B41FA5}">
                      <a16:colId xmlns:a16="http://schemas.microsoft.com/office/drawing/2014/main" val="950297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i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dp[i]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의미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14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이미 </a:t>
                      </a:r>
                      <a:r>
                        <a:rPr lang="en-US" altLang="ko-KR" sz="1200"/>
                        <a:t>1</a:t>
                      </a:r>
                      <a:r>
                        <a:rPr lang="ko-KR" altLang="en-US" sz="1200"/>
                        <a:t>이므로 연산 필요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39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 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516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3 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264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4 → 2 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292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5 → 4 → 2 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285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6 → 3 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560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9 → 3 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579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10 → 9 → 3 →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546945"/>
                  </a:ext>
                </a:extLst>
              </a:tr>
            </a:tbl>
          </a:graphicData>
        </a:graphic>
      </p:graphicFrame>
      <p:sp>
        <p:nvSpPr>
          <p:cNvPr id="235" name="타원 234">
            <a:extLst>
              <a:ext uri="{FF2B5EF4-FFF2-40B4-BE49-F238E27FC236}">
                <a16:creationId xmlns:a16="http://schemas.microsoft.com/office/drawing/2014/main" id="{9DFAFA71-B9D8-D1D0-9C0E-9C0E9017F743}"/>
              </a:ext>
            </a:extLst>
          </p:cNvPr>
          <p:cNvSpPr/>
          <p:nvPr/>
        </p:nvSpPr>
        <p:spPr>
          <a:xfrm>
            <a:off x="4482861" y="6177791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7556685B-34D5-A4E3-3871-397A25DA43A9}"/>
              </a:ext>
            </a:extLst>
          </p:cNvPr>
          <p:cNvSpPr/>
          <p:nvPr/>
        </p:nvSpPr>
        <p:spPr>
          <a:xfrm>
            <a:off x="6798315" y="6177791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5D5D9217-EA29-0128-FC33-727CB3954F28}"/>
              </a:ext>
            </a:extLst>
          </p:cNvPr>
          <p:cNvSpPr/>
          <p:nvPr/>
        </p:nvSpPr>
        <p:spPr>
          <a:xfrm>
            <a:off x="5640588" y="6177791"/>
            <a:ext cx="714615" cy="6222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FBC58015-9266-6A92-5F92-42439BE61726}"/>
              </a:ext>
            </a:extLst>
          </p:cNvPr>
          <p:cNvSpPr txBox="1"/>
          <p:nvPr/>
        </p:nvSpPr>
        <p:spPr>
          <a:xfrm>
            <a:off x="4853681" y="5813802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5B371A7-1A4B-64FC-6800-FC54C18828C0}"/>
              </a:ext>
            </a:extLst>
          </p:cNvPr>
          <p:cNvSpPr txBox="1"/>
          <p:nvPr/>
        </p:nvSpPr>
        <p:spPr>
          <a:xfrm>
            <a:off x="5508895" y="581851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OP:/3</a:t>
            </a:r>
            <a:endParaRPr lang="ko-KR" altLang="en-US" sz="12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46656F62-3980-EB94-03F3-24C2C8DA3399}"/>
              </a:ext>
            </a:extLst>
          </p:cNvPr>
          <p:cNvSpPr txBox="1"/>
          <p:nvPr/>
        </p:nvSpPr>
        <p:spPr>
          <a:xfrm>
            <a:off x="6370499" y="5855232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OP: /2</a:t>
            </a:r>
            <a:endParaRPr lang="ko-KR" altLang="en-US" sz="1200" dirty="0"/>
          </a:p>
        </p:txBody>
      </p: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A530F93F-ABDC-FBB5-E0D3-C920F6806863}"/>
              </a:ext>
            </a:extLst>
          </p:cNvPr>
          <p:cNvCxnSpPr>
            <a:cxnSpLocks/>
            <a:stCxn id="143" idx="4"/>
            <a:endCxn id="235" idx="7"/>
          </p:cNvCxnSpPr>
          <p:nvPr/>
        </p:nvCxnSpPr>
        <p:spPr>
          <a:xfrm flipH="1">
            <a:off x="5092823" y="5813802"/>
            <a:ext cx="595029" cy="4551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E7E2FFDF-CDDB-EDDA-7C60-17CA2E715224}"/>
              </a:ext>
            </a:extLst>
          </p:cNvPr>
          <p:cNvCxnSpPr>
            <a:cxnSpLocks/>
            <a:stCxn id="239" idx="0"/>
            <a:endCxn id="237" idx="0"/>
          </p:cNvCxnSpPr>
          <p:nvPr/>
        </p:nvCxnSpPr>
        <p:spPr>
          <a:xfrm>
            <a:off x="5794390" y="5818518"/>
            <a:ext cx="203506" cy="3592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AC0BB3D3-A4E6-74A1-A03E-8141C718A21B}"/>
              </a:ext>
            </a:extLst>
          </p:cNvPr>
          <p:cNvCxnSpPr>
            <a:cxnSpLocks/>
            <a:stCxn id="239" idx="0"/>
            <a:endCxn id="236" idx="0"/>
          </p:cNvCxnSpPr>
          <p:nvPr/>
        </p:nvCxnSpPr>
        <p:spPr>
          <a:xfrm>
            <a:off x="5794390" y="5818518"/>
            <a:ext cx="1361233" cy="3592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82382F7A-9770-7495-FCDB-7B5F6188458F}"/>
              </a:ext>
            </a:extLst>
          </p:cNvPr>
          <p:cNvCxnSpPr>
            <a:cxnSpLocks/>
            <a:stCxn id="237" idx="7"/>
            <a:endCxn id="237" idx="3"/>
          </p:cNvCxnSpPr>
          <p:nvPr/>
        </p:nvCxnSpPr>
        <p:spPr>
          <a:xfrm flipH="1">
            <a:off x="5745241" y="6268911"/>
            <a:ext cx="505309" cy="4399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76AEE48A-7F47-2B6A-03F5-77B302D794EA}"/>
              </a:ext>
            </a:extLst>
          </p:cNvPr>
          <p:cNvCxnSpPr>
            <a:cxnSpLocks/>
            <a:stCxn id="237" idx="1"/>
          </p:cNvCxnSpPr>
          <p:nvPr/>
        </p:nvCxnSpPr>
        <p:spPr>
          <a:xfrm>
            <a:off x="5745241" y="6268911"/>
            <a:ext cx="547765" cy="3632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FDE63856-CD2D-EE57-2B81-B3DE861CC006}"/>
              </a:ext>
            </a:extLst>
          </p:cNvPr>
          <p:cNvSpPr txBox="1"/>
          <p:nvPr/>
        </p:nvSpPr>
        <p:spPr>
          <a:xfrm>
            <a:off x="57687" y="3062075"/>
            <a:ext cx="386035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 </a:t>
            </a:r>
            <a:r>
              <a:rPr lang="en-US" altLang="ko-KR" sz="1600" dirty="0" err="1"/>
              <a:t>dp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</a:t>
            </a:r>
            <a:r>
              <a:rPr lang="ko-KR" altLang="en-US" sz="1600" dirty="0"/>
              <a:t>에는 최소 연산 값을 저장한다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연산이 가능한 이전 값의 </a:t>
            </a:r>
            <a:r>
              <a:rPr lang="en-US" altLang="ko-KR" sz="1600" dirty="0"/>
              <a:t>1+</a:t>
            </a:r>
            <a:r>
              <a:rPr lang="ko-KR" altLang="en-US" sz="1600" dirty="0"/>
              <a:t>최소값이다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1006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2C046-AA4F-BBE9-EE15-965D047A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E21A2-B0B5-825D-E121-CC3D729E4908}"/>
              </a:ext>
            </a:extLst>
          </p:cNvPr>
          <p:cNvSpPr txBox="1"/>
          <p:nvPr/>
        </p:nvSpPr>
        <p:spPr>
          <a:xfrm>
            <a:off x="836167" y="1859536"/>
            <a:ext cx="68697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r>
              <a:rPr lang="ko-KR" altLang="en-US" dirty="0"/>
              <a:t>을 </a:t>
            </a:r>
            <a:r>
              <a:rPr lang="en-US" altLang="ko-KR" dirty="0"/>
              <a:t>1</a:t>
            </a:r>
            <a:r>
              <a:rPr lang="ko-KR" altLang="en-US" dirty="0"/>
              <a:t>로 만드는 최소 연산 횟수 찾기 문제의 점화식을 </a:t>
            </a:r>
            <a:endParaRPr lang="en-US" altLang="ko-KR" dirty="0"/>
          </a:p>
          <a:p>
            <a:r>
              <a:rPr lang="en-US" altLang="ko-KR" dirty="0"/>
              <a:t>Tabulation(Bottom-&gt;Up) </a:t>
            </a:r>
            <a:r>
              <a:rPr lang="ko-KR" altLang="en-US" dirty="0"/>
              <a:t>방식과 </a:t>
            </a:r>
            <a:r>
              <a:rPr lang="en-US" altLang="ko-KR" dirty="0" err="1"/>
              <a:t>Memoization</a:t>
            </a:r>
            <a:r>
              <a:rPr lang="en-US" altLang="ko-KR" dirty="0"/>
              <a:t>(Top-&gt;Down) </a:t>
            </a:r>
            <a:r>
              <a:rPr lang="ko-KR" altLang="en-US" dirty="0"/>
              <a:t>방식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가지 방법으로 문제를 해결합니다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258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69C28D-FD11-3272-D7A1-A6EB1F26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난이도별 추가 개념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805927B-F381-F973-5175-BFD4C3080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838172"/>
              </p:ext>
            </p:extLst>
          </p:nvPr>
        </p:nvGraphicFramePr>
        <p:xfrm>
          <a:off x="185235" y="2088930"/>
          <a:ext cx="6300091" cy="1097280"/>
        </p:xfrm>
        <a:graphic>
          <a:graphicData uri="http://schemas.openxmlformats.org/drawingml/2006/table">
            <a:tbl>
              <a:tblPr/>
              <a:tblGrid>
                <a:gridCol w="1046093">
                  <a:extLst>
                    <a:ext uri="{9D8B030D-6E8A-4147-A177-3AD203B41FA5}">
                      <a16:colId xmlns:a16="http://schemas.microsoft.com/office/drawing/2014/main" val="3404791198"/>
                    </a:ext>
                  </a:extLst>
                </a:gridCol>
                <a:gridCol w="1584018">
                  <a:extLst>
                    <a:ext uri="{9D8B030D-6E8A-4147-A177-3AD203B41FA5}">
                      <a16:colId xmlns:a16="http://schemas.microsoft.com/office/drawing/2014/main" val="1139665349"/>
                    </a:ext>
                  </a:extLst>
                </a:gridCol>
                <a:gridCol w="3669980">
                  <a:extLst>
                    <a:ext uri="{9D8B030D-6E8A-4147-A177-3AD203B41FA5}">
                      <a16:colId xmlns:a16="http://schemas.microsoft.com/office/drawing/2014/main" val="1097840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746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11726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2×N </a:t>
                      </a:r>
                      <a:r>
                        <a:rPr lang="ko-KR" altLang="en-US" sz="1200" dirty="0"/>
                        <a:t>타일 채우기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1D DP, </a:t>
                      </a:r>
                      <a:r>
                        <a:rPr lang="ko-KR" altLang="en-US" sz="1200"/>
                        <a:t>단순 점화식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피보나치 형태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96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2193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 err="1"/>
                        <a:t>이친수</a:t>
                      </a:r>
                      <a:endParaRPr lang="ko-KR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1D DP, </a:t>
                      </a:r>
                      <a:r>
                        <a:rPr lang="ko-KR" altLang="en-US" sz="1200" dirty="0"/>
                        <a:t>단순 </a:t>
                      </a:r>
                      <a:r>
                        <a:rPr lang="ko-KR" altLang="en-US" sz="1200" dirty="0" err="1"/>
                        <a:t>점화식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상태 기반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640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10844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쉬운 계단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DP(</a:t>
                      </a:r>
                      <a:r>
                        <a:rPr lang="ko-KR" altLang="en-US" sz="1200" dirty="0" err="1"/>
                        <a:t>자리수</a:t>
                      </a:r>
                      <a:r>
                        <a:rPr lang="en-US" altLang="ko-KR" sz="1200" dirty="0"/>
                        <a:t>), </a:t>
                      </a:r>
                      <a:r>
                        <a:rPr lang="ko-KR" altLang="en-US" sz="1200" dirty="0"/>
                        <a:t>경우의 수 누적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최적화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13222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0B47A84-D313-BD27-B448-A8D93DCA0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000151"/>
              </p:ext>
            </p:extLst>
          </p:nvPr>
        </p:nvGraphicFramePr>
        <p:xfrm>
          <a:off x="185234" y="3687543"/>
          <a:ext cx="7222177" cy="1371600"/>
        </p:xfrm>
        <a:graphic>
          <a:graphicData uri="http://schemas.openxmlformats.org/drawingml/2006/table">
            <a:tbl>
              <a:tblPr/>
              <a:tblGrid>
                <a:gridCol w="1290057">
                  <a:extLst>
                    <a:ext uri="{9D8B030D-6E8A-4147-A177-3AD203B41FA5}">
                      <a16:colId xmlns:a16="http://schemas.microsoft.com/office/drawing/2014/main" val="521499003"/>
                    </a:ext>
                  </a:extLst>
                </a:gridCol>
                <a:gridCol w="1510493">
                  <a:extLst>
                    <a:ext uri="{9D8B030D-6E8A-4147-A177-3AD203B41FA5}">
                      <a16:colId xmlns:a16="http://schemas.microsoft.com/office/drawing/2014/main" val="3160464756"/>
                    </a:ext>
                  </a:extLst>
                </a:gridCol>
                <a:gridCol w="4421627">
                  <a:extLst>
                    <a:ext uri="{9D8B030D-6E8A-4147-A177-3AD203B41FA5}">
                      <a16:colId xmlns:a16="http://schemas.microsoft.com/office/drawing/2014/main" val="1592854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90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1463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정수를 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로 만들기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1D DP, min </a:t>
                      </a:r>
                      <a:r>
                        <a:rPr lang="ko-KR" altLang="en-US" sz="1200" dirty="0"/>
                        <a:t>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기초 최적화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38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1149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RGB </a:t>
                      </a:r>
                      <a:r>
                        <a:rPr lang="ko-KR" altLang="en-US" sz="1200" dirty="0"/>
                        <a:t>거리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DP(</a:t>
                      </a:r>
                      <a:r>
                        <a:rPr lang="ko-KR" altLang="en-US" sz="1200" dirty="0"/>
                        <a:t>집</a:t>
                      </a:r>
                      <a:r>
                        <a:rPr lang="en-US" altLang="ko-KR" sz="1200" dirty="0"/>
                        <a:t>×</a:t>
                      </a:r>
                      <a:r>
                        <a:rPr lang="ko-KR" altLang="en-US" sz="1200" dirty="0"/>
                        <a:t>색</a:t>
                      </a:r>
                      <a:r>
                        <a:rPr lang="en-US" altLang="ko-KR" sz="1200" dirty="0"/>
                        <a:t>), min </a:t>
                      </a:r>
                      <a:r>
                        <a:rPr lang="ko-KR" altLang="en-US" sz="1200" dirty="0"/>
                        <a:t>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제약 조건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999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2579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계단 오르기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1D DP, max </a:t>
                      </a:r>
                      <a:r>
                        <a:rPr lang="ko-KR" altLang="en-US" sz="1200" dirty="0"/>
                        <a:t>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규칙성 기반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955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1932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정수 삼각형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DP, max </a:t>
                      </a:r>
                      <a:r>
                        <a:rPr lang="ko-KR" altLang="en-US" sz="1200" dirty="0"/>
                        <a:t>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경로 선택 </a:t>
                      </a:r>
                      <a:r>
                        <a:rPr lang="en-US" altLang="ko-KR" sz="1200" dirty="0"/>
                        <a:t>DP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15839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4D21287-3720-2713-4E0D-769BBDD071AB}"/>
              </a:ext>
            </a:extLst>
          </p:cNvPr>
          <p:cNvSpPr txBox="1"/>
          <p:nvPr/>
        </p:nvSpPr>
        <p:spPr>
          <a:xfrm>
            <a:off x="185236" y="3334138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Lv2 — </a:t>
            </a:r>
            <a:r>
              <a:rPr lang="ko-KR" altLang="en-US" sz="1400" dirty="0"/>
              <a:t>선택</a:t>
            </a:r>
            <a:r>
              <a:rPr lang="en-US" altLang="ko-KR" sz="1400" dirty="0"/>
              <a:t>(</a:t>
            </a:r>
            <a:r>
              <a:rPr lang="ko-KR" altLang="en-US" sz="1400" dirty="0"/>
              <a:t>최적화</a:t>
            </a:r>
            <a:r>
              <a:rPr lang="en-US" altLang="ko-KR" sz="1400" dirty="0"/>
              <a:t>)</a:t>
            </a:r>
            <a:r>
              <a:rPr lang="ko-KR" altLang="en-US" sz="1400" dirty="0"/>
              <a:t>이 처음 등장하는 </a:t>
            </a:r>
            <a:r>
              <a:rPr lang="en-US" altLang="ko-KR" sz="1400" dirty="0"/>
              <a:t>DP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AC8F54-B021-3870-00D5-F0F9807CE96A}"/>
              </a:ext>
            </a:extLst>
          </p:cNvPr>
          <p:cNvSpPr txBox="1"/>
          <p:nvPr/>
        </p:nvSpPr>
        <p:spPr>
          <a:xfrm>
            <a:off x="185729" y="1761105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Lv1 — </a:t>
            </a:r>
            <a:r>
              <a:rPr lang="ko-KR" altLang="en-US" sz="1400" dirty="0"/>
              <a:t>단순 </a:t>
            </a:r>
            <a:r>
              <a:rPr lang="ko-KR" altLang="en-US" sz="1400" dirty="0" err="1"/>
              <a:t>점화식</a:t>
            </a:r>
            <a:r>
              <a:rPr lang="ko-KR" altLang="en-US" sz="1400" dirty="0"/>
              <a:t> </a:t>
            </a:r>
            <a:r>
              <a:rPr lang="en-US" altLang="ko-KR" sz="1400" dirty="0"/>
              <a:t>DP (</a:t>
            </a:r>
            <a:r>
              <a:rPr lang="ko-KR" altLang="en-US" sz="1400" dirty="0"/>
              <a:t>선택 없음 </a:t>
            </a:r>
            <a:r>
              <a:rPr lang="en-US" altLang="ko-KR" sz="1400" dirty="0"/>
              <a:t>/ </a:t>
            </a:r>
            <a:r>
              <a:rPr lang="ko-KR" altLang="en-US" sz="1400" dirty="0"/>
              <a:t>가장 쉬움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45B0E5D-83D9-B5F2-8ED8-74220F015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963040"/>
              </p:ext>
            </p:extLst>
          </p:nvPr>
        </p:nvGraphicFramePr>
        <p:xfrm>
          <a:off x="185235" y="5419522"/>
          <a:ext cx="7429643" cy="1371600"/>
        </p:xfrm>
        <a:graphic>
          <a:graphicData uri="http://schemas.openxmlformats.org/drawingml/2006/table">
            <a:tbl>
              <a:tblPr/>
              <a:tblGrid>
                <a:gridCol w="938156">
                  <a:extLst>
                    <a:ext uri="{9D8B030D-6E8A-4147-A177-3AD203B41FA5}">
                      <a16:colId xmlns:a16="http://schemas.microsoft.com/office/drawing/2014/main" val="2169367746"/>
                    </a:ext>
                  </a:extLst>
                </a:gridCol>
                <a:gridCol w="1408158">
                  <a:extLst>
                    <a:ext uri="{9D8B030D-6E8A-4147-A177-3AD203B41FA5}">
                      <a16:colId xmlns:a16="http://schemas.microsoft.com/office/drawing/2014/main" val="1811378476"/>
                    </a:ext>
                  </a:extLst>
                </a:gridCol>
                <a:gridCol w="5083329">
                  <a:extLst>
                    <a:ext uri="{9D8B030D-6E8A-4147-A177-3AD203B41FA5}">
                      <a16:colId xmlns:a16="http://schemas.microsoft.com/office/drawing/2014/main" val="2746190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872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13398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연속합 </a:t>
                      </a:r>
                      <a:r>
                        <a:rPr lang="en-US" altLang="ko-KR" sz="1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DP(</a:t>
                      </a:r>
                      <a:r>
                        <a:rPr lang="ko-KR" altLang="en-US" sz="1200" dirty="0"/>
                        <a:t>삭제 여부</a:t>
                      </a:r>
                      <a:r>
                        <a:rPr lang="en-US" altLang="ko-KR" sz="1200" dirty="0"/>
                        <a:t>), </a:t>
                      </a:r>
                      <a:r>
                        <a:rPr lang="ko-KR" altLang="en-US" sz="1200" dirty="0"/>
                        <a:t>상태 선택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706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14003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1D DP + </a:t>
                      </a:r>
                      <a:r>
                        <a:rPr lang="ko-KR" altLang="en-US" sz="1200"/>
                        <a:t>이분탐색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수열 최적화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69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9252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DP, </a:t>
                      </a:r>
                      <a:r>
                        <a:rPr lang="ko-KR" altLang="en-US" sz="1200" dirty="0"/>
                        <a:t>선택 포함</a:t>
                      </a:r>
                      <a:r>
                        <a:rPr lang="en-US" altLang="ko-KR" sz="1200" dirty="0"/>
                        <a:t>(max), </a:t>
                      </a:r>
                      <a:r>
                        <a:rPr lang="ko-KR" altLang="en-US" sz="1200" dirty="0"/>
                        <a:t>문자열 비교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045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1915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가장 큰 정사각형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2D DP, </a:t>
                      </a:r>
                      <a:r>
                        <a:rPr lang="ko-KR" altLang="en-US" sz="1200" dirty="0"/>
                        <a:t>선택보다는 전이 규칙이 중요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43097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DCC0F7F-0C69-7E3C-3DFE-5AB6E153B367}"/>
              </a:ext>
            </a:extLst>
          </p:cNvPr>
          <p:cNvSpPr txBox="1"/>
          <p:nvPr/>
        </p:nvSpPr>
        <p:spPr>
          <a:xfrm>
            <a:off x="185235" y="5096895"/>
            <a:ext cx="6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Lv3 — </a:t>
            </a:r>
            <a:r>
              <a:rPr lang="ko-KR" altLang="en-US" sz="1200" dirty="0"/>
              <a:t>상태가 확장되는 선택 </a:t>
            </a:r>
            <a:r>
              <a:rPr lang="en-US" altLang="ko-KR" sz="1200" dirty="0"/>
              <a:t>DP (</a:t>
            </a:r>
            <a:r>
              <a:rPr lang="ko-KR" altLang="en-US" sz="1200" dirty="0"/>
              <a:t>중급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332F0EB-A1D0-332A-B80D-7E84F3C45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974007"/>
              </p:ext>
            </p:extLst>
          </p:nvPr>
        </p:nvGraphicFramePr>
        <p:xfrm>
          <a:off x="6096000" y="2343624"/>
          <a:ext cx="7116204" cy="822960"/>
        </p:xfrm>
        <a:graphic>
          <a:graphicData uri="http://schemas.openxmlformats.org/drawingml/2006/table">
            <a:tbl>
              <a:tblPr/>
              <a:tblGrid>
                <a:gridCol w="910535">
                  <a:extLst>
                    <a:ext uri="{9D8B030D-6E8A-4147-A177-3AD203B41FA5}">
                      <a16:colId xmlns:a16="http://schemas.microsoft.com/office/drawing/2014/main" val="893872399"/>
                    </a:ext>
                  </a:extLst>
                </a:gridCol>
                <a:gridCol w="1107600">
                  <a:extLst>
                    <a:ext uri="{9D8B030D-6E8A-4147-A177-3AD203B41FA5}">
                      <a16:colId xmlns:a16="http://schemas.microsoft.com/office/drawing/2014/main" val="2073705472"/>
                    </a:ext>
                  </a:extLst>
                </a:gridCol>
                <a:gridCol w="5098069">
                  <a:extLst>
                    <a:ext uri="{9D8B030D-6E8A-4147-A177-3AD203B41FA5}">
                      <a16:colId xmlns:a16="http://schemas.microsoft.com/office/drawing/2014/main" val="1722396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56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1328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빌딩 순서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3D DP(n×L×R), </a:t>
                      </a:r>
                      <a:r>
                        <a:rPr lang="ko-KR" altLang="en-US" sz="1200"/>
                        <a:t>고급 상태 조합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16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2342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DDR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3D DP(</a:t>
                      </a:r>
                      <a:r>
                        <a:rPr lang="en-US" sz="1200" dirty="0" err="1"/>
                        <a:t>step×left×right</a:t>
                      </a:r>
                      <a:r>
                        <a:rPr lang="en-US" sz="1200" dirty="0"/>
                        <a:t>), </a:t>
                      </a:r>
                      <a:r>
                        <a:rPr lang="ko-KR" altLang="en-US" sz="1200" dirty="0"/>
                        <a:t>동작 선택 복잡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87326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4F84BF6-2CF9-91FB-2EF0-FEEC91E4E9CC}"/>
              </a:ext>
            </a:extLst>
          </p:cNvPr>
          <p:cNvSpPr txBox="1"/>
          <p:nvPr/>
        </p:nvSpPr>
        <p:spPr>
          <a:xfrm>
            <a:off x="6013574" y="1980011"/>
            <a:ext cx="6097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Lv4 — </a:t>
            </a:r>
            <a:r>
              <a:rPr lang="ko-KR" altLang="en-US" sz="1200" dirty="0"/>
              <a:t>고차원 </a:t>
            </a:r>
            <a:r>
              <a:rPr lang="en-US" altLang="ko-KR" sz="1200" dirty="0"/>
              <a:t>DP / </a:t>
            </a:r>
            <a:r>
              <a:rPr lang="ko-KR" altLang="en-US" sz="1200" dirty="0"/>
              <a:t>복잡한 상태 전이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B2E1A56-4E04-3C86-0C0F-23C24D317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303095"/>
              </p:ext>
            </p:extLst>
          </p:nvPr>
        </p:nvGraphicFramePr>
        <p:xfrm>
          <a:off x="6013574" y="3929308"/>
          <a:ext cx="8231523" cy="1371600"/>
        </p:xfrm>
        <a:graphic>
          <a:graphicData uri="http://schemas.openxmlformats.org/drawingml/2006/table">
            <a:tbl>
              <a:tblPr/>
              <a:tblGrid>
                <a:gridCol w="847591">
                  <a:extLst>
                    <a:ext uri="{9D8B030D-6E8A-4147-A177-3AD203B41FA5}">
                      <a16:colId xmlns:a16="http://schemas.microsoft.com/office/drawing/2014/main" val="2529830597"/>
                    </a:ext>
                  </a:extLst>
                </a:gridCol>
                <a:gridCol w="1386653">
                  <a:extLst>
                    <a:ext uri="{9D8B030D-6E8A-4147-A177-3AD203B41FA5}">
                      <a16:colId xmlns:a16="http://schemas.microsoft.com/office/drawing/2014/main" val="3941680204"/>
                    </a:ext>
                  </a:extLst>
                </a:gridCol>
                <a:gridCol w="5997279">
                  <a:extLst>
                    <a:ext uri="{9D8B030D-6E8A-4147-A177-3AD203B41FA5}">
                      <a16:colId xmlns:a16="http://schemas.microsoft.com/office/drawing/2014/main" val="1687127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문제 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776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12865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평범한 배낭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1~2D DP, max </a:t>
                      </a:r>
                      <a:r>
                        <a:rPr lang="ko-KR" altLang="en-US" sz="1200"/>
                        <a:t>선택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최적화 고전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423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15486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퇴사 </a:t>
                      </a:r>
                      <a:r>
                        <a:rPr lang="en-US" altLang="ko-KR" sz="1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1D DP, </a:t>
                      </a:r>
                      <a:r>
                        <a:rPr lang="ko-KR" altLang="en-US" sz="1200"/>
                        <a:t>스케줄링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많은 상태 선택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370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11049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행렬 곱 최적화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구간 </a:t>
                      </a:r>
                      <a:r>
                        <a:rPr lang="en-US" altLang="ko-KR" sz="1200" b="1" dirty="0"/>
                        <a:t>DP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분할점</a:t>
                      </a:r>
                      <a:r>
                        <a:rPr lang="ko-KR" altLang="en-US" sz="1200" dirty="0"/>
                        <a:t> 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고급 </a:t>
                      </a:r>
                      <a:r>
                        <a:rPr lang="ko-KR" altLang="en-US" sz="1200" dirty="0" err="1"/>
                        <a:t>점화식</a:t>
                      </a:r>
                      <a:endParaRPr lang="ko-KR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209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2098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외판원 순회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비트마스크 </a:t>
                      </a:r>
                      <a:r>
                        <a:rPr lang="en-US" altLang="ko-KR" sz="1200" b="1" dirty="0"/>
                        <a:t>DP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dp</a:t>
                      </a:r>
                      <a:r>
                        <a:rPr lang="en-US" altLang="ko-KR" sz="1200" dirty="0"/>
                        <a:t>[mask][city], </a:t>
                      </a:r>
                      <a:r>
                        <a:rPr lang="ko-KR" altLang="en-US" sz="1200" dirty="0"/>
                        <a:t>경로 선택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최고 난이도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70563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4FF0EB2-9A3F-3A4C-3C36-67640826C906}"/>
              </a:ext>
            </a:extLst>
          </p:cNvPr>
          <p:cNvSpPr txBox="1"/>
          <p:nvPr/>
        </p:nvSpPr>
        <p:spPr>
          <a:xfrm>
            <a:off x="6013574" y="3614557"/>
            <a:ext cx="45892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Lv5 — </a:t>
            </a:r>
            <a:r>
              <a:rPr lang="ko-KR" altLang="en-US" sz="1200" dirty="0"/>
              <a:t>고급 </a:t>
            </a:r>
            <a:r>
              <a:rPr lang="en-US" altLang="ko-KR" sz="1200" dirty="0"/>
              <a:t>DP (</a:t>
            </a:r>
            <a:r>
              <a:rPr lang="ko-KR" altLang="en-US" sz="1200" dirty="0"/>
              <a:t>구간 </a:t>
            </a:r>
            <a:r>
              <a:rPr lang="en-US" altLang="ko-KR" sz="1200" dirty="0"/>
              <a:t>DP / </a:t>
            </a:r>
            <a:r>
              <a:rPr lang="ko-KR" altLang="en-US" sz="1200" dirty="0"/>
              <a:t>비트마스크 </a:t>
            </a:r>
            <a:r>
              <a:rPr lang="en-US" altLang="ko-KR" sz="1200" dirty="0"/>
              <a:t>DP / </a:t>
            </a:r>
            <a:r>
              <a:rPr lang="ko-KR" altLang="en-US" sz="1200" dirty="0"/>
              <a:t>고난도 최적화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E5F896-C4DA-6C86-EA2E-956541DFFB68}"/>
              </a:ext>
            </a:extLst>
          </p:cNvPr>
          <p:cNvSpPr txBox="1"/>
          <p:nvPr/>
        </p:nvSpPr>
        <p:spPr>
          <a:xfrm>
            <a:off x="346422" y="1367522"/>
            <a:ext cx="872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 찾기 </a:t>
            </a:r>
            <a:r>
              <a:rPr lang="en-US" altLang="ko-KR" dirty="0"/>
              <a:t>https://www.acmicpc.net/search#q=&amp;c=Problems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5A6C6-0EA9-F50B-C064-162015EF813E}"/>
              </a:ext>
            </a:extLst>
          </p:cNvPr>
          <p:cNvSpPr txBox="1"/>
          <p:nvPr/>
        </p:nvSpPr>
        <p:spPr>
          <a:xfrm>
            <a:off x="5382666" y="6421790"/>
            <a:ext cx="7123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https://school.programmers.co.kr/learn/courses/30/parts/12263</a:t>
            </a:r>
          </a:p>
        </p:txBody>
      </p:sp>
    </p:spTree>
    <p:extLst>
      <p:ext uri="{BB962C8B-B14F-4D97-AF65-F5344CB8AC3E}">
        <p14:creationId xmlns:p14="http://schemas.microsoft.com/office/powerpoint/2010/main" val="2791315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47CE2-3C0D-ADA4-A845-B47B0B26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PPT</a:t>
            </a:r>
            <a:r>
              <a:rPr lang="ko-KR" altLang="en-US" dirty="0"/>
              <a:t>를 만들면서 </a:t>
            </a:r>
            <a:r>
              <a:rPr lang="ko-KR" altLang="en-US" dirty="0" err="1"/>
              <a:t>드는생각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174EF-C5C4-979E-3551-D340A96CEA09}"/>
              </a:ext>
            </a:extLst>
          </p:cNvPr>
          <p:cNvSpPr txBox="1"/>
          <p:nvPr/>
        </p:nvSpPr>
        <p:spPr>
          <a:xfrm>
            <a:off x="599354" y="2228671"/>
            <a:ext cx="87847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딜 </a:t>
            </a:r>
            <a:r>
              <a:rPr lang="ko-KR" altLang="en-US" dirty="0" err="1"/>
              <a:t>싸이클</a:t>
            </a:r>
            <a:r>
              <a:rPr lang="ko-KR" altLang="en-US" dirty="0"/>
              <a:t> 계산기를 만들 수 있지 않을까</a:t>
            </a:r>
            <a:r>
              <a:rPr lang="en-US" altLang="ko-KR" dirty="0"/>
              <a:t>? </a:t>
            </a:r>
          </a:p>
          <a:p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개의 스킬은 각기 다른 캐스팅 시간</a:t>
            </a:r>
            <a:r>
              <a:rPr lang="en-US" altLang="ko-KR" dirty="0"/>
              <a:t>, </a:t>
            </a:r>
            <a:r>
              <a:rPr lang="ko-KR" altLang="en-US" dirty="0"/>
              <a:t>데미지</a:t>
            </a:r>
            <a:r>
              <a:rPr lang="en-US" altLang="ko-KR" dirty="0"/>
              <a:t>, </a:t>
            </a:r>
            <a:r>
              <a:rPr lang="ko-KR" altLang="en-US" dirty="0"/>
              <a:t>쿨 타임  으로 이루어져 있다</a:t>
            </a:r>
            <a:r>
              <a:rPr lang="en-US" altLang="ko-KR" dirty="0"/>
              <a:t>.  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분 동안 최대의 누적 된 데미지를 주려면 어떤 순서대로 스킬을 사용해야 하는가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2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3399</TotalTime>
  <Words>2506</Words>
  <Application>Microsoft Office PowerPoint</Application>
  <PresentationFormat>와이드스크린</PresentationFormat>
  <Paragraphs>352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Cambria Math</vt:lpstr>
      <vt:lpstr>Courier New</vt:lpstr>
      <vt:lpstr>Office 테마</vt:lpstr>
      <vt:lpstr>동적 프로그래밍</vt:lpstr>
      <vt:lpstr>Dynamic Programming</vt:lpstr>
      <vt:lpstr>1) 중복되는 부분 문제</vt:lpstr>
      <vt:lpstr>중복 해결 - Memoization(메모이제이션) </vt:lpstr>
      <vt:lpstr>Memoization (Top-Down) 장단점</vt:lpstr>
      <vt:lpstr>중복해결 - Tabulation(테뷸레이션) </vt:lpstr>
      <vt:lpstr>Tabulation(테뷸레이션) 장단점</vt:lpstr>
      <vt:lpstr>2) 최적 부분 구조</vt:lpstr>
      <vt:lpstr>점화식 찾기 </vt:lpstr>
      <vt:lpstr>과제</vt:lpstr>
      <vt:lpstr>난이도별 추가 개념</vt:lpstr>
      <vt:lpstr>PPT를 만들면서 드는생각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BoundingVolumeHierarchy</dc:title>
  <dc:creator>Dongwon Lee</dc:creator>
  <cp:lastModifiedBy>Dongwon Lee</cp:lastModifiedBy>
  <cp:revision>712</cp:revision>
  <dcterms:created xsi:type="dcterms:W3CDTF">2025-11-04T12:33:20Z</dcterms:created>
  <dcterms:modified xsi:type="dcterms:W3CDTF">2025-12-11T20:01:12Z</dcterms:modified>
</cp:coreProperties>
</file>