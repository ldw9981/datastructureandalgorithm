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7" r:id="rId4"/>
    <p:sldId id="270" r:id="rId5"/>
    <p:sldId id="271" r:id="rId6"/>
    <p:sldId id="266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76" y="1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AD773-4571-4BA7-9764-EB310268350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F6841-78BC-4592-888C-95736FE30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50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E314A-159A-5306-E914-204E45A7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DEF67D-9DF2-500F-A93B-59E05EE64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5FF00-48CE-5AA2-325E-1F2C5C63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4B257-33C6-50C8-E693-E0F3CCAF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710E-09E2-E843-AB67-97ED85FB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7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32A5F-80DF-13ED-77B5-B447CE6D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CC81-25DF-740C-E3EF-21360711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946FC-8CD2-3683-553C-9817E078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C3B94-407B-B3B0-2735-69E57093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9FCB8-F17A-F552-41B3-86679A42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6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42C32-9331-95D9-2325-2F40F29F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9C866-8F34-4879-DBB1-22F0C054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B2B45-0D3F-9A73-A18E-D195D3EF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6E52F-B9E6-ECEF-F3BD-E93C6576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5EF57-DAD2-9BB8-7A01-7CA16694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2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C4B74-E066-6824-8DDD-C93261CE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982F0-E099-69B1-8C7E-1D4CC162D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67CD9-810A-39AA-F1F7-9D12C81F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A120C-38C7-1BA9-9495-55D850C0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F05EE4-78B6-6981-F99F-B3C88E8E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9A2B6-1D9E-33F4-6865-E8540CD1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8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D2EAD-42AB-654C-7A64-2C37F20B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A585D-B83F-6DD4-72F7-5C857811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681B13-25CA-7B2B-D57D-D5A0E2D89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1CC30F-9266-AFC3-2DE7-410B20179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4DF90-B7E2-B00D-E7E0-2EFBF6552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841F6B-6786-1673-BD8B-3EE7BF93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873D53-B889-1CE2-3C59-EA426941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F89520-35A9-4C1D-144F-C6F7BFD3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8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99D77-FA13-D4F7-7FCF-8F3FDF97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259129-70AF-DA6A-0D49-8DF54B0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566D17-2C02-61CE-1FBD-CAA74D3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22C608-566C-F518-0D18-E2B6B31E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16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13C27C-E8DA-CA3F-1F20-13B11847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34BECB-E9B0-13BD-7F22-65428BE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888A-AC47-57E2-2014-A01E0335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22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744D2-A265-3C02-364A-B8E8C2C0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18D1D-A257-477A-7565-D0658849D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449A78-781F-E180-267F-17AD6262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19700-FEDD-2049-C3B5-C295EEA9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76578E-1B00-8040-0594-580D0EB0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830800-A835-9CA7-D7B6-D38520F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33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8298B-D618-1ABA-FC38-417E80CF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D05A9B-785E-AE73-CF04-0E8B8DC17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20B5D5-B638-152E-90AB-2C7EDCB7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03B65-9552-8557-97DF-2F3498A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A6549-2752-612C-5542-1D09A79B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D1272-B0D8-A2D2-B63B-16A0E9A5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B087-8A1E-8545-387C-46CFC82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B1B64C-F77D-00B9-7857-3DC0EC732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296B6-091E-13F6-5673-61458602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F964C-3FA5-D71B-EE6C-116AD845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FD343-11FD-15E9-EDE5-ED2C1338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5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EEF779-B55C-2DA8-701D-C9187E1B3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98DE32-FC5B-EE67-A05C-EDE89CB9B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BA089-C06B-937D-64EF-A7882309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F748B-941D-ED90-BA5E-50BA1BCC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BCEAE-90AD-99D3-5995-AF75F06E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106B79-E96A-8F8D-819F-056D304D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95A23-C37B-F250-05AF-3C04E0D98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CFA5C-C0BE-F93E-F4FE-B7F4FE6B4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DAE8-372D-4E5B-BC55-512BC2C23F3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53306-E5C8-73FD-FE10-A5E7D3F86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C1E0-68BE-F6EB-DCDC-076AB7165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5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hyperlink" Target="https://school.programmers.co.kr/learn/courses/30/lessons/4289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2193" TargetMode="External"/><Relationship Id="rId2" Type="http://schemas.openxmlformats.org/officeDocument/2006/relationships/hyperlink" Target="https://www.acmicpc.net/problem/11726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chool.programmers.co.kr/learn/courses/30/parts/12263" TargetMode="External"/><Relationship Id="rId5" Type="http://schemas.openxmlformats.org/officeDocument/2006/relationships/hyperlink" Target="https://www.acmicpc.net/search#q=&amp;c=Problems" TargetMode="External"/><Relationship Id="rId4" Type="http://schemas.openxmlformats.org/officeDocument/2006/relationships/hyperlink" Target="https://www.acmicpc.net/problem/9252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42201-CAE5-359D-F9EF-C7068A61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1122363"/>
            <a:ext cx="9753599" cy="2387600"/>
          </a:xfrm>
        </p:spPr>
        <p:txBody>
          <a:bodyPr>
            <a:normAutofit/>
          </a:bodyPr>
          <a:lstStyle/>
          <a:p>
            <a:r>
              <a:rPr lang="ko-KR" altLang="en-US"/>
              <a:t>동적 프로그래밍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3587FF-5D7F-833D-4635-71A2BA368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상태 압축을 적용한 전이설계</a:t>
            </a:r>
          </a:p>
        </p:txBody>
      </p:sp>
    </p:spTree>
    <p:extLst>
      <p:ext uri="{BB962C8B-B14F-4D97-AF65-F5344CB8AC3E}">
        <p14:creationId xmlns:p14="http://schemas.microsoft.com/office/powerpoint/2010/main" val="90914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D3181-C982-AA14-EEDD-32066BDA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Open Sans" panose="020B0606030504020204" pitchFamily="34" charset="0"/>
              </a:rPr>
              <a:t>파스칼 삼각형 문제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D6ACD-E3EA-C28E-23CE-724976F023E8}"/>
              </a:ext>
            </a:extLst>
          </p:cNvPr>
          <p:cNvSpPr txBox="1"/>
          <p:nvPr/>
        </p:nvSpPr>
        <p:spPr>
          <a:xfrm>
            <a:off x="161365" y="1621532"/>
            <a:ext cx="1151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차원 </a:t>
            </a:r>
            <a:r>
              <a:rPr lang="en-US" altLang="ko-KR" dirty="0"/>
              <a:t>DP</a:t>
            </a:r>
            <a:r>
              <a:rPr lang="ko-KR" altLang="en-US" dirty="0"/>
              <a:t>는 하나의 상태만 기록하면 충분한 문제였다</a:t>
            </a:r>
            <a:r>
              <a:rPr lang="en-US" altLang="ko-KR" dirty="0"/>
              <a:t>. </a:t>
            </a:r>
            <a:r>
              <a:rPr lang="ko-KR" altLang="en-US" dirty="0"/>
              <a:t>하지만 어떤 문제는 결과를 정의하기 위해 두 개의 정보가 필요하고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DP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56329-EF01-7505-25C0-078D0180E434}"/>
              </a:ext>
            </a:extLst>
          </p:cNvPr>
          <p:cNvSpPr txBox="1"/>
          <p:nvPr/>
        </p:nvSpPr>
        <p:spPr>
          <a:xfrm>
            <a:off x="230293" y="2537099"/>
            <a:ext cx="7775787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파스칼의 삼각형은 이항계수를 삼각형 형태로 배열한 것인데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, </a:t>
            </a:r>
            <a:r>
              <a:rPr lang="ko-KR" altLang="en-US" sz="1200" b="0" i="0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블레즈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 파스칼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(1623-1662)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을 따라 이름 붙여졌다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Aft>
                <a:spcPts val="750"/>
              </a:spcAft>
              <a:buNone/>
            </a:pP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단순한 형태로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파스칼의 삼각형은 다음과 같은 방법으로 만들 수 있다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번째 행에는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개의 수가 있다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첫 번째 행은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1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이다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두 번째 행부터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각 행의 양 끝의 값은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1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이고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나머지 수의 값은 바로 위 행의 인접한 두 수의 합이다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Aft>
                <a:spcPts val="750"/>
              </a:spcAft>
              <a:buNone/>
            </a:pPr>
            <a:r>
              <a:rPr lang="ko-KR" altLang="en-US" sz="1200" b="1" i="0" u="sng" dirty="0">
                <a:effectLst/>
                <a:latin typeface="Open Sans" panose="020B0606030504020204" pitchFamily="34" charset="0"/>
              </a:rPr>
              <a:t>예를 들어</a:t>
            </a:r>
            <a:r>
              <a:rPr lang="en-US" altLang="ko-KR" sz="1200" b="1" i="0" u="sng" dirty="0">
                <a:effectLst/>
                <a:latin typeface="Open Sans" panose="020B0606030504020204" pitchFamily="34" charset="0"/>
              </a:rPr>
              <a:t>, n=3</a:t>
            </a:r>
            <a:r>
              <a:rPr lang="ko-KR" altLang="en-US" sz="1200" b="1" i="0" u="sng" dirty="0">
                <a:effectLst/>
                <a:latin typeface="Open Sans" panose="020B0606030504020204" pitchFamily="34" charset="0"/>
              </a:rPr>
              <a:t>이면 </a:t>
            </a:r>
            <a:r>
              <a:rPr lang="en-US" altLang="ko-KR" sz="1200" b="1" i="0" u="sng" dirty="0">
                <a:effectLst/>
                <a:latin typeface="Open Sans" panose="020B0606030504020204" pitchFamily="34" charset="0"/>
              </a:rPr>
              <a:t>3</a:t>
            </a:r>
            <a:r>
              <a:rPr lang="ko-KR" altLang="en-US" sz="1200" b="1" i="0" u="sng" dirty="0">
                <a:effectLst/>
                <a:latin typeface="Open Sans" panose="020B0606030504020204" pitchFamily="34" charset="0"/>
              </a:rPr>
              <a:t>번째 행의 </a:t>
            </a:r>
            <a:r>
              <a:rPr lang="en-US" altLang="ko-KR" sz="1200" b="1" i="0" u="sng" dirty="0">
                <a:effectLst/>
                <a:latin typeface="Open Sans" panose="020B0606030504020204" pitchFamily="34" charset="0"/>
              </a:rPr>
              <a:t>2</a:t>
            </a:r>
            <a:r>
              <a:rPr lang="ko-KR" altLang="en-US" sz="1200" b="1" i="0" u="sng" dirty="0">
                <a:effectLst/>
                <a:latin typeface="Open Sans" panose="020B0606030504020204" pitchFamily="34" charset="0"/>
              </a:rPr>
              <a:t>번째 수는 위 행의 인접한 두 수 </a:t>
            </a:r>
            <a:r>
              <a:rPr lang="en-US" altLang="ko-KR" sz="1200" b="1" i="0" u="sng" dirty="0">
                <a:effectLst/>
                <a:latin typeface="Open Sans" panose="020B0606030504020204" pitchFamily="34" charset="0"/>
              </a:rPr>
              <a:t>(1</a:t>
            </a:r>
            <a:r>
              <a:rPr lang="ko-KR" altLang="en-US" sz="1200" b="1" i="0" u="sng" dirty="0">
                <a:effectLst/>
                <a:latin typeface="Open Sans" panose="020B0606030504020204" pitchFamily="34" charset="0"/>
              </a:rPr>
              <a:t>과 </a:t>
            </a:r>
            <a:r>
              <a:rPr lang="en-US" altLang="ko-KR" sz="1200" b="1" i="0" u="sng" dirty="0">
                <a:effectLst/>
                <a:latin typeface="Open Sans" panose="020B0606030504020204" pitchFamily="34" charset="0"/>
              </a:rPr>
              <a:t>1)</a:t>
            </a:r>
            <a:r>
              <a:rPr lang="ko-KR" altLang="en-US" sz="1200" b="1" i="0" u="sng" dirty="0">
                <a:effectLst/>
                <a:latin typeface="Open Sans" panose="020B0606030504020204" pitchFamily="34" charset="0"/>
              </a:rPr>
              <a:t>을 더해서 만든다</a:t>
            </a:r>
            <a:r>
              <a:rPr lang="en-US" altLang="ko-KR" sz="1200" b="1" i="0" u="sng" dirty="0">
                <a:effectLst/>
                <a:latin typeface="Open Sans" panose="020B0606030504020204" pitchFamily="34" charset="0"/>
              </a:rPr>
              <a:t>. </a:t>
            </a:r>
          </a:p>
          <a:p>
            <a:pPr algn="l">
              <a:spcAft>
                <a:spcPts val="750"/>
              </a:spcAft>
              <a:buNone/>
            </a:pP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n=6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일 때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파스칼 삼각형의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6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번째 행의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10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은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5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번째 행의 인접한 두 수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(4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와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6)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을 더해서 구한다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6D8A31-1178-E7B1-FE31-DE5C57EA9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712" y="4498897"/>
            <a:ext cx="5015316" cy="214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2D1023D-4C08-EB73-EF73-9A8D4ECD6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87" y="2330026"/>
            <a:ext cx="2188596" cy="15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6064F9-E48F-8619-2888-3352985EB0BC}"/>
              </a:ext>
            </a:extLst>
          </p:cNvPr>
          <p:cNvSpPr txBox="1"/>
          <p:nvPr/>
        </p:nvSpPr>
        <p:spPr>
          <a:xfrm>
            <a:off x="7640319" y="2114344"/>
            <a:ext cx="116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n=6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일 때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21242-4C02-80E9-DC08-70323D5D5EB5}"/>
              </a:ext>
            </a:extLst>
          </p:cNvPr>
          <p:cNvSpPr txBox="1"/>
          <p:nvPr/>
        </p:nvSpPr>
        <p:spPr>
          <a:xfrm>
            <a:off x="7640319" y="4444736"/>
            <a:ext cx="1537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n=11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일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떄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7F5DFA-23AD-3B66-6975-CA4507D27CAB}"/>
              </a:ext>
            </a:extLst>
          </p:cNvPr>
          <p:cNvSpPr txBox="1"/>
          <p:nvPr/>
        </p:nvSpPr>
        <p:spPr>
          <a:xfrm>
            <a:off x="230293" y="4969010"/>
            <a:ext cx="7072822" cy="10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Bef>
                <a:spcPts val="750"/>
              </a:spcBef>
              <a:spcAft>
                <a:spcPts val="1875"/>
              </a:spcAft>
              <a:buNone/>
            </a:pPr>
            <a:r>
              <a:rPr lang="ko-KR" altLang="en-US" sz="1200" b="0" i="0" dirty="0">
                <a:solidFill>
                  <a:srgbClr val="585F69"/>
                </a:solidFill>
                <a:effectLst/>
                <a:latin typeface="Open Sans" panose="020B0606030504020204" pitchFamily="34" charset="0"/>
              </a:rPr>
              <a:t>입력</a:t>
            </a:r>
            <a:r>
              <a:rPr lang="en-US" altLang="ko-KR" sz="1200" b="0" i="0" dirty="0">
                <a:solidFill>
                  <a:srgbClr val="585F69"/>
                </a:solidFill>
                <a:effectLst/>
                <a:latin typeface="Open Sans" panose="020B0606030504020204" pitchFamily="34" charset="0"/>
              </a:rPr>
              <a:t>: 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첫째 줄에 정수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과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k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가 빈칸을 사이에 두고 차례로 주어진다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이 때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altLang="ko-KR" sz="1200" b="1" i="0" dirty="0">
                <a:effectLst/>
                <a:latin typeface="Open Sans" panose="020B0606030504020204" pitchFamily="34" charset="0"/>
              </a:rPr>
              <a:t>1 ≤ k ≤ n ≤ 30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을 만족한다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lnSpc>
                <a:spcPts val="2475"/>
              </a:lnSpc>
              <a:spcBef>
                <a:spcPts val="750"/>
              </a:spcBef>
              <a:spcAft>
                <a:spcPts val="1875"/>
              </a:spcAft>
              <a:buNone/>
            </a:pPr>
            <a:r>
              <a:rPr lang="ko-KR" altLang="en-US" sz="1200" b="0" i="0" dirty="0">
                <a:solidFill>
                  <a:srgbClr val="585F69"/>
                </a:solidFill>
                <a:effectLst/>
                <a:latin typeface="Open Sans" panose="020B0606030504020204" pitchFamily="34" charset="0"/>
              </a:rPr>
              <a:t>출력</a:t>
            </a:r>
            <a:r>
              <a:rPr lang="en-US" altLang="ko-KR" sz="1200" b="0" i="0" dirty="0">
                <a:solidFill>
                  <a:srgbClr val="585F69"/>
                </a:solidFill>
                <a:effectLst/>
                <a:latin typeface="Open Sans" panose="020B0606030504020204" pitchFamily="34" charset="0"/>
              </a:rPr>
              <a:t>:  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첫째 줄에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번째 행에 있는 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k</a:t>
            </a:r>
            <a:r>
              <a:rPr lang="ko-KR" altLang="en-US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번째 수를 출력한다</a:t>
            </a:r>
            <a:r>
              <a:rPr lang="en-US" altLang="ko-KR" sz="12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E1842-DE5C-8EAE-7108-2CBF26CB7266}"/>
              </a:ext>
            </a:extLst>
          </p:cNvPr>
          <p:cNvSpPr txBox="1"/>
          <p:nvPr/>
        </p:nvSpPr>
        <p:spPr>
          <a:xfrm>
            <a:off x="921173" y="6270457"/>
            <a:ext cx="368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점화식을 </a:t>
            </a:r>
            <a:r>
              <a:rPr lang="ko-KR" altLang="en-US" b="1" dirty="0" err="1"/>
              <a:t>찾는게</a:t>
            </a:r>
            <a:r>
              <a:rPr lang="ko-KR" altLang="en-US" b="1" dirty="0"/>
              <a:t> </a:t>
            </a:r>
            <a:r>
              <a:rPr lang="en-US" altLang="ko-KR" b="1" dirty="0"/>
              <a:t>DP</a:t>
            </a:r>
            <a:r>
              <a:rPr lang="ko-KR" altLang="en-US" b="1" dirty="0"/>
              <a:t>의 전부 일까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9262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7B989-92D5-D503-C029-C820323E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 압축 </a:t>
            </a:r>
            <a:r>
              <a:rPr lang="en-US" altLang="ko-KR" dirty="0"/>
              <a:t>(State Compression)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0A02A-59B3-A143-076B-CC9CB58F717E}"/>
              </a:ext>
            </a:extLst>
          </p:cNvPr>
          <p:cNvSpPr txBox="1"/>
          <p:nvPr/>
        </p:nvSpPr>
        <p:spPr>
          <a:xfrm>
            <a:off x="355599" y="1594005"/>
            <a:ext cx="114808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 </a:t>
            </a:r>
            <a:r>
              <a:rPr lang="ko-KR" altLang="en-US" dirty="0"/>
              <a:t>문제에서 발생하는 모든 경우의 정보를 그대로 다루는 대신</a:t>
            </a:r>
            <a:r>
              <a:rPr lang="en-US" altLang="ko-KR" dirty="0"/>
              <a:t>, </a:t>
            </a:r>
            <a:r>
              <a:rPr lang="ko-KR" altLang="en-US" dirty="0"/>
              <a:t>이후의 계산과 결과에 영향을 주는 정보만을 상태로 남겨 점화식과 전이로 표현 가능한 형태로 추상화 함으로써</a:t>
            </a:r>
            <a:r>
              <a:rPr lang="en-US" altLang="ko-KR" dirty="0"/>
              <a:t>, </a:t>
            </a:r>
            <a:r>
              <a:rPr lang="ko-KR" altLang="en-US" dirty="0"/>
              <a:t>조합 폭발을 억제하고 문제를 성립 가능한 상태 공간으로 축소하는 것이다</a:t>
            </a:r>
            <a:r>
              <a:rPr lang="en-US" altLang="ko-KR" dirty="0"/>
              <a:t>.  “</a:t>
            </a:r>
            <a:r>
              <a:rPr lang="ko-KR" altLang="en-US" dirty="0"/>
              <a:t>서로 다른 과거라도 미래의 전이가 동일하다면 같은 상태로 취급할 수 있다</a:t>
            </a:r>
            <a:r>
              <a:rPr lang="en-US" altLang="ko-KR" dirty="0"/>
              <a:t>.”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전이</a:t>
            </a:r>
            <a:r>
              <a:rPr lang="en-US" altLang="ko-KR" sz="1200" dirty="0"/>
              <a:t>(Transition):</a:t>
            </a:r>
            <a:r>
              <a:rPr lang="ko-KR" altLang="en-US" sz="1200" dirty="0"/>
              <a:t> 한 상태에서 다음 상태로 이동할 수 있는 규칙이며</a:t>
            </a:r>
            <a:r>
              <a:rPr lang="en-US" altLang="ko-KR" sz="1200" dirty="0"/>
              <a:t>, </a:t>
            </a:r>
            <a:r>
              <a:rPr lang="ko-KR" altLang="en-US" sz="1200" dirty="0"/>
              <a:t>이전 상태의 결과가 다음 상태의 </a:t>
            </a:r>
            <a:r>
              <a:rPr lang="ko-KR" altLang="en-US" sz="1200" dirty="0" err="1"/>
              <a:t>점화식</a:t>
            </a:r>
            <a:r>
              <a:rPr lang="ko-KR" altLang="en-US" sz="1200" dirty="0"/>
              <a:t> 계산에 사용되는 관계를 의미한다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조합 폭발</a:t>
            </a:r>
            <a:r>
              <a:rPr lang="en-US" altLang="ko-KR" sz="1200" dirty="0"/>
              <a:t>(Combinatorial Explosion): </a:t>
            </a:r>
            <a:r>
              <a:rPr lang="ko-KR" altLang="en-US" sz="1200" dirty="0"/>
              <a:t>문제에서 발생하는 모든 경우를 그대로 다루려고 할 때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계산량</a:t>
            </a:r>
            <a:r>
              <a:rPr lang="en-US" altLang="ko-KR" sz="1200" dirty="0"/>
              <a:t>·</a:t>
            </a:r>
            <a:r>
              <a:rPr lang="ko-KR" altLang="en-US" sz="1200" dirty="0"/>
              <a:t>메모리</a:t>
            </a:r>
            <a:r>
              <a:rPr lang="en-US" altLang="ko-KR" sz="1200" dirty="0"/>
              <a:t>·</a:t>
            </a:r>
            <a:r>
              <a:rPr lang="ko-KR" altLang="en-US" sz="1200" dirty="0"/>
              <a:t>데이터 크기가 기하급수적으로 증가하는 현상</a:t>
            </a:r>
            <a:endParaRPr lang="en-US" altLang="ko-KR" sz="12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1671D47-D93A-779D-AE47-73F0178C4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0" y="3656753"/>
            <a:ext cx="3441021" cy="260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FA0F866-3627-BE01-DD60-7B21A15BB429}"/>
              </a:ext>
            </a:extLst>
          </p:cNvPr>
          <p:cNvSpPr txBox="1"/>
          <p:nvPr/>
        </p:nvSpPr>
        <p:spPr>
          <a:xfrm>
            <a:off x="3658154" y="3264920"/>
            <a:ext cx="841608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가로 </a:t>
            </a:r>
            <a:r>
              <a:rPr lang="en-US" altLang="ko-KR" sz="1400" dirty="0"/>
              <a:t>4, </a:t>
            </a:r>
            <a:r>
              <a:rPr lang="ko-KR" altLang="en-US" sz="1400" dirty="0"/>
              <a:t>세로 </a:t>
            </a:r>
            <a:r>
              <a:rPr lang="en-US" altLang="ko-KR" sz="1400" dirty="0"/>
              <a:t>3 </a:t>
            </a:r>
            <a:r>
              <a:rPr lang="ko-KR" altLang="en-US" sz="1400" dirty="0"/>
              <a:t>크기의 격자에서 </a:t>
            </a:r>
            <a:r>
              <a:rPr lang="en-US" altLang="ko-KR" sz="1400" dirty="0"/>
              <a:t>(0,0) </a:t>
            </a:r>
            <a:r>
              <a:rPr lang="ko-KR" altLang="en-US" sz="1400" dirty="0"/>
              <a:t>집에서 </a:t>
            </a:r>
            <a:r>
              <a:rPr lang="en-US" altLang="ko-KR" sz="1400" dirty="0"/>
              <a:t>(3,2) </a:t>
            </a:r>
            <a:r>
              <a:rPr lang="ko-KR" altLang="en-US" sz="1400" dirty="0"/>
              <a:t>학교까지 이동한다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이동은 </a:t>
            </a:r>
            <a:r>
              <a:rPr lang="en-US" altLang="ko-KR" sz="1400" b="1" dirty="0"/>
              <a:t>Right(R)</a:t>
            </a:r>
            <a:r>
              <a:rPr lang="ko-KR" altLang="en-US" sz="1400" dirty="0"/>
              <a:t> 또는 </a:t>
            </a:r>
            <a:r>
              <a:rPr lang="en-US" altLang="ko-KR" sz="1400" b="1" dirty="0"/>
              <a:t>Down(D)</a:t>
            </a:r>
            <a:r>
              <a:rPr lang="ko-KR" altLang="en-US" sz="1400" dirty="0"/>
              <a:t> 만 가능하다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</a:t>
            </a:r>
            <a:r>
              <a:rPr lang="ko-KR" altLang="en-US" sz="1400" b="1" dirty="0"/>
              <a:t>필수 이동 횟수</a:t>
            </a:r>
            <a:r>
              <a:rPr lang="ko-KR" altLang="en-US" sz="1400" dirty="0"/>
              <a:t>가 정해진다</a:t>
            </a:r>
            <a:r>
              <a:rPr lang="en-US" altLang="ko-KR" sz="1400" dirty="0"/>
              <a:t>. Right </a:t>
            </a:r>
            <a:r>
              <a:rPr lang="ko-KR" altLang="en-US" sz="1400" dirty="0"/>
              <a:t>이동</a:t>
            </a:r>
            <a:r>
              <a:rPr lang="en-US" altLang="ko-KR" sz="1400" dirty="0"/>
              <a:t>: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번 </a:t>
            </a:r>
            <a:r>
              <a:rPr lang="en-US" altLang="ko-KR" sz="1400" dirty="0"/>
              <a:t>Down </a:t>
            </a:r>
            <a:r>
              <a:rPr lang="ko-KR" altLang="en-US" sz="1400" dirty="0"/>
              <a:t>이동</a:t>
            </a:r>
            <a:r>
              <a:rPr lang="en-US" altLang="ko-KR" sz="1400" dirty="0"/>
              <a:t>: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번 </a:t>
            </a:r>
            <a:r>
              <a:rPr lang="ko-KR" altLang="en-US" sz="1400" dirty="0"/>
              <a:t>총 이동 횟수</a:t>
            </a:r>
            <a:r>
              <a:rPr lang="en-US" altLang="ko-KR" sz="1400" dirty="0"/>
              <a:t>: </a:t>
            </a:r>
            <a:r>
              <a:rPr lang="en-US" altLang="ko-KR" sz="1400" b="1" dirty="0"/>
              <a:t>5</a:t>
            </a:r>
            <a:r>
              <a:rPr lang="ko-KR" altLang="en-US" sz="1400" b="1" dirty="0"/>
              <a:t>번</a:t>
            </a:r>
            <a:endParaRPr lang="en-US" altLang="ko-KR" sz="1400" b="1" dirty="0"/>
          </a:p>
          <a:p>
            <a:r>
              <a:rPr lang="en-US" altLang="ko-KR" sz="1400" b="1" dirty="0"/>
              <a:t>5</a:t>
            </a:r>
            <a:r>
              <a:rPr lang="ko-KR" altLang="en-US" sz="1400" b="1" dirty="0"/>
              <a:t>개의 자리 중에서 </a:t>
            </a:r>
            <a:r>
              <a:rPr lang="en-US" altLang="ko-KR" sz="1400" b="1" dirty="0"/>
              <a:t>R</a:t>
            </a:r>
            <a:r>
              <a:rPr lang="ko-KR" altLang="en-US" sz="1400" b="1" dirty="0"/>
              <a:t>이 들어갈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개의 자리를 선택</a:t>
            </a:r>
            <a:r>
              <a:rPr lang="ko-KR" altLang="en-US" sz="1400" dirty="0"/>
              <a:t>만 하면</a:t>
            </a:r>
            <a:r>
              <a:rPr lang="en-US" altLang="ko-KR" sz="1400" dirty="0"/>
              <a:t>, </a:t>
            </a:r>
            <a:r>
              <a:rPr lang="ko-KR" altLang="en-US" sz="1400" dirty="0"/>
              <a:t>나머지 자리는 자동으로 </a:t>
            </a:r>
            <a:r>
              <a:rPr lang="en-US" altLang="ko-KR" sz="1400" dirty="0"/>
              <a:t>D</a:t>
            </a:r>
            <a:r>
              <a:rPr lang="ko-KR" altLang="en-US" sz="1400" dirty="0"/>
              <a:t>가 채워지게 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RRRDD RRDRD RRDDR RDRRD RDRDR RDDRR</a:t>
            </a:r>
          </a:p>
          <a:p>
            <a:r>
              <a:rPr lang="en-US" altLang="ko-KR" sz="1400" dirty="0"/>
              <a:t>DRRRD DRRDR DRDRR DDRRR  </a:t>
            </a:r>
            <a:endParaRPr lang="ko-KR" altLang="en-US" sz="1400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BAA03B4B-E140-2D87-0746-B9E97EF36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3424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 descr="텍스트, 폰트, 시계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8D5B80-B9F2-8C72-4EBB-F2245F6C3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610" y="5851380"/>
            <a:ext cx="2169680" cy="641533"/>
          </a:xfrm>
          <a:prstGeom prst="rect">
            <a:avLst/>
          </a:prstGeom>
        </p:spPr>
      </p:pic>
      <p:pic>
        <p:nvPicPr>
          <p:cNvPr id="39" name="그림 3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371A04-BEBA-8F41-19D3-76B3AAD88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197" y="4300213"/>
            <a:ext cx="2883689" cy="24734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0ECCB4E-C8E5-621D-A66B-8D17E4EE964C}"/>
                  </a:ext>
                </a:extLst>
              </p:cNvPr>
              <p:cNvSpPr txBox="1"/>
              <p:nvPr/>
            </p:nvSpPr>
            <p:spPr>
              <a:xfrm>
                <a:off x="3800394" y="4892323"/>
                <a:ext cx="3526896" cy="834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ko-KR" altLang="en-US" sz="1600" b="1" dirty="0"/>
                  <a:t>조합 공식 </a:t>
                </a:r>
                <a:endParaRPr lang="en-US" altLang="ko-KR" sz="16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𝑛𝐶𝑘</m:t>
                      </m:r>
                      <m:r>
                        <a:rPr lang="en-US" altLang="ko-KR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altLang="ko-KR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ar-AE" altLang="ko-KR" sz="16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0ECCB4E-C8E5-621D-A66B-8D17E4EE9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394" y="4892323"/>
                <a:ext cx="3526896" cy="834396"/>
              </a:xfrm>
              <a:prstGeom prst="rect">
                <a:avLst/>
              </a:prstGeom>
              <a:blipFill>
                <a:blip r:embed="rId6"/>
                <a:stretch>
                  <a:fillRect l="-864" t="-22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AFA528C5-5635-46C9-649C-A8F03B113A84}"/>
              </a:ext>
            </a:extLst>
          </p:cNvPr>
          <p:cNvSpPr txBox="1"/>
          <p:nvPr/>
        </p:nvSpPr>
        <p:spPr>
          <a:xfrm>
            <a:off x="169260" y="6465860"/>
            <a:ext cx="3894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격자 크기가 커지면 경우의 수를 다룰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8770C-D806-C236-AFAB-81580372B078}"/>
              </a:ext>
            </a:extLst>
          </p:cNvPr>
          <p:cNvSpPr txBox="1"/>
          <p:nvPr/>
        </p:nvSpPr>
        <p:spPr>
          <a:xfrm>
            <a:off x="1021030" y="3291190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hlinkClick r:id="rId7"/>
              </a:rPr>
              <a:t>등교길 문제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7359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2F192-C065-CC64-EF40-7F21C661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압축의 예 </a:t>
            </a:r>
            <a:r>
              <a:rPr lang="en-US" altLang="ko-KR" dirty="0" err="1"/>
              <a:t>Modulas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4924-EC4F-FF14-E094-8F8AC9EB12EF}"/>
              </a:ext>
            </a:extLst>
          </p:cNvPr>
          <p:cNvSpPr txBox="1"/>
          <p:nvPr/>
        </p:nvSpPr>
        <p:spPr>
          <a:xfrm>
            <a:off x="684107" y="1690688"/>
            <a:ext cx="95846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정답 조건이 실제 경우의 수를 찾는 것 이 아닌 “정답을 어떤 수로 나눈 나머지를 출력하라”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정답</a:t>
            </a:r>
            <a:r>
              <a:rPr lang="en-US" altLang="ko-KR" dirty="0"/>
              <a:t>=(</a:t>
            </a:r>
            <a:r>
              <a:rPr lang="ko-KR" altLang="en-US" dirty="0"/>
              <a:t>실제 경로 수</a:t>
            </a:r>
            <a:r>
              <a:rPr lang="en-US" altLang="ko-KR" dirty="0"/>
              <a:t>) mod</a:t>
            </a:r>
            <a:r>
              <a:rPr lang="ko-KR" altLang="en-US" dirty="0"/>
              <a:t> </a:t>
            </a:r>
            <a:r>
              <a:rPr lang="en-US" altLang="ko-KR" dirty="0"/>
              <a:t>1,000,000,007             -&gt; </a:t>
            </a:r>
            <a:r>
              <a:rPr lang="ko-KR" altLang="en-US" dirty="0" err="1"/>
              <a:t>큰수</a:t>
            </a:r>
            <a:r>
              <a:rPr lang="ko-KR" altLang="en-US" dirty="0"/>
              <a:t> 로 나눈 나머지 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B32912-C779-F533-4EE9-FF8D02B8AF2B}"/>
              </a:ext>
            </a:extLst>
          </p:cNvPr>
          <p:cNvSpPr txBox="1"/>
          <p:nvPr/>
        </p:nvSpPr>
        <p:spPr>
          <a:xfrm>
            <a:off x="684107" y="3054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일반적 </a:t>
            </a:r>
            <a:r>
              <a:rPr lang="en-US" altLang="ko-KR" dirty="0"/>
              <a:t>DP </a:t>
            </a:r>
            <a:r>
              <a:rPr lang="ko-KR" altLang="en-US" dirty="0" err="1"/>
              <a:t>점화식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dp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][</a:t>
            </a:r>
            <a:r>
              <a:rPr lang="ko-KR" altLang="en-US" dirty="0" err="1"/>
              <a:t>j</a:t>
            </a:r>
            <a:r>
              <a:rPr lang="ko-KR" altLang="en-US" dirty="0"/>
              <a:t>] = </a:t>
            </a:r>
            <a:r>
              <a:rPr lang="ko-KR" altLang="en-US" dirty="0" err="1"/>
              <a:t>dp</a:t>
            </a:r>
            <a:r>
              <a:rPr lang="ko-KR" altLang="en-US" dirty="0"/>
              <a:t>[i-1][</a:t>
            </a:r>
            <a:r>
              <a:rPr lang="ko-KR" altLang="en-US" dirty="0" err="1"/>
              <a:t>j</a:t>
            </a:r>
            <a:r>
              <a:rPr lang="ko-KR" altLang="en-US" dirty="0"/>
              <a:t>] + </a:t>
            </a:r>
            <a:r>
              <a:rPr lang="ko-KR" altLang="en-US" dirty="0" err="1"/>
              <a:t>dp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][j-1]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9CB5C1-AFF0-D5B2-6999-C872D54D4230}"/>
              </a:ext>
            </a:extLst>
          </p:cNvPr>
          <p:cNvSpPr txBox="1"/>
          <p:nvPr/>
        </p:nvSpPr>
        <p:spPr>
          <a:xfrm>
            <a:off x="684107" y="3680056"/>
            <a:ext cx="92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Mod </a:t>
            </a:r>
            <a:r>
              <a:rPr lang="ko-KR" altLang="en-US" dirty="0"/>
              <a:t>조건의 </a:t>
            </a:r>
            <a:r>
              <a:rPr lang="ko-KR" altLang="en-US" dirty="0" err="1"/>
              <a:t>점화식</a:t>
            </a:r>
            <a:r>
              <a:rPr lang="en-US" altLang="ko-KR" dirty="0"/>
              <a:t>:  </a:t>
            </a:r>
            <a:r>
              <a:rPr lang="ko-KR" altLang="en-US" dirty="0" err="1"/>
              <a:t>dp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][</a:t>
            </a:r>
            <a:r>
              <a:rPr lang="ko-KR" altLang="en-US" dirty="0" err="1"/>
              <a:t>j</a:t>
            </a:r>
            <a:r>
              <a:rPr lang="ko-KR" altLang="en-US" dirty="0"/>
              <a:t>] = (</a:t>
            </a:r>
            <a:r>
              <a:rPr lang="ko-KR" altLang="en-US" dirty="0" err="1"/>
              <a:t>dp</a:t>
            </a:r>
            <a:r>
              <a:rPr lang="ko-KR" altLang="en-US" dirty="0"/>
              <a:t>[i-1][</a:t>
            </a:r>
            <a:r>
              <a:rPr lang="ko-KR" altLang="en-US" dirty="0" err="1"/>
              <a:t>j</a:t>
            </a:r>
            <a:r>
              <a:rPr lang="ko-KR" altLang="en-US" dirty="0"/>
              <a:t>] + </a:t>
            </a:r>
            <a:r>
              <a:rPr lang="ko-KR" altLang="en-US" dirty="0" err="1"/>
              <a:t>dp</a:t>
            </a:r>
            <a:r>
              <a:rPr lang="ko-KR" altLang="en-US" dirty="0"/>
              <a:t>[</a:t>
            </a:r>
            <a:r>
              <a:rPr lang="ko-KR" altLang="en-US" dirty="0" err="1"/>
              <a:t>i</a:t>
            </a:r>
            <a:r>
              <a:rPr lang="ko-KR" altLang="en-US" dirty="0"/>
              <a:t>][j-1]) % MOD   가 성립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F092C3-2544-A69E-02D6-6952CD6BA8B4}"/>
                  </a:ext>
                </a:extLst>
              </p:cNvPr>
              <p:cNvSpPr txBox="1"/>
              <p:nvPr/>
            </p:nvSpPr>
            <p:spPr>
              <a:xfrm>
                <a:off x="684107" y="4490074"/>
                <a:ext cx="6096000" cy="1512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ko-KR" altLang="en-US" b="1" dirty="0" err="1"/>
                  <a:t>모듈러의</a:t>
                </a:r>
                <a:r>
                  <a:rPr lang="ko-KR" altLang="en-US" b="1" dirty="0"/>
                  <a:t> 핵심 성질</a:t>
                </a:r>
                <a:endParaRPr lang="en-US" altLang="ko-KR" b="1" dirty="0"/>
              </a:p>
              <a:p>
                <a:pPr>
                  <a:buNone/>
                </a:pPr>
                <a:endParaRPr lang="ko-KR" altLang="en-US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m:rPr>
                          <m:nor/>
                        </m:rPr>
                        <a:rPr lang="ko-KR" altLang="en-US" b="0" i="1">
                          <a:latin typeface="Cambria Math" panose="02040503050406030204" pitchFamily="18" charset="0"/>
                        </a:rPr>
                        <m:t> 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ko-KR" altLang="en-US" b="0" i="1">
                          <a:latin typeface="Cambria Math" panose="02040503050406030204" pitchFamily="18" charset="0"/>
                        </a:rPr>
                        <m:t> 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b="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en-US" altLang="ko-KR" b="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nor/>
                                </m:rP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m:rPr>
                                  <m:nor/>
                                </m:rP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b="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ko-KR" altLang="en-US" b="0" i="1">
                          <a:latin typeface="Cambria Math" panose="02040503050406030204" pitchFamily="18" charset="0"/>
                        </a:rPr>
                        <m:t> 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ko-KR" altLang="en-US" b="0" i="1">
                          <a:latin typeface="Cambria Math" panose="02040503050406030204" pitchFamily="18" charset="0"/>
                        </a:rPr>
                        <m:t> 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b="0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ko-KR" altLang="en-US" b="0" dirty="0"/>
              </a:p>
              <a:p>
                <a:pPr>
                  <a:buNone/>
                </a:pPr>
                <a:endParaRPr lang="en-US" altLang="ko-KR" b="1" dirty="0"/>
              </a:p>
              <a:p>
                <a:pPr>
                  <a:buNone/>
                </a:pPr>
                <a:r>
                  <a:rPr lang="ko-KR" altLang="en-US" b="1" dirty="0"/>
                  <a:t>중간마다 나눠도 최종 나머지는 동일</a:t>
                </a:r>
                <a:endParaRPr lang="ko-KR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F092C3-2544-A69E-02D6-6952CD6BA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07" y="4490074"/>
                <a:ext cx="6096000" cy="1512978"/>
              </a:xfrm>
              <a:prstGeom prst="rect">
                <a:avLst/>
              </a:prstGeom>
              <a:blipFill>
                <a:blip r:embed="rId2"/>
                <a:stretch>
                  <a:fillRect l="-800" t="-2419" b="-56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02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13F3D-0A20-7562-44AB-07C4F1E2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관찰의 필요성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0DA32-EDB6-4DD1-11F3-578B6B119228}"/>
              </a:ext>
            </a:extLst>
          </p:cNvPr>
          <p:cNvSpPr txBox="1"/>
          <p:nvPr/>
        </p:nvSpPr>
        <p:spPr>
          <a:xfrm>
            <a:off x="673949" y="2187400"/>
            <a:ext cx="2357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구조 폭발</a:t>
            </a:r>
          </a:p>
          <a:p>
            <a:r>
              <a:rPr lang="ko-KR" altLang="en-US" dirty="0"/>
              <a:t>모든 경로</a:t>
            </a:r>
          </a:p>
          <a:p>
            <a:r>
              <a:rPr lang="ko-KR" altLang="en-US" dirty="0"/>
              <a:t>모든 순열</a:t>
            </a:r>
          </a:p>
          <a:p>
            <a:r>
              <a:rPr lang="ko-KR" altLang="en-US" dirty="0"/>
              <a:t>모든 선택 이력</a:t>
            </a:r>
          </a:p>
          <a:p>
            <a:pPr>
              <a:buNone/>
            </a:pPr>
            <a:r>
              <a:rPr lang="ko-KR" altLang="en-US" dirty="0"/>
              <a:t> 해결</a:t>
            </a:r>
            <a:r>
              <a:rPr lang="en-US" altLang="ko-KR" dirty="0"/>
              <a:t>: </a:t>
            </a:r>
            <a:r>
              <a:rPr lang="ko-KR" altLang="en-US" b="1" dirty="0"/>
              <a:t>상태 압축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347BF-9DC7-9641-542B-5BE9D8631CBC}"/>
              </a:ext>
            </a:extLst>
          </p:cNvPr>
          <p:cNvSpPr txBox="1"/>
          <p:nvPr/>
        </p:nvSpPr>
        <p:spPr>
          <a:xfrm>
            <a:off x="4240108" y="2187400"/>
            <a:ext cx="29734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값 폭발</a:t>
            </a:r>
          </a:p>
          <a:p>
            <a:r>
              <a:rPr lang="ko-KR" altLang="en-US" dirty="0"/>
              <a:t>경로 수</a:t>
            </a:r>
          </a:p>
          <a:p>
            <a:r>
              <a:rPr lang="ko-KR" altLang="en-US" dirty="0"/>
              <a:t>조합 수</a:t>
            </a:r>
          </a:p>
          <a:p>
            <a:r>
              <a:rPr lang="ko-KR" altLang="en-US" dirty="0"/>
              <a:t>누적 합</a:t>
            </a:r>
          </a:p>
          <a:p>
            <a:pPr>
              <a:buNone/>
            </a:pPr>
            <a:r>
              <a:rPr lang="ko-KR" altLang="en-US" dirty="0"/>
              <a:t>해결</a:t>
            </a:r>
            <a:r>
              <a:rPr lang="en-US" altLang="ko-KR" dirty="0"/>
              <a:t>: </a:t>
            </a:r>
            <a:r>
              <a:rPr lang="en-US" altLang="ko-KR" b="1" dirty="0"/>
              <a:t>MOD / </a:t>
            </a:r>
            <a:r>
              <a:rPr lang="ko-KR" altLang="en-US" b="1" dirty="0"/>
              <a:t>의미 축소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1CE902-5A30-72AA-35A4-2C6872D270CF}"/>
              </a:ext>
            </a:extLst>
          </p:cNvPr>
          <p:cNvSpPr txBox="1"/>
          <p:nvPr/>
        </p:nvSpPr>
        <p:spPr>
          <a:xfrm>
            <a:off x="7904480" y="2187400"/>
            <a:ext cx="27499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상태 공간 폭발</a:t>
            </a:r>
          </a:p>
          <a:p>
            <a:r>
              <a:rPr lang="en-US" altLang="ko-KR" dirty="0" err="1"/>
              <a:t>dp</a:t>
            </a:r>
            <a:r>
              <a:rPr lang="en-US" altLang="ko-KR" dirty="0"/>
              <a:t>[</a:t>
            </a:r>
            <a:r>
              <a:rPr lang="en-US" altLang="ko-KR" dirty="0" err="1"/>
              <a:t>i</a:t>
            </a:r>
            <a:r>
              <a:rPr lang="en-US" altLang="ko-KR" dirty="0"/>
              <a:t>][j][k][…] </a:t>
            </a:r>
            <a:r>
              <a:rPr lang="ko-KR" altLang="en-US" dirty="0"/>
              <a:t>차원 증가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해결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상태 의미 재정의</a:t>
            </a:r>
          </a:p>
          <a:p>
            <a:r>
              <a:rPr lang="ko-KR" altLang="en-US" dirty="0"/>
              <a:t>불필요한 축 제거</a:t>
            </a:r>
          </a:p>
          <a:p>
            <a:r>
              <a:rPr lang="ko-KR" altLang="en-US" dirty="0"/>
              <a:t>대칭성 활용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48B05-A543-805D-0ECC-2211C945EDDB}"/>
              </a:ext>
            </a:extLst>
          </p:cNvPr>
          <p:cNvSpPr txBox="1"/>
          <p:nvPr/>
        </p:nvSpPr>
        <p:spPr>
          <a:xfrm>
            <a:off x="193041" y="1517058"/>
            <a:ext cx="11396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폭발을 관찰하고</a:t>
            </a:r>
            <a:r>
              <a:rPr lang="en-US" altLang="ko-KR" dirty="0"/>
              <a:t>, </a:t>
            </a:r>
            <a:r>
              <a:rPr lang="ko-KR" altLang="en-US" dirty="0"/>
              <a:t>정보를 압축하여 그 압축된 세계에서 점화식이 올바르게 정의 되도록 전이를 설계해야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7ABFE-BFB3-16D4-2163-DB8314C497B6}"/>
              </a:ext>
            </a:extLst>
          </p:cNvPr>
          <p:cNvSpPr txBox="1"/>
          <p:nvPr/>
        </p:nvSpPr>
        <p:spPr>
          <a:xfrm>
            <a:off x="2008296" y="4112105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① “모든 경우를 그대로 저장하면 왜 안 되지</a:t>
            </a:r>
            <a:r>
              <a:rPr lang="en-US" altLang="ko-KR" sz="1600" b="1" dirty="0"/>
              <a:t>?”</a:t>
            </a:r>
          </a:p>
          <a:p>
            <a:r>
              <a:rPr lang="ko-KR" altLang="en-US" sz="1600" dirty="0"/>
              <a:t> 폭발 지점 확인</a:t>
            </a:r>
            <a:r>
              <a:rPr lang="en-US" altLang="ko-KR" sz="1600" dirty="0"/>
              <a:t>.</a:t>
            </a:r>
            <a:r>
              <a:rPr lang="ko-KR" altLang="en-US" sz="1600" dirty="0"/>
              <a:t> 무엇을 버릴 것인가 </a:t>
            </a:r>
            <a:r>
              <a:rPr lang="en-US" altLang="ko-KR" sz="1600" dirty="0"/>
              <a:t>(</a:t>
            </a:r>
            <a:r>
              <a:rPr lang="ko-KR" altLang="en-US" sz="1600" dirty="0"/>
              <a:t>정보 압축</a:t>
            </a:r>
            <a:r>
              <a:rPr lang="en-US" altLang="ko-KR" sz="1600" dirty="0"/>
              <a:t>)</a:t>
            </a:r>
          </a:p>
          <a:p>
            <a:endParaRPr lang="ko-KR" altLang="en-US" sz="1600" dirty="0"/>
          </a:p>
          <a:p>
            <a:r>
              <a:rPr lang="ko-KR" altLang="en-US" sz="1600" b="1" dirty="0"/>
              <a:t>② “미래 계산에 정말 필요한 정보는 뭐지</a:t>
            </a:r>
            <a:r>
              <a:rPr lang="en-US" altLang="ko-KR" sz="1600" b="1" dirty="0"/>
              <a:t>?”</a:t>
            </a:r>
          </a:p>
          <a:p>
            <a:r>
              <a:rPr lang="ko-KR" altLang="en-US" sz="1600" dirty="0"/>
              <a:t>상태 후보</a:t>
            </a:r>
            <a:r>
              <a:rPr lang="en-US" altLang="ko-KR" sz="1600" dirty="0"/>
              <a:t>. </a:t>
            </a:r>
            <a:r>
              <a:rPr lang="ko-KR" altLang="en-US" sz="1600" dirty="0"/>
              <a:t>무엇만 남길 것인가 </a:t>
            </a:r>
            <a:r>
              <a:rPr lang="en-US" altLang="ko-KR" sz="1600" dirty="0"/>
              <a:t>(</a:t>
            </a:r>
            <a:r>
              <a:rPr lang="ko-KR" altLang="en-US" sz="1600" dirty="0"/>
              <a:t>상태 정의</a:t>
            </a:r>
            <a:r>
              <a:rPr lang="en-US" altLang="ko-KR" sz="1600" dirty="0"/>
              <a:t>)</a:t>
            </a:r>
          </a:p>
          <a:p>
            <a:endParaRPr lang="ko-KR" altLang="en-US" sz="1600" dirty="0"/>
          </a:p>
          <a:p>
            <a:r>
              <a:rPr lang="ko-KR" altLang="en-US" sz="1600" b="1" dirty="0"/>
              <a:t>③ “이 상태만으로 다음 상태를 만들 수 있나</a:t>
            </a:r>
            <a:r>
              <a:rPr lang="en-US" altLang="ko-KR" sz="1600" b="1" dirty="0"/>
              <a:t>?”</a:t>
            </a:r>
          </a:p>
          <a:p>
            <a:r>
              <a:rPr lang="ko-KR" altLang="en-US" sz="1600" dirty="0"/>
              <a:t>전이 가능성 확인</a:t>
            </a:r>
          </a:p>
          <a:p>
            <a:endParaRPr lang="en-US" altLang="ko-KR" sz="1600" dirty="0"/>
          </a:p>
          <a:p>
            <a:r>
              <a:rPr lang="ko-KR" altLang="en-US" sz="1600" dirty="0"/>
              <a:t>이 </a:t>
            </a:r>
            <a:r>
              <a:rPr lang="en-US" altLang="ko-KR" sz="1600" dirty="0"/>
              <a:t>3</a:t>
            </a:r>
            <a:r>
              <a:rPr lang="ko-KR" altLang="en-US" sz="1600" dirty="0"/>
              <a:t>개가 연결되면  점화식은 </a:t>
            </a:r>
            <a:r>
              <a:rPr lang="ko-KR" altLang="en-US" sz="1600" b="1" dirty="0"/>
              <a:t>자연스럽게 도출된다</a:t>
            </a:r>
            <a:r>
              <a:rPr lang="en-US" altLang="ko-KR" sz="1600" b="1" dirty="0"/>
              <a:t>.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272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9C28D-FD11-3272-D7A1-A6EB1F26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난이도별 추가 개념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805927B-F381-F973-5175-BFD4C3080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218075"/>
              </p:ext>
            </p:extLst>
          </p:nvPr>
        </p:nvGraphicFramePr>
        <p:xfrm>
          <a:off x="185234" y="1905096"/>
          <a:ext cx="6300091" cy="1371600"/>
        </p:xfrm>
        <a:graphic>
          <a:graphicData uri="http://schemas.openxmlformats.org/drawingml/2006/table">
            <a:tbl>
              <a:tblPr/>
              <a:tblGrid>
                <a:gridCol w="1046093">
                  <a:extLst>
                    <a:ext uri="{9D8B030D-6E8A-4147-A177-3AD203B41FA5}">
                      <a16:colId xmlns:a16="http://schemas.microsoft.com/office/drawing/2014/main" val="3404791198"/>
                    </a:ext>
                  </a:extLst>
                </a:gridCol>
                <a:gridCol w="1584018">
                  <a:extLst>
                    <a:ext uri="{9D8B030D-6E8A-4147-A177-3AD203B41FA5}">
                      <a16:colId xmlns:a16="http://schemas.microsoft.com/office/drawing/2014/main" val="1139665349"/>
                    </a:ext>
                  </a:extLst>
                </a:gridCol>
                <a:gridCol w="3669980">
                  <a:extLst>
                    <a:ext uri="{9D8B030D-6E8A-4147-A177-3AD203B41FA5}">
                      <a16:colId xmlns:a16="http://schemas.microsoft.com/office/drawing/2014/main" val="1097840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74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hlinkClick r:id="rId2"/>
                        </a:rPr>
                        <a:t>11726</a:t>
                      </a:r>
                      <a:endParaRPr lang="en-US" altLang="ko-KR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2×N </a:t>
                      </a:r>
                      <a:r>
                        <a:rPr lang="ko-KR" altLang="en-US" sz="1200" dirty="0"/>
                        <a:t>타일 채우기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1D DP, </a:t>
                      </a:r>
                      <a:r>
                        <a:rPr lang="ko-KR" altLang="en-US" sz="1200"/>
                        <a:t>단순 점화식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피보나치 형태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96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hlinkClick r:id="rId3"/>
                        </a:rPr>
                        <a:t>2193</a:t>
                      </a:r>
                      <a:endParaRPr lang="en-US" altLang="ko-KR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 err="1"/>
                        <a:t>이친수</a:t>
                      </a:r>
                      <a:endParaRPr lang="ko-KR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1D DP, </a:t>
                      </a:r>
                      <a:r>
                        <a:rPr lang="ko-KR" altLang="en-US" sz="1200" dirty="0"/>
                        <a:t>단순 </a:t>
                      </a:r>
                      <a:r>
                        <a:rPr lang="ko-KR" altLang="en-US" sz="1200" dirty="0" err="1"/>
                        <a:t>점화식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상태 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40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10844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쉬운 계단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DP(</a:t>
                      </a:r>
                      <a:r>
                        <a:rPr lang="ko-KR" altLang="en-US" sz="1200" dirty="0" err="1"/>
                        <a:t>자리수</a:t>
                      </a:r>
                      <a:r>
                        <a:rPr lang="en-US" altLang="ko-KR" sz="1200" dirty="0"/>
                        <a:t>), </a:t>
                      </a:r>
                      <a:r>
                        <a:rPr lang="ko-KR" altLang="en-US" sz="1200" dirty="0"/>
                        <a:t>경우의 수 누적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최적화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16395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파스칼의 삼각형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순수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차원 </a:t>
                      </a:r>
                      <a:r>
                        <a:rPr lang="en-US" altLang="ko-KR" sz="1200" dirty="0"/>
                        <a:t>DP </a:t>
                      </a:r>
                      <a:endParaRPr lang="ko-KR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3564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0B47A84-D313-BD27-B448-A8D93DCA0D1B}"/>
              </a:ext>
            </a:extLst>
          </p:cNvPr>
          <p:cNvGraphicFramePr>
            <a:graphicFrameLocks noGrp="1"/>
          </p:cNvGraphicFramePr>
          <p:nvPr/>
        </p:nvGraphicFramePr>
        <p:xfrm>
          <a:off x="185234" y="3687543"/>
          <a:ext cx="7222177" cy="1371600"/>
        </p:xfrm>
        <a:graphic>
          <a:graphicData uri="http://schemas.openxmlformats.org/drawingml/2006/table">
            <a:tbl>
              <a:tblPr/>
              <a:tblGrid>
                <a:gridCol w="1290057">
                  <a:extLst>
                    <a:ext uri="{9D8B030D-6E8A-4147-A177-3AD203B41FA5}">
                      <a16:colId xmlns:a16="http://schemas.microsoft.com/office/drawing/2014/main" val="521499003"/>
                    </a:ext>
                  </a:extLst>
                </a:gridCol>
                <a:gridCol w="1510493">
                  <a:extLst>
                    <a:ext uri="{9D8B030D-6E8A-4147-A177-3AD203B41FA5}">
                      <a16:colId xmlns:a16="http://schemas.microsoft.com/office/drawing/2014/main" val="3160464756"/>
                    </a:ext>
                  </a:extLst>
                </a:gridCol>
                <a:gridCol w="4421627">
                  <a:extLst>
                    <a:ext uri="{9D8B030D-6E8A-4147-A177-3AD203B41FA5}">
                      <a16:colId xmlns:a16="http://schemas.microsoft.com/office/drawing/2014/main" val="1592854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9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1463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정수를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로 만들기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1D DP, min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기초 최적화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38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1149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RGB </a:t>
                      </a:r>
                      <a:r>
                        <a:rPr lang="ko-KR" altLang="en-US" sz="1200" dirty="0"/>
                        <a:t>거리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DP(</a:t>
                      </a:r>
                      <a:r>
                        <a:rPr lang="ko-KR" altLang="en-US" sz="1200" dirty="0"/>
                        <a:t>집</a:t>
                      </a:r>
                      <a:r>
                        <a:rPr lang="en-US" altLang="ko-KR" sz="1200" dirty="0"/>
                        <a:t>×</a:t>
                      </a:r>
                      <a:r>
                        <a:rPr lang="ko-KR" altLang="en-US" sz="1200" dirty="0"/>
                        <a:t>색</a:t>
                      </a:r>
                      <a:r>
                        <a:rPr lang="en-US" altLang="ko-KR" sz="1200" dirty="0"/>
                        <a:t>), min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제약 조건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999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2579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계단 오르기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1D DP, max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규칙성 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955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1932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정수 삼각형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DP, max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경로 선택 </a:t>
                      </a:r>
                      <a:r>
                        <a:rPr lang="en-US" altLang="ko-KR" sz="1200" dirty="0"/>
                        <a:t>DP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5839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4D21287-3720-2713-4E0D-769BBDD071AB}"/>
              </a:ext>
            </a:extLst>
          </p:cNvPr>
          <p:cNvSpPr txBox="1"/>
          <p:nvPr/>
        </p:nvSpPr>
        <p:spPr>
          <a:xfrm>
            <a:off x="185236" y="3334138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Lv2 — </a:t>
            </a:r>
            <a:r>
              <a:rPr lang="ko-KR" altLang="en-US" sz="1400" dirty="0"/>
              <a:t>선택</a:t>
            </a:r>
            <a:r>
              <a:rPr lang="en-US" altLang="ko-KR" sz="1400" dirty="0"/>
              <a:t>(</a:t>
            </a:r>
            <a:r>
              <a:rPr lang="ko-KR" altLang="en-US" sz="1400" dirty="0"/>
              <a:t>최적화</a:t>
            </a:r>
            <a:r>
              <a:rPr lang="en-US" altLang="ko-KR" sz="1400" dirty="0"/>
              <a:t>)</a:t>
            </a:r>
            <a:r>
              <a:rPr lang="ko-KR" altLang="en-US" sz="1400" dirty="0"/>
              <a:t>이 처음 등장하는 </a:t>
            </a:r>
            <a:r>
              <a:rPr lang="en-US" altLang="ko-KR" sz="1400" dirty="0"/>
              <a:t>DP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AC8F54-B021-3870-00D5-F0F9807CE96A}"/>
              </a:ext>
            </a:extLst>
          </p:cNvPr>
          <p:cNvSpPr txBox="1"/>
          <p:nvPr/>
        </p:nvSpPr>
        <p:spPr>
          <a:xfrm>
            <a:off x="128463" y="1561698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Lv1 — </a:t>
            </a:r>
            <a:r>
              <a:rPr lang="ko-KR" altLang="en-US" sz="1400" dirty="0"/>
              <a:t>단순 </a:t>
            </a:r>
            <a:r>
              <a:rPr lang="ko-KR" altLang="en-US" sz="1400" dirty="0" err="1"/>
              <a:t>점화식</a:t>
            </a:r>
            <a:r>
              <a:rPr lang="ko-KR" altLang="en-US" sz="1400" dirty="0"/>
              <a:t> </a:t>
            </a:r>
            <a:r>
              <a:rPr lang="en-US" altLang="ko-KR" sz="1400" dirty="0"/>
              <a:t>DP (</a:t>
            </a:r>
            <a:r>
              <a:rPr lang="ko-KR" altLang="en-US" sz="1400" dirty="0"/>
              <a:t>선택 없음 </a:t>
            </a:r>
            <a:r>
              <a:rPr lang="en-US" altLang="ko-KR" sz="1400" dirty="0"/>
              <a:t>/ </a:t>
            </a:r>
            <a:r>
              <a:rPr lang="ko-KR" altLang="en-US" sz="1400" dirty="0"/>
              <a:t>가장 쉬움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45B0E5D-83D9-B5F2-8ED8-74220F015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26770"/>
              </p:ext>
            </p:extLst>
          </p:nvPr>
        </p:nvGraphicFramePr>
        <p:xfrm>
          <a:off x="185235" y="5419522"/>
          <a:ext cx="7429643" cy="1371600"/>
        </p:xfrm>
        <a:graphic>
          <a:graphicData uri="http://schemas.openxmlformats.org/drawingml/2006/table">
            <a:tbl>
              <a:tblPr/>
              <a:tblGrid>
                <a:gridCol w="938156">
                  <a:extLst>
                    <a:ext uri="{9D8B030D-6E8A-4147-A177-3AD203B41FA5}">
                      <a16:colId xmlns:a16="http://schemas.microsoft.com/office/drawing/2014/main" val="2169367746"/>
                    </a:ext>
                  </a:extLst>
                </a:gridCol>
                <a:gridCol w="2520662">
                  <a:extLst>
                    <a:ext uri="{9D8B030D-6E8A-4147-A177-3AD203B41FA5}">
                      <a16:colId xmlns:a16="http://schemas.microsoft.com/office/drawing/2014/main" val="1811378476"/>
                    </a:ext>
                  </a:extLst>
                </a:gridCol>
                <a:gridCol w="3970825">
                  <a:extLst>
                    <a:ext uri="{9D8B030D-6E8A-4147-A177-3AD203B41FA5}">
                      <a16:colId xmlns:a16="http://schemas.microsoft.com/office/drawing/2014/main" val="2746190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872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13398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연속합 </a:t>
                      </a: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DP(</a:t>
                      </a:r>
                      <a:r>
                        <a:rPr lang="ko-KR" altLang="en-US" sz="1200" dirty="0"/>
                        <a:t>삭제 여부</a:t>
                      </a:r>
                      <a:r>
                        <a:rPr lang="en-US" altLang="ko-KR" sz="1200" dirty="0"/>
                        <a:t>), </a:t>
                      </a:r>
                      <a:r>
                        <a:rPr lang="ko-KR" altLang="en-US" sz="1200" dirty="0"/>
                        <a:t>상태 선택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706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14003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1D DP + </a:t>
                      </a:r>
                      <a:r>
                        <a:rPr lang="ko-KR" altLang="en-US" sz="1200"/>
                        <a:t>이분탐색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수열 최적화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9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hlinkClick r:id="rId4"/>
                        </a:rPr>
                        <a:t>9252</a:t>
                      </a:r>
                      <a:endParaRPr lang="en-US" altLang="ko-KR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LCS(</a:t>
                      </a:r>
                      <a:r>
                        <a:rPr lang="ko-KR" altLang="en-US" sz="1200" dirty="0" err="1"/>
                        <a:t>최장공통부분수열</a:t>
                      </a:r>
                      <a:r>
                        <a:rPr lang="ko-KR" altLang="en-US" sz="1200" dirty="0"/>
                        <a:t> 찾기</a:t>
                      </a:r>
                      <a:r>
                        <a:rPr lang="en-US" altLang="ko-KR" sz="1200" dirty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DP, </a:t>
                      </a:r>
                      <a:r>
                        <a:rPr lang="ko-KR" altLang="en-US" sz="1200" dirty="0"/>
                        <a:t>선택 포함</a:t>
                      </a:r>
                      <a:r>
                        <a:rPr lang="en-US" altLang="ko-KR" sz="1200" dirty="0"/>
                        <a:t>(max), </a:t>
                      </a:r>
                      <a:r>
                        <a:rPr lang="ko-KR" altLang="en-US" sz="1200" dirty="0"/>
                        <a:t>문자열 비교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045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1915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가장 큰 정사각형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DP, </a:t>
                      </a:r>
                      <a:r>
                        <a:rPr lang="ko-KR" altLang="en-US" sz="1200" dirty="0"/>
                        <a:t>선택보다는 전이 규칙이 중요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4309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DCC0F7F-0C69-7E3C-3DFE-5AB6E153B367}"/>
              </a:ext>
            </a:extLst>
          </p:cNvPr>
          <p:cNvSpPr txBox="1"/>
          <p:nvPr/>
        </p:nvSpPr>
        <p:spPr>
          <a:xfrm>
            <a:off x="185235" y="5096895"/>
            <a:ext cx="6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Lv3 — </a:t>
            </a:r>
            <a:r>
              <a:rPr lang="ko-KR" altLang="en-US" sz="1200" dirty="0"/>
              <a:t>상태가 확장되는 선택 </a:t>
            </a:r>
            <a:r>
              <a:rPr lang="en-US" altLang="ko-KR" sz="1200" dirty="0"/>
              <a:t>DP (</a:t>
            </a:r>
            <a:r>
              <a:rPr lang="ko-KR" altLang="en-US" sz="1200" dirty="0"/>
              <a:t>중급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332F0EB-A1D0-332A-B80D-7E84F3C45F91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343624"/>
          <a:ext cx="7116204" cy="822960"/>
        </p:xfrm>
        <a:graphic>
          <a:graphicData uri="http://schemas.openxmlformats.org/drawingml/2006/table">
            <a:tbl>
              <a:tblPr/>
              <a:tblGrid>
                <a:gridCol w="910535">
                  <a:extLst>
                    <a:ext uri="{9D8B030D-6E8A-4147-A177-3AD203B41FA5}">
                      <a16:colId xmlns:a16="http://schemas.microsoft.com/office/drawing/2014/main" val="893872399"/>
                    </a:ext>
                  </a:extLst>
                </a:gridCol>
                <a:gridCol w="1107600">
                  <a:extLst>
                    <a:ext uri="{9D8B030D-6E8A-4147-A177-3AD203B41FA5}">
                      <a16:colId xmlns:a16="http://schemas.microsoft.com/office/drawing/2014/main" val="2073705472"/>
                    </a:ext>
                  </a:extLst>
                </a:gridCol>
                <a:gridCol w="5098069">
                  <a:extLst>
                    <a:ext uri="{9D8B030D-6E8A-4147-A177-3AD203B41FA5}">
                      <a16:colId xmlns:a16="http://schemas.microsoft.com/office/drawing/2014/main" val="1722396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56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1328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빌딩 순서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3D DP(n×L×R), </a:t>
                      </a:r>
                      <a:r>
                        <a:rPr lang="ko-KR" altLang="en-US" sz="1200"/>
                        <a:t>고급 상태 조합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16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2342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3D DP(</a:t>
                      </a:r>
                      <a:r>
                        <a:rPr lang="en-US" sz="1200" dirty="0" err="1"/>
                        <a:t>step×left×right</a:t>
                      </a:r>
                      <a:r>
                        <a:rPr lang="en-US" sz="1200" dirty="0"/>
                        <a:t>), </a:t>
                      </a:r>
                      <a:r>
                        <a:rPr lang="ko-KR" altLang="en-US" sz="1200" dirty="0"/>
                        <a:t>동작 선택 복잡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87326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4F84BF6-2CF9-91FB-2EF0-FEEC91E4E9CC}"/>
              </a:ext>
            </a:extLst>
          </p:cNvPr>
          <p:cNvSpPr txBox="1"/>
          <p:nvPr/>
        </p:nvSpPr>
        <p:spPr>
          <a:xfrm>
            <a:off x="6013574" y="1980011"/>
            <a:ext cx="6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Lv4 — </a:t>
            </a:r>
            <a:r>
              <a:rPr lang="ko-KR" altLang="en-US" sz="1200" dirty="0"/>
              <a:t>고차원 </a:t>
            </a:r>
            <a:r>
              <a:rPr lang="en-US" altLang="ko-KR" sz="1200" dirty="0"/>
              <a:t>DP / </a:t>
            </a:r>
            <a:r>
              <a:rPr lang="ko-KR" altLang="en-US" sz="1200" dirty="0"/>
              <a:t>복잡한 상태 전이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B2E1A56-4E04-3C86-0C0F-23C24D317B83}"/>
              </a:ext>
            </a:extLst>
          </p:cNvPr>
          <p:cNvGraphicFramePr>
            <a:graphicFrameLocks noGrp="1"/>
          </p:cNvGraphicFramePr>
          <p:nvPr/>
        </p:nvGraphicFramePr>
        <p:xfrm>
          <a:off x="6013574" y="3929308"/>
          <a:ext cx="8231523" cy="1371600"/>
        </p:xfrm>
        <a:graphic>
          <a:graphicData uri="http://schemas.openxmlformats.org/drawingml/2006/table">
            <a:tbl>
              <a:tblPr/>
              <a:tblGrid>
                <a:gridCol w="847591">
                  <a:extLst>
                    <a:ext uri="{9D8B030D-6E8A-4147-A177-3AD203B41FA5}">
                      <a16:colId xmlns:a16="http://schemas.microsoft.com/office/drawing/2014/main" val="2529830597"/>
                    </a:ext>
                  </a:extLst>
                </a:gridCol>
                <a:gridCol w="1386653">
                  <a:extLst>
                    <a:ext uri="{9D8B030D-6E8A-4147-A177-3AD203B41FA5}">
                      <a16:colId xmlns:a16="http://schemas.microsoft.com/office/drawing/2014/main" val="3941680204"/>
                    </a:ext>
                  </a:extLst>
                </a:gridCol>
                <a:gridCol w="5997279">
                  <a:extLst>
                    <a:ext uri="{9D8B030D-6E8A-4147-A177-3AD203B41FA5}">
                      <a16:colId xmlns:a16="http://schemas.microsoft.com/office/drawing/2014/main" val="1687127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77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12865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평범한 배낭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1~2D DP, max </a:t>
                      </a:r>
                      <a:r>
                        <a:rPr lang="ko-KR" altLang="en-US" sz="1200"/>
                        <a:t>선택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최적화 고전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42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15486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퇴사 </a:t>
                      </a: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1D DP, </a:t>
                      </a:r>
                      <a:r>
                        <a:rPr lang="ko-KR" altLang="en-US" sz="1200"/>
                        <a:t>스케줄링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많은 상태 선택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37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11049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행렬 곱 최적화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구간 </a:t>
                      </a:r>
                      <a:r>
                        <a:rPr lang="en-US" altLang="ko-KR" sz="1200" b="1" dirty="0"/>
                        <a:t>DP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분할점</a:t>
                      </a:r>
                      <a:r>
                        <a:rPr lang="ko-KR" altLang="en-US" sz="1200" dirty="0"/>
                        <a:t> 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고급 </a:t>
                      </a:r>
                      <a:r>
                        <a:rPr lang="ko-KR" altLang="en-US" sz="1200" dirty="0" err="1"/>
                        <a:t>점화식</a:t>
                      </a:r>
                      <a:endParaRPr lang="ko-KR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20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2098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외판원 순회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비트마스크 </a:t>
                      </a:r>
                      <a:r>
                        <a:rPr lang="en-US" altLang="ko-KR" sz="1200" b="1" dirty="0"/>
                        <a:t>DP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dp</a:t>
                      </a:r>
                      <a:r>
                        <a:rPr lang="en-US" altLang="ko-KR" sz="1200" dirty="0"/>
                        <a:t>[mask][city], </a:t>
                      </a:r>
                      <a:r>
                        <a:rPr lang="ko-KR" altLang="en-US" sz="1200" dirty="0"/>
                        <a:t>경로 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최고 난이도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70563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4FF0EB2-9A3F-3A4C-3C36-67640826C906}"/>
              </a:ext>
            </a:extLst>
          </p:cNvPr>
          <p:cNvSpPr txBox="1"/>
          <p:nvPr/>
        </p:nvSpPr>
        <p:spPr>
          <a:xfrm>
            <a:off x="6013574" y="3614557"/>
            <a:ext cx="45892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Lv5 — </a:t>
            </a:r>
            <a:r>
              <a:rPr lang="ko-KR" altLang="en-US" sz="1200" dirty="0"/>
              <a:t>고급 </a:t>
            </a:r>
            <a:r>
              <a:rPr lang="en-US" altLang="ko-KR" sz="1200" dirty="0"/>
              <a:t>DP (</a:t>
            </a:r>
            <a:r>
              <a:rPr lang="ko-KR" altLang="en-US" sz="1200" dirty="0"/>
              <a:t>구간 </a:t>
            </a:r>
            <a:r>
              <a:rPr lang="en-US" altLang="ko-KR" sz="1200" dirty="0"/>
              <a:t>DP / </a:t>
            </a:r>
            <a:r>
              <a:rPr lang="ko-KR" altLang="en-US" sz="1200" dirty="0"/>
              <a:t>비트마스크 </a:t>
            </a:r>
            <a:r>
              <a:rPr lang="en-US" altLang="ko-KR" sz="1200" dirty="0"/>
              <a:t>DP / </a:t>
            </a:r>
            <a:r>
              <a:rPr lang="ko-KR" altLang="en-US" sz="1200" dirty="0"/>
              <a:t>고난도 최적화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5F896-C4DA-6C86-EA2E-956541DFFB68}"/>
              </a:ext>
            </a:extLst>
          </p:cNvPr>
          <p:cNvSpPr txBox="1"/>
          <p:nvPr/>
        </p:nvSpPr>
        <p:spPr>
          <a:xfrm>
            <a:off x="185234" y="1282320"/>
            <a:ext cx="872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찾기 </a:t>
            </a:r>
            <a:r>
              <a:rPr lang="en-US" altLang="ko-KR" dirty="0">
                <a:hlinkClick r:id="rId5"/>
              </a:rPr>
              <a:t>https://www.acmicpc.net/search#q=&amp;c=Problems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5A6C6-0EA9-F50B-C064-162015EF813E}"/>
              </a:ext>
            </a:extLst>
          </p:cNvPr>
          <p:cNvSpPr txBox="1"/>
          <p:nvPr/>
        </p:nvSpPr>
        <p:spPr>
          <a:xfrm>
            <a:off x="7291236" y="6063632"/>
            <a:ext cx="623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또 다른 </a:t>
            </a:r>
            <a:r>
              <a:rPr lang="ko-KR" altLang="en-US" sz="1600" dirty="0" err="1"/>
              <a:t>프로그래머스</a:t>
            </a:r>
            <a:r>
              <a:rPr lang="ko-KR" altLang="en-US" sz="1600" dirty="0"/>
              <a:t> 문제 </a:t>
            </a:r>
            <a:r>
              <a:rPr lang="ko-KR" altLang="en-US" sz="1600" dirty="0">
                <a:hlinkClick r:id="rId6"/>
              </a:rPr>
              <a:t>링크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9131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A469A-3C38-7444-1CD3-CB89D625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: LCS(</a:t>
            </a:r>
            <a:r>
              <a:rPr lang="ko-KR" altLang="en-US" dirty="0"/>
              <a:t>최장 공통 </a:t>
            </a:r>
            <a:r>
              <a:rPr lang="ko-KR" altLang="en-US" dirty="0" err="1"/>
              <a:t>부분수열</a:t>
            </a:r>
            <a:r>
              <a:rPr lang="ko-KR" altLang="en-US" dirty="0"/>
              <a:t> 찾기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FA4A5-A083-D76E-7BC1-E1F7CF65E920}"/>
              </a:ext>
            </a:extLst>
          </p:cNvPr>
          <p:cNvSpPr txBox="1"/>
          <p:nvPr/>
        </p:nvSpPr>
        <p:spPr>
          <a:xfrm>
            <a:off x="914400" y="1882987"/>
            <a:ext cx="926728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dirty="0"/>
              <a:t>LCS(</a:t>
            </a:r>
            <a:r>
              <a:rPr lang="ko-KR" altLang="en-US" dirty="0" err="1"/>
              <a:t>최장공통부분수열</a:t>
            </a:r>
            <a:r>
              <a:rPr lang="ko-KR" altLang="en-US" dirty="0"/>
              <a:t> 찾기</a:t>
            </a:r>
            <a:r>
              <a:rPr lang="en-US" altLang="ko-KR" dirty="0"/>
              <a:t>) </a:t>
            </a:r>
            <a:r>
              <a:rPr lang="ko-KR" altLang="en-US" dirty="0"/>
              <a:t>문제 를 분석하여  다음 문제에 대하여 문서로 정리합니다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1. </a:t>
            </a:r>
            <a:r>
              <a:rPr lang="ko-KR" altLang="en-US" dirty="0"/>
              <a:t>부분 수열과 가장 긴 공통 수열이란 무엇인가</a:t>
            </a:r>
            <a:r>
              <a:rPr lang="en-US" altLang="ko-KR" dirty="0"/>
              <a:t>?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2. </a:t>
            </a:r>
            <a:r>
              <a:rPr lang="ko-KR" altLang="en-US" dirty="0"/>
              <a:t>아래와 같은 접근 방법은 어떤 문제가 발생하는가</a:t>
            </a:r>
            <a:r>
              <a:rPr lang="en-US" altLang="ko-KR" dirty="0"/>
              <a:t>?</a:t>
            </a:r>
          </a:p>
          <a:p>
            <a:pPr>
              <a:buNone/>
            </a:pPr>
            <a:r>
              <a:rPr lang="ko-KR" altLang="en-US" dirty="0"/>
              <a:t>문자열 </a:t>
            </a:r>
            <a:r>
              <a:rPr lang="en-US" altLang="ko-KR" dirty="0"/>
              <a:t>A</a:t>
            </a:r>
            <a:r>
              <a:rPr lang="ko-KR" altLang="en-US" dirty="0"/>
              <a:t>의 모든 부분 수열을 만든다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문자열 </a:t>
            </a:r>
            <a:r>
              <a:rPr lang="en-US" altLang="ko-KR" dirty="0"/>
              <a:t>B</a:t>
            </a:r>
            <a:r>
              <a:rPr lang="ko-KR" altLang="en-US" dirty="0"/>
              <a:t>의 모든 부분 수열을 만든다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둘을 비교해서 가장 긴 공통 수열을 찾는다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3. </a:t>
            </a:r>
            <a:r>
              <a:rPr lang="ko-KR" altLang="en-US" dirty="0"/>
              <a:t>점화식에 적용가능한 상태 압축을 위해서는 어떤 정보를 사용 해야 하는가</a:t>
            </a:r>
            <a:r>
              <a:rPr lang="en-US" altLang="ko-KR" dirty="0"/>
              <a:t>?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4. </a:t>
            </a:r>
            <a:r>
              <a:rPr lang="ko-KR" altLang="en-US" dirty="0"/>
              <a:t>게임에 어떤 부분에 응용 할 수 있는가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413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4892</TotalTime>
  <Words>1069</Words>
  <Application>Microsoft Office PowerPoint</Application>
  <PresentationFormat>와이드스크린</PresentationFormat>
  <Paragraphs>162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Cambria Math</vt:lpstr>
      <vt:lpstr>Open Sans</vt:lpstr>
      <vt:lpstr>Office 테마</vt:lpstr>
      <vt:lpstr>동적 프로그래밍</vt:lpstr>
      <vt:lpstr>파스칼 삼각형 문제</vt:lpstr>
      <vt:lpstr>상태 압축 (State Compression)</vt:lpstr>
      <vt:lpstr>압축의 예 Modulas 연산</vt:lpstr>
      <vt:lpstr>문제 관찰의 필요성</vt:lpstr>
      <vt:lpstr>난이도별 추가 개념</vt:lpstr>
      <vt:lpstr>과제: LCS(최장 공통 부분수열 찾기)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BoundingVolumeHierarchy</dc:title>
  <dc:creator>Dongwon Lee</dc:creator>
  <cp:lastModifiedBy>Dongwon Lee</cp:lastModifiedBy>
  <cp:revision>871</cp:revision>
  <dcterms:created xsi:type="dcterms:W3CDTF">2025-11-04T12:33:20Z</dcterms:created>
  <dcterms:modified xsi:type="dcterms:W3CDTF">2025-12-17T21:57:59Z</dcterms:modified>
</cp:coreProperties>
</file>